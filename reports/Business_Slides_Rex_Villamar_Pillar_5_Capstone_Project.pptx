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7" r:id="rId2"/>
    <p:sldMasterId id="2147483674" r:id="rId3"/>
  </p:sldMasterIdLst>
  <p:notesMasterIdLst>
    <p:notesMasterId r:id="rId20"/>
  </p:notesMasterIdLst>
  <p:sldIdLst>
    <p:sldId id="307" r:id="rId4"/>
    <p:sldId id="306" r:id="rId5"/>
    <p:sldId id="318" r:id="rId6"/>
    <p:sldId id="320" r:id="rId8"/>
    <p:sldId id="321" r:id="rId9"/>
    <p:sldId id="322" r:id="rId10"/>
    <p:sldId id="323" r:id="rId11"/>
    <p:sldId id="265" r:id="rId12"/>
    <p:sldId id="267" r:id="rId14"/>
    <p:sldId id="268" r:id="rId15"/>
    <p:sldId id="269" r:id="rId16"/>
    <p:sldId id="324" r:id="rId18"/>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B981"/>
    <a:srgbClr val="F8FAFC"/>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41" autoAdjust="0"/>
    <p:restoredTop sz="26494" autoAdjust="0"/>
  </p:normalViewPr>
  <p:slideViewPr>
    <p:cSldViewPr snapToGrid="0">
      <p:cViewPr varScale="1">
        <p:scale>
          <a:sx n="18" d="100"/>
          <a:sy n="18" d="100"/>
        </p:scale>
        <p:origin x="2808" y="32"/>
      </p:cViewPr>
      <p:guideLst/>
    </p:cSldViewPr>
  </p:slideViewPr>
  <p:outlineViewPr>
    <p:cViewPr>
      <p:scale>
        <a:sx n="33" d="100"/>
        <a:sy n="33" d="100"/>
      </p:scale>
      <p:origin x="0" y="0"/>
    </p:cViewPr>
  </p:outlineViewPr>
  <p:notesTextViewPr>
    <p:cViewPr>
      <p:scale>
        <a:sx n="66" d="100"/>
        <a:sy n="66" d="100"/>
      </p:scale>
      <p:origin x="0" y="0"/>
    </p:cViewPr>
  </p:notesTextViewPr>
  <p:notesViewPr>
    <p:cSldViewPr snapToGrid="0">
      <p:cViewPr varScale="1">
        <p:scale>
          <a:sx n="47" d="100"/>
          <a:sy n="47" d="100"/>
        </p:scale>
        <p:origin x="2748" y="5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8" Type="http://schemas.openxmlformats.org/officeDocument/2006/relationships/slide" Target="slides/slide12.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172A"/>
                </a:solidFill>
                <a:latin typeface="Aptos Narrow"/>
              </a:rPr>
              <a:t>Dropout rate by Financial Stress Index (%)</a:t>
            </a:r>
          </a:p>
        </c:rich>
      </c:tx>
      <c:layout/>
      <c:overlay val="0"/>
    </c:title>
    <c:autoTitleDeleted val="0"/>
    <c:plotArea>
      <c:barChart>
        <c:barDir val="col"/>
        <c:grouping val="clustered"/>
        <c:ser>
          <c:idx val="0"/>
          <c:order val="0"/>
          <c:tx>
            <c:strRef>
              <c:f>Sheet1!$B$1</c:f>
              <c:strCache>
                <c:ptCount val="1"/>
                <c:pt idx="0">
                  <c:v>s</c:v>
                </c:pt>
              </c:strCache>
            </c:strRef>
          </c:tx>
          <c:spPr>
            <a:solidFill>
              <a:srgbClr val="0284C7"/>
            </a:solidFill>
          </c:spPr>
          <c:dPt>
            <c:idx val="2"/>
            <c:spPr>
              <a:solidFill>
                <a:srgbClr val="F59E0B"/>
              </a:solidFill>
            </c:spPr>
          </c:dPt>
          <c:dPt>
            <c:idx val="3"/>
            <c:spPr>
              <a:solidFill>
                <a:srgbClr val="EF4444"/>
              </a:solidFill>
            </c:spPr>
          </c:dPt>
          <c:cat>
            <c:strRef>
              <c:f>Sheet1!$A$2:$A$5</c:f>
              <c:strCache>
                <c:ptCount val="4"/>
                <c:pt idx="0">
                  <c:v>0 flags</c:v>
                </c:pt>
                <c:pt idx="1">
                  <c:v>1 flag</c:v>
                </c:pt>
                <c:pt idx="2">
                  <c:v>2 flags</c:v>
                </c:pt>
                <c:pt idx="3">
                  <c:v>3 flags</c:v>
                </c:pt>
              </c:strCache>
            </c:strRef>
          </c:cat>
          <c:val>
            <c:numRef>
              <c:f>Sheet1!$B$2:$B$5</c:f>
              <c:numCache>
                <c:formatCode>General</c:formatCode>
                <c:ptCount val="4"/>
                <c:pt idx="0">
                  <c:v>9.3</c:v>
                </c:pt>
                <c:pt idx="1">
                  <c:v>29.3</c:v>
                </c:pt>
                <c:pt idx="2">
                  <c:v>69.2</c:v>
                </c:pt>
                <c:pt idx="3">
                  <c:v>88.8</c:v>
                </c:pt>
              </c:numCache>
            </c:numRef>
          </c:val>
        </c:ser>
        <c:dLbls>
          <c:numFmt formatCode="0.0&quot;%&quot;" sourceLinked="0"/>
          <c:txPr>
            <a:bodyPr/>
            <a:lstStyle/>
            <a:p>
              <a:pPr>
                <a:defRPr sz="1200" b="1">
                  <a:solidFill>
                    <a:srgbClr val="0F172A"/>
                  </a:solidFill>
                  <a:latin typeface="Aptos Narrow"/>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CBD5E1"/>
            </a:solidFill>
          </a:ln>
        </c:spPr>
        <c:txPr>
          <a:bodyPr/>
          <a:lstStyle/>
          <a:p>
            <a:pPr>
              <a:defRPr sz="1200"/>
            </a:pPr>
          </a:p>
        </c:txPr>
        <c:crossAx val="-2113994440"/>
        <c:crosses val="autoZero"/>
        <c:auto val="1"/>
        <c:lblAlgn val="ctr"/>
        <c:lblOffset val="100"/>
        <c:noMultiLvlLbl val="0"/>
      </c:catAx>
      <c:valAx>
        <c:axId val="-2113994440"/>
        <c:scaling>
          <c:max val="105.0"/>
          <c:min val="0.0"/>
        </c:scaling>
        <c:delete/>
        <c:axPos val="l"/>
        <c:majorTickMark val="out"/>
        <c:minorTickMark val="none"/>
        <c:tickLblPos val="nextTo"/>
        <c:crossAx val="-2068027336"/>
        <c:crosses val="autoZero"/>
      </c:valAx>
    </c:plotArea>
    <c:dispBlanksAs val="gap"/>
  </c:chart>
  <c:txPr>
    <a:bodyPr/>
    <a:lstStyle/>
    <a:p>
      <a:pPr>
        <a:defRPr sz="1200">
          <a:solidFill>
            <a:srgbClr val="475569"/>
          </a:solidFill>
          <a:latin typeface="Aptos Narrow"/>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F172A"/>
                </a:solidFill>
                <a:latin typeface="Aptos Narrow"/>
              </a:rPr>
              <a:t>Top drivers of dropout risk (mean |SHAP|, log-odds; amber = engineered)</a:t>
            </a:r>
          </a:p>
        </c:rich>
      </c:tx>
      <c:layout/>
      <c:overlay val="0"/>
    </c:title>
    <c:autoTitleDeleted val="0"/>
    <c:plotArea>
      <c:barChart>
        <c:barDir val="bar"/>
        <c:grouping val="clustered"/>
        <c:ser>
          <c:idx val="0"/>
          <c:order val="0"/>
          <c:tx>
            <c:strRef>
              <c:f>Sheet1!$B$1</c:f>
              <c:strCache>
                <c:ptCount val="1"/>
                <c:pt idx="0">
                  <c:v>s</c:v>
                </c:pt>
              </c:strCache>
            </c:strRef>
          </c:tx>
          <c:spPr>
            <a:solidFill>
              <a:srgbClr val="0284C7"/>
            </a:solidFill>
          </c:spPr>
          <c:dPt>
            <c:idx val="0"/>
            <c:spPr>
              <a:solidFill>
                <a:srgbClr val="F59E0B"/>
              </a:solidFill>
            </c:spPr>
          </c:dPt>
          <c:dPt>
            <c:idx val="1"/>
            <c:spPr>
              <a:solidFill>
                <a:srgbClr val="F59E0B"/>
              </a:solidFill>
            </c:spPr>
          </c:dPt>
          <c:dPt>
            <c:idx val="6"/>
            <c:spPr>
              <a:solidFill>
                <a:srgbClr val="F59E0B"/>
              </a:solidFill>
            </c:spPr>
          </c:dPt>
          <c:cat>
            <c:strRef>
              <c:f>Sheet1!$A$2:$A$9</c:f>
              <c:strCache>
                <c:ptCount val="8"/>
                <c:pt idx="0">
                  <c:v>Approval rate, Sem 2</c:v>
                </c:pt>
                <c:pt idx="1">
                  <c:v>Approval rate, Sem 1</c:v>
                </c:pt>
                <c:pt idx="2">
                  <c:v>Tuition fees up to date</c:v>
                </c:pt>
                <c:pt idx="3">
                  <c:v>Age at enrollment</c:v>
                </c:pt>
                <c:pt idx="4">
                  <c:v>Course</c:v>
                </c:pt>
                <c:pt idx="5">
                  <c:v>Units approved, Sem 2</c:v>
                </c:pt>
                <c:pt idx="6">
                  <c:v>Financial Stress Index</c:v>
                </c:pt>
                <c:pt idx="7">
                  <c:v>Grade, Sem 2</c:v>
                </c:pt>
              </c:strCache>
            </c:strRef>
          </c:cat>
          <c:val>
            <c:numRef>
              <c:f>Sheet1!$B$2:$B$9</c:f>
              <c:numCache>
                <c:formatCode>General</c:formatCode>
                <c:ptCount val="8"/>
                <c:pt idx="0">
                  <c:v>1.052</c:v>
                </c:pt>
                <c:pt idx="1">
                  <c:v>0.409</c:v>
                </c:pt>
                <c:pt idx="2">
                  <c:v>0.262</c:v>
                </c:pt>
                <c:pt idx="3">
                  <c:v>0.238</c:v>
                </c:pt>
                <c:pt idx="4">
                  <c:v>0.23</c:v>
                </c:pt>
                <c:pt idx="5">
                  <c:v>0.203</c:v>
                </c:pt>
                <c:pt idx="6">
                  <c:v>0.199</c:v>
                </c:pt>
                <c:pt idx="7">
                  <c:v>0.144</c:v>
                </c:pt>
              </c:numCache>
            </c:numRef>
          </c:val>
        </c:ser>
        <c:dLbls>
          <c:numFmt formatCode="0.00" sourceLinked="0"/>
          <c:txPr>
            <a:bodyPr/>
            <a:lstStyle/>
            <a:p>
              <a:pPr>
                <a:defRPr sz="1100" b="1">
                  <a:solidFill>
                    <a:srgbClr val="0F172A"/>
                  </a:solidFill>
                  <a:latin typeface="Aptos Narrow"/>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CBD5E1"/>
            </a:solidFill>
          </a:ln>
        </c:spPr>
        <c:txPr>
          <a:bodyPr/>
          <a:lstStyle/>
          <a:p>
            <a:pPr>
              <a:defRPr sz="1100"/>
            </a:pPr>
          </a:p>
        </c:txPr>
        <c:crossAx val="-2113994440"/>
        <c:crosses val="autoZero"/>
        <c:auto val="1"/>
        <c:lblAlgn val="ctr"/>
        <c:lblOffset val="100"/>
        <c:noMultiLvlLbl val="0"/>
      </c:catAx>
      <c:valAx>
        <c:axId val="-2113994440"/>
        <c:scaling>
          <c:max val="1.3"/>
          <c:min val="0.0"/>
        </c:scaling>
        <c:delete/>
        <c:axPos val="b"/>
        <c:majorTickMark val="out"/>
        <c:minorTickMark val="none"/>
        <c:tickLblPos val="nextTo"/>
        <c:crossAx val="-2068027336"/>
        <c:crosses val="autoZero"/>
      </c:valAx>
    </c:plotArea>
    <c:dispBlanksAs val="gap"/>
  </c:chart>
  <c:txPr>
    <a:bodyPr/>
    <a:lstStyle/>
    <a:p>
      <a:pPr>
        <a:defRPr sz="1100">
          <a:solidFill>
            <a:srgbClr val="475569"/>
          </a:solidFill>
          <a:latin typeface="Aptos Narrow"/>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fld id="{280D7E5D-03C5-4BD3-B617-95C042F534DE}" type="datetimeFigureOut">
              <a:rPr lang="en-US" smtClean="0"/>
              <a:t>10/6/2026</a:t>
            </a:fld>
            <a:endParaRPr lang="en-US"/>
          </a:p>
        </p:txBody>
      </p:sp>
      <p:sp>
        <p:nvSpPr>
          <p:cNvPr id="4" name="Slide Image Placeholder 3"/>
          <p:cNvSpPr>
            <a:spLocks noGrp="1" noRot="1" noChangeAspect="1"/>
          </p:cNvSpPr>
          <p:nvPr>
            <p:ph type="sldImg" idx="2"/>
          </p:nvPr>
        </p:nvSpPr>
        <p:spPr>
          <a:xfrm>
            <a:off x="481013" y="1279525"/>
            <a:ext cx="6137275" cy="3452813"/>
          </a:xfrm>
          <a:prstGeom prst="rect">
            <a:avLst/>
          </a:prstGeom>
          <a:noFill/>
          <a:ln w="12700">
            <a:solidFill>
              <a:prstClr val="black"/>
            </a:solid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a:xfrm>
            <a:off x="709930" y="4925408"/>
            <a:ext cx="5679440" cy="4029878"/>
          </a:xfrm>
          <a:prstGeom prst="rect">
            <a:avLst/>
          </a:prstGeom>
        </p:spPr>
        <p:txBody>
          <a:bodyPr vert="horz" lIns="99048" tIns="49524" rIns="99048" bIns="49524"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721108"/>
            <a:ext cx="3076363" cy="513507"/>
          </a:xfrm>
          <a:prstGeom prst="rect">
            <a:avLst/>
          </a:prstGeom>
        </p:spPr>
        <p:txBody>
          <a:bodyPr vert="horz" lIns="99048" tIns="49524" rIns="99048" bIns="49524" rtlCol="0" anchor="b"/>
          <a:lstStyle>
            <a:lvl1pPr algn="l">
              <a:defRPr sz="1300"/>
            </a:lvl1pPr>
          </a:lstStyle>
          <a:p>
            <a:endParaRPr lang="en-US"/>
          </a:p>
        </p:txBody>
      </p:sp>
      <p:sp>
        <p:nvSpPr>
          <p:cNvPr id="7" name="Slide Number Placeholder 6"/>
          <p:cNvSpPr>
            <a:spLocks noGrp="1"/>
          </p:cNvSpPr>
          <p:nvPr>
            <p:ph type="sldNum" sz="quarter" idx="5"/>
          </p:nvPr>
        </p:nvSpPr>
        <p:spPr>
          <a:xfrm>
            <a:off x="4021295" y="9721108"/>
            <a:ext cx="3076363" cy="513507"/>
          </a:xfrm>
          <a:prstGeom prst="rect">
            <a:avLst/>
          </a:prstGeom>
        </p:spPr>
        <p:txBody>
          <a:bodyPr vert="horz" lIns="99048" tIns="49524" rIns="99048" bIns="49524" rtlCol="0" anchor="b"/>
          <a:lstStyle>
            <a:lvl1pPr algn="r">
              <a:defRPr sz="1300"/>
            </a:lvl1pPr>
          </a:lstStyle>
          <a:p>
            <a:fld id="{59183492-71CA-4247-84DA-EC3ADF4E65F9}" type="slidenum">
              <a:rPr lang="en-US" smtClean="0"/>
              <a:t>‹#›</a:t>
            </a:fld>
            <a:endParaRPr lang="en-US"/>
          </a:p>
        </p:txBody>
      </p:sp>
    </p:spTree>
    <p:extLst>
      <p:ext uri="{BB962C8B-B14F-4D97-AF65-F5344CB8AC3E}">
        <p14:creationId xmlns:p14="http://schemas.microsoft.com/office/powerpoint/2010/main" val="3416820714"/>
      </p:ext>
    </p:extLst>
  </p:cSld>
  <p:clrMap bg1="lt1" tx1="dk1" bg2="lt2" tx2="dk2" accent1="accent1" accent2="accent2" accent3="accent3" accent4="accent4" accent5="accent5" accent6="accent6" hlink="hlink" folHlink="folHlink"/>
  <p:notes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100" kern="1200">
        <a:solidFill>
          <a:schemeClr val="tx1"/>
        </a:solidFill>
        <a:latin typeface="+mn-lt"/>
        <a:ea typeface="+mn-ea"/>
        <a:cs typeface="+mn-cs"/>
      </a:defRPr>
    </a:lvl2pPr>
    <a:lvl3pPr marL="914400" algn="l" defTabSz="914400" rtl="0" eaLnBrk="1" latinLnBrk="0" hangingPunct="1">
      <a:defRPr sz="1100" kern="1200">
        <a:solidFill>
          <a:schemeClr val="tx1"/>
        </a:solidFill>
        <a:latin typeface="+mn-lt"/>
        <a:ea typeface="+mn-ea"/>
        <a:cs typeface="+mn-cs"/>
      </a:defRPr>
    </a:lvl3pPr>
    <a:lvl4pPr marL="1371600" algn="l" defTabSz="914400" rtl="0" eaLnBrk="1" latinLnBrk="0" hangingPunct="1">
      <a:defRPr sz="1100" kern="1200">
        <a:solidFill>
          <a:schemeClr val="tx1"/>
        </a:solidFill>
        <a:latin typeface="+mn-lt"/>
        <a:ea typeface="+mn-ea"/>
        <a:cs typeface="+mn-cs"/>
      </a:defRPr>
    </a:lvl4pPr>
    <a:lvl5pPr marL="1828800" algn="l" defTabSz="914400" rtl="0" eaLnBrk="1" latinLnBrk="0" hangingPunct="1">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Title Slide - Predictive Retention Analytics</a:t>
            </a:r>
          </a:p>
          <a:p>
            <a:r>
              <a:t>Speaker Script:</a:t>
            </a:r>
          </a:p>
          <a:p>
            <a:r>
              <a:t>"Good morning, members of the executive committee and leadership team. I am Rex Villamar, and I am presenting my capstone: an early-warning system for student dropout. Instead of learning about withdrawals after they happen, the system scores every student at the end of Semester 2 using their first- and second-semester records, so advisors can step in while later semesters remain. It was built and tested on 4,424 student records, and on a held-out test set it detects about 90 percent of the students who eventually dropped out. I will cover the business case, how the model works and why we can trust it, what the fairness audit found, and the plan to pilot it."</a:t>
            </a:r>
          </a:p>
          <a:p/>
          <a:p>
            <a:r>
              <a:t>Key Takeaways &amp; Transition:</a:t>
            </a:r>
          </a:p>
          <a:p>
            <a:r>
              <a:t>Anchor numbers: 4,424 records, 89.8% recall in the deployed configuration (91.2% before the fairness adjustment).</a:t>
            </a:r>
          </a:p>
          <a:p>
            <a:r>
              <a:t>Decision point: end of Semester 2.</a:t>
            </a:r>
          </a:p>
          <a:p>
            <a:r>
              <a:t>Transition: "Let me begin with an executive summary."</a:t>
            </a:r>
          </a:p>
        </p:txBody>
      </p:sp>
      <p:sp>
        <p:nvSpPr>
          <p:cNvPr id="4" name="Slide Number Placeholder 3"/>
          <p:cNvSpPr>
            <a:spLocks noGrp="1"/>
          </p:cNvSpPr>
          <p:nvPr>
            <p:ph type="sldNum" sz="quarter" idx="5"/>
          </p:nvPr>
        </p:nvSpPr>
        <p:spPr/>
        <p:txBody>
          <a:bodyPr/>
          <a:lstStyle/>
          <a:p>
            <a:fld id="{59183492-71CA-4247-84DA-EC3ADF4E65F9}" type="slidenum">
              <a:rPr lang="en-US" smtClean="0"/>
              <a:t>1</a:t>
            </a:fld>
            <a:endParaRPr lang="en-US"/>
          </a:p>
        </p:txBody>
      </p:sp>
    </p:spTree>
    <p:extLst>
      <p:ext uri="{BB962C8B-B14F-4D97-AF65-F5344CB8AC3E}">
        <p14:creationId xmlns:p14="http://schemas.microsoft.com/office/powerpoint/2010/main" val="856269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Strategic Summary - Executive Snapshot</a:t>
            </a:r>
          </a:p>
          <a:p>
            <a:r>
              <a:t>Speaker Script:</a:t>
            </a:r>
          </a:p>
          <a:p>
            <a:r>
              <a:t>"Three numbers frame this project. First, value: in an illustrative scenario with a cohort the size of our dataset, retaining a quarter of the dropouts the model catches preserves about 7.7 million dollars of multi-year tuition. That figure rests on planning assumptions for tuition and success rate, not on the dataset, and I will show how sensitive it is. Second, detection: the deployed model catches about 90 percent of dropouts on a held-out test set, and about 61 percent of the students it flags are truly at risk. Third, fairness: we audited five groups, found recall gaps for age and scholarship status, and cut the age-group gap from 0.18 to 0.07, while the scholarship gap of 0.13 remains open. The trade-off to plan for is workload: to catch 9 in 10 dropouts the model flags about 47 percent of students."</a:t>
            </a:r>
          </a:p>
          <a:p/>
          <a:p>
            <a:r>
              <a:t>Key Takeaways &amp; Transition:</a:t>
            </a:r>
          </a:p>
          <a:p>
            <a:r>
              <a:t>Value is illustrative (assumption-driven); detection and fairness numbers come from the hold-out set.</a:t>
            </a:r>
          </a:p>
          <a:p>
            <a:r>
              <a:t>Capacity, not accuracy, is the binding constraint.</a:t>
            </a:r>
          </a:p>
          <a:p>
            <a:r>
              <a:t>Transition: "To see why this matters, let us look at what the data shows."</a:t>
            </a:r>
          </a:p>
        </p:txBody>
      </p:sp>
      <p:sp>
        <p:nvSpPr>
          <p:cNvPr id="4" name="Slide Number Placeholder 3"/>
          <p:cNvSpPr>
            <a:spLocks noGrp="1"/>
          </p:cNvSpPr>
          <p:nvPr>
            <p:ph type="sldNum" sz="quarter" idx="5"/>
          </p:nvPr>
        </p:nvSpPr>
        <p:spPr/>
        <p:txBody>
          <a:bodyPr/>
          <a:lstStyle/>
          <a:p>
            <a:fld id="{59183492-71CA-4247-84DA-EC3ADF4E65F9}" type="slidenum">
              <a:rPr lang="en-US" smtClean="0"/>
              <a:t>2</a:t>
            </a:fld>
            <a:endParaRPr lang="en-US"/>
          </a:p>
        </p:txBody>
      </p:sp>
    </p:spTree>
    <p:extLst>
      <p:ext uri="{BB962C8B-B14F-4D97-AF65-F5344CB8AC3E}">
        <p14:creationId xmlns:p14="http://schemas.microsoft.com/office/powerpoint/2010/main" val="3984784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Problem Framing &amp; Data - The Attrition Drain</a:t>
            </a:r>
          </a:p>
          <a:p>
            <a:r>
              <a:t>Speaker Script:</a:t>
            </a:r>
          </a:p>
          <a:p>
            <a:r>
              <a:t>"Our dataset has 4,424 students from one Portuguese higher-education institution. Of these, 1,421, or 32.1 percent, dropped out; about half graduated and 17.9 percent are still enrolled. Each dropout is a disrupted education for the student and lost tuition for the institution. The data also tells us where to look. Financial pressure is the clearest non-academic warning sign: among students with none of the three financial-stress flags, 9.3 percent dropped out; among students with all three, 88.8 percent did. Because this is one institution, any rollout elsewhere needs local validation, and I have not compared our rate with external benchmarks, because published national figures measure first-to-second-year attrition and are not comparable with the share of a full cohort that eventually dropped out."</a:t>
            </a:r>
          </a:p>
          <a:p/>
          <a:p>
            <a:r>
              <a:t>Key Takeaways &amp; Transition:</a:t>
            </a:r>
          </a:p>
          <a:p>
            <a:r>
              <a:t>32.1% dropout share = 1,421 of 4,424 students.</a:t>
            </a:r>
          </a:p>
          <a:p>
            <a:r>
              <a:t>Financial Stress Index gradient: 9.3%, 29.3%, 69.2%, 88.8%.</a:t>
            </a:r>
          </a:p>
          <a:p>
            <a:r>
              <a:t>Transition: "Now let us put a cost on the two ways the model can be wrong."</a:t>
            </a:r>
          </a:p>
        </p:txBody>
      </p:sp>
      <p:sp>
        <p:nvSpPr>
          <p:cNvPr id="4" name="Slide Number Placeholder 3"/>
          <p:cNvSpPr>
            <a:spLocks noGrp="1"/>
          </p:cNvSpPr>
          <p:nvPr>
            <p:ph type="sldNum" sz="quarter" idx="5"/>
          </p:nvPr>
        </p:nvSpPr>
        <p:spPr/>
        <p:txBody>
          <a:bodyPr/>
          <a:lstStyle/>
          <a:p>
            <a:fld id="{59183492-71CA-4247-84DA-EC3ADF4E65F9}" type="slidenum">
              <a:rPr lang="en-US" smtClean="0"/>
              <a:t>3</a:t>
            </a:fld>
            <a:endParaRPr lang="en-US"/>
          </a:p>
        </p:txBody>
      </p:sp>
    </p:spTree>
    <p:extLst>
      <p:ext uri="{BB962C8B-B14F-4D97-AF65-F5344CB8AC3E}">
        <p14:creationId xmlns:p14="http://schemas.microsoft.com/office/powerpoint/2010/main" val="4283517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Data Science Alignment - Asymmetric Cost Matrix &amp; Metric Selection</a:t>
            </a:r>
          </a:p>
          <a:p>
            <a:r>
              <a:t>Speaker Script:</a:t>
            </a:r>
          </a:p>
          <a:p>
            <a:r>
              <a:t>"Not all prediction errors cost the same. If the system misses a student who is at risk, that student drops out silently and the institution loses their tuition; in our planning assumptions that is about 24,000 dollars. If the system flags a student who was fine, the cost is an email or a short advisor check-in, assumed at about 30 dollars, with no harm to the student. Both figures are illustrative planning assumptions, not dataset values, and should be replaced with your institution's numbers. Because a miss is so much costlier, accuracy is the wrong yardstick. We set a goal of at least 85 percent recall, trained with class weighting, and used the F2 score, which weighs recall twice as much as precision, to rank the models. At a fixed 0.50 threshold on the held-out test set, the selected XGBoost model reaches 91.2 percent recall, 68.5 percent precision and an F2 of 0.855."</a:t>
            </a:r>
          </a:p>
          <a:p/>
          <a:p>
            <a:r>
              <a:t>Key Takeaways &amp; Transition:</a:t>
            </a:r>
          </a:p>
          <a:p>
            <a:r>
              <a:t>Illustrative costs: about $24,000 per miss versus about $30 per false alarm.</a:t>
            </a:r>
          </a:p>
          <a:p>
            <a:r>
              <a:t>Goal: recall of at least 85%; F2 ranks models; hold-out F2 = 0.855.</a:t>
            </a:r>
          </a:p>
          <a:p>
            <a:r>
              <a:t>Transition: "Next, the features that gave the model its signal."</a:t>
            </a:r>
          </a:p>
        </p:txBody>
      </p:sp>
      <p:sp>
        <p:nvSpPr>
          <p:cNvPr id="4" name="Slide Number Placeholder 3"/>
          <p:cNvSpPr>
            <a:spLocks noGrp="1"/>
          </p:cNvSpPr>
          <p:nvPr>
            <p:ph type="sldNum" sz="quarter" idx="5"/>
          </p:nvPr>
        </p:nvSpPr>
        <p:spPr/>
        <p:txBody>
          <a:bodyPr/>
          <a:lstStyle/>
          <a:p>
            <a:fld id="{59183492-71CA-4247-84DA-EC3ADF4E65F9}" type="slidenum">
              <a:rPr lang="en-US" smtClean="0"/>
              <a:t>5</a:t>
            </a:fld>
            <a:endParaRPr lang="en-US"/>
          </a:p>
        </p:txBody>
      </p:sp>
    </p:spTree>
    <p:extLst>
      <p:ext uri="{BB962C8B-B14F-4D97-AF65-F5344CB8AC3E}">
        <p14:creationId xmlns:p14="http://schemas.microsoft.com/office/powerpoint/2010/main" val="1720640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Feature Engineering - What Actually Carried the Signal</a:t>
            </a:r>
          </a:p>
          <a:p>
            <a:r>
              <a:t>Speaker Script:</a:t>
            </a:r>
          </a:p>
          <a:p>
            <a:r>
              <a:t>"Raw records rarely tell the whole story, so we built four features from domain logic and then checked which ones mattered. The Approval Efficiency Ratio, units approved divided by units enrolled, built for each semester, turned out to be the strongest signal in the entire model: the Semester 2 and Semester 1 versions rank first and second among 38 inputs. The Financial Stress Index counts debtor status, unpaid tuition and absence of a scholarship; the dropout rate rises from 9.3 percent at level zero to 88.8 percent at level three, and it ranks seventh. Our third idea, Academic Momentum, the change in grades between semesters, added little: the median change is zero for both dropouts and retained students, the dropout distribution sits only slightly lower, and it is not among the top ten drivers. I kept it in the analysis but would not rely on it."</a:t>
            </a:r>
          </a:p>
          <a:p/>
          <a:p>
            <a:r>
              <a:t>Key Takeaways &amp; Transition:</a:t>
            </a:r>
          </a:p>
          <a:p>
            <a:r>
              <a:t>Approval rates: #1 and #2 drivers. Financial Stress Index: #7. Academic Momentum: not in top 10.</a:t>
            </a:r>
          </a:p>
          <a:p>
            <a:r>
              <a:t>We report what did not work as well as what did.</a:t>
            </a:r>
          </a:p>
          <a:p>
            <a:r>
              <a:t>Transition: "Let us see how four algorithms performed on these inputs."</a:t>
            </a:r>
          </a:p>
        </p:txBody>
      </p:sp>
      <p:sp>
        <p:nvSpPr>
          <p:cNvPr id="4" name="Slide Number Placeholder 3"/>
          <p:cNvSpPr>
            <a:spLocks noGrp="1"/>
          </p:cNvSpPr>
          <p:nvPr>
            <p:ph type="sldNum" sz="quarter" idx="5"/>
          </p:nvPr>
        </p:nvSpPr>
        <p:spPr/>
        <p:txBody>
          <a:bodyPr/>
          <a:lstStyle/>
          <a:p>
            <a:fld id="{59183492-71CA-4247-84DA-EC3ADF4E65F9}" type="slidenum">
              <a:rPr lang="en-US" smtClean="0"/>
              <a:t>6</a:t>
            </a:fld>
            <a:endParaRPr lang="en-US"/>
          </a:p>
        </p:txBody>
      </p:sp>
    </p:spTree>
    <p:extLst>
      <p:ext uri="{BB962C8B-B14F-4D97-AF65-F5344CB8AC3E}">
        <p14:creationId xmlns:p14="http://schemas.microsoft.com/office/powerpoint/2010/main" val="3637136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Model Evaluation - Four Algorithms, One Selection Rule</a:t>
            </a:r>
          </a:p>
          <a:p>
            <a:r>
              <a:t>Speaker Script:</a:t>
            </a:r>
          </a:p>
          <a:p>
            <a:r>
              <a:t>"We compared four algorithms: logistic regression, random forest, LightGBM and XGBoost. Each was tuned with five-fold cross-validation on the training data, and we ranked them on cross-validated F2, never on the test set, so the test results are an honest check. XGBoost ranked first with a cross-validated F2 of 0.825 and also had the highest recall on the held-out test set, 91.2 percent, clearing our 85 percent target. To be candid, its lead over logistic regression is smaller than one fold standard deviation, so this is a sensible choice rather than a decisive win; the other models give up six to eight points of recall in exchange for about ten points of precision. On the 885 held-out students, 284 were actual dropouts: the model caught 259, missed 25, and raised 119 check-ins that turned out to be unnecessary, flagging 42.7 percent of students overall."</a:t>
            </a:r>
          </a:p>
          <a:p/>
          <a:p>
            <a:r>
              <a:t>Key Takeaways &amp; Transition:</a:t>
            </a:r>
          </a:p>
          <a:p>
            <a:r>
              <a:t>XGBoost: CV F2 0.825, recall 0.912, precision 0.685, F2 0.855, ROC-AUC 0.937.</a:t>
            </a:r>
          </a:p>
          <a:p>
            <a:r>
              <a:t>Hold-out: 259 caught, 25 missed, 119 unnecessary check-ins.</a:t>
            </a:r>
          </a:p>
          <a:p>
            <a:r>
              <a:t>Transition: "A strong model must also be explainable. Let us look at what drives it."</a:t>
            </a:r>
          </a:p>
        </p:txBody>
      </p:sp>
      <p:sp>
        <p:nvSpPr>
          <p:cNvPr id="4" name="Slide Number Placeholder 3"/>
          <p:cNvSpPr>
            <a:spLocks noGrp="1"/>
          </p:cNvSpPr>
          <p:nvPr>
            <p:ph type="sldNum" sz="quarter" idx="5"/>
          </p:nvPr>
        </p:nvSpPr>
        <p:spPr/>
        <p:txBody>
          <a:bodyPr/>
          <a:lstStyle/>
          <a:p>
            <a:fld id="{59183492-71CA-4247-84DA-EC3ADF4E65F9}" type="slidenum">
              <a:rPr lang="en-US" smtClean="0"/>
              <a:t>7</a:t>
            </a:fld>
            <a:endParaRPr lang="en-US"/>
          </a:p>
        </p:txBody>
      </p:sp>
    </p:spTree>
    <p:extLst>
      <p:ext uri="{BB962C8B-B14F-4D97-AF65-F5344CB8AC3E}">
        <p14:creationId xmlns:p14="http://schemas.microsoft.com/office/powerpoint/2010/main" val="149707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Model Explainability - What Drives Risk</a:t>
            </a:r>
          </a:p>
          <a:p>
            <a:r>
              <a:t>Speaker Script:</a:t>
            </a:r>
          </a:p>
          <a:p>
            <a:r>
              <a:t>"A model that advisors cannot interrogate will not be trusted, so we used SHAP to see what drives its scores. The strongest driver by a wide margin is the Semester 2 approval rate, followed by the Semester 1 approval rate, then whether tuition fees are up to date, age at enrollment and course. Higher approval rates and up-to-date tuition push risk down. Two of our engineered features, shown in amber, are at the top, and the Financial Stress Index is seventh. We also tested what waiting for Semester 2 buys us: with Semester 1 data alone the same model reaches an AUC of 0.912 and 88 percent recall; adding Semester 2 lifts those to 0.937 and 91.2 percent. For individual students, a LIME explanation shows advisors the specific factors behind a flag."</a:t>
            </a:r>
          </a:p>
          <a:p/>
          <a:p>
            <a:r>
              <a:t>Key Takeaways &amp; Transition:</a:t>
            </a:r>
          </a:p>
          <a:p>
            <a:r>
              <a:t>Top drivers: approval rate Sem 2 (1.05), Sem 1 (0.41), tuition up to date (0.26).</a:t>
            </a:r>
          </a:p>
          <a:p>
            <a:r>
              <a:t>Semester 2 data: ROC-AUC 0.912 to 0.937; recall 88.0% to 91.2%.</a:t>
            </a:r>
          </a:p>
          <a:p>
            <a:r>
              <a:t>Transition: "Now let us translate this into a business case."</a:t>
            </a:r>
          </a:p>
        </p:txBody>
      </p:sp>
      <p:sp>
        <p:nvSpPr>
          <p:cNvPr id="4" name="Slide Number Placeholder 3"/>
          <p:cNvSpPr>
            <a:spLocks noGrp="1"/>
          </p:cNvSpPr>
          <p:nvPr>
            <p:ph type="sldNum" sz="quarter" idx="5"/>
          </p:nvPr>
        </p:nvSpPr>
        <p:spPr/>
        <p:txBody>
          <a:bodyPr/>
          <a:lstStyle/>
          <a:p>
            <a:fld id="{59183492-71CA-4247-84DA-EC3ADF4E65F9}" type="slidenum">
              <a:rPr lang="en-US" smtClean="0"/>
              <a:t>8</a:t>
            </a:fld>
            <a:endParaRPr lang="en-US"/>
          </a:p>
        </p:txBody>
      </p:sp>
    </p:spTree>
    <p:extLst>
      <p:ext uri="{BB962C8B-B14F-4D97-AF65-F5344CB8AC3E}">
        <p14:creationId xmlns:p14="http://schemas.microsoft.com/office/powerpoint/2010/main" val="286680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Business Case &amp; Economics - Preserved Revenue &amp; Net ROI</a:t>
            </a:r>
          </a:p>
          <a:p>
            <a:r>
              <a:t>Speaker Script:</a:t>
            </a:r>
          </a:p>
          <a:p>
            <a:r>
              <a:t>"Here is the economics, built on the deployed operating point: 89.8 percent recall and 61.4 percent precision. Imagine a cohort the size of our dataset, 4,424 students with 1,421 eventual dropouts. The model would catch about 1,276 of them and flag roughly 800 students who would have stayed, so advisors would contact about 2,078 students, 47 percent of the cohort. If interventions retain 25 percent of the dropouts we catch, that is 319 students; at an assumed 24,000 dollars of multi-year tuition each, 7.66 million dollars is preserved. We scale programme cost with the number of flags, at about 123 dollars per flagged student, giving roughly 256,000 dollars, so net return is 7.4 million, or 28.9 times cost, about 801 dollars per student retained. Please treat the tuition value, the 25 percent success rate and the unit cost as planning assumptions: the sensitivity table shows the return stays positive even at 6,000 dollars of tuition and 5 percent retention, and break-even needs under 1 percent of caught dropouts retained. The pilot exists to replace these assumptions with measured values."</a:t>
            </a:r>
          </a:p>
          <a:p/>
          <a:p>
            <a:r>
              <a:t>Key Takeaways &amp; Transition:</a:t>
            </a:r>
          </a:p>
          <a:p>
            <a:r>
              <a:t>Cohort scenario: 4,424 students; about 2,078 flagged (47%); 319 retained; $7.66M gross; about $256K cost; ROI 28.9x.</a:t>
            </a:r>
          </a:p>
          <a:p>
            <a:r>
              <a:t>Break-even: 0.8% of caught dropouts retained. All dollar inputs are assumptions.</a:t>
            </a:r>
          </a:p>
          <a:p>
            <a:r>
              <a:t>Transition: "How will advisors act on these flags? Here are the playbooks."</a:t>
            </a:r>
          </a:p>
        </p:txBody>
      </p:sp>
      <p:sp>
        <p:nvSpPr>
          <p:cNvPr id="4" name="Slide Number Placeholder 3"/>
          <p:cNvSpPr>
            <a:spLocks noGrp="1"/>
          </p:cNvSpPr>
          <p:nvPr>
            <p:ph type="sldNum" sz="quarter" idx="5"/>
          </p:nvPr>
        </p:nvSpPr>
        <p:spPr/>
        <p:txBody>
          <a:bodyPr/>
          <a:lstStyle/>
          <a:p>
            <a:fld id="{59183492-71CA-4247-84DA-EC3ADF4E65F9}" type="slidenum">
              <a:rPr lang="en-US" smtClean="0"/>
              <a:t>9</a:t>
            </a:fld>
            <a:endParaRPr lang="en-US"/>
          </a:p>
        </p:txBody>
      </p:sp>
    </p:spTree>
    <p:extLst>
      <p:ext uri="{BB962C8B-B14F-4D97-AF65-F5344CB8AC3E}">
        <p14:creationId xmlns:p14="http://schemas.microsoft.com/office/powerpoint/2010/main" val="1784450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Operational Alignment - Intervention Paths</a:t>
            </a:r>
          </a:p>
          <a:p>
            <a:r>
              <a:t>Speaker Script:</a:t>
            </a:r>
          </a:p>
          <a:p>
            <a:r>
              <a:t>"A prediction only has value if it triggers the right action, so each type of flag maps to a playbook. If tuition is unpaid or the student carries debt, the financial playbook starts a financial-aid and emergency-grant review. If the student is passing too few units, the academic playbook enrols them in tutoring and advising. Mature students and moderate-risk cases go to the holistic playbook, with specialised support and an automated check-in. The 30, 25 and 20 percent figures are planning targets I have not measured; the pilot will test them. And because the model flags about 47 percent of students, advisors will need triage by risk score and a realistic estimate of hours per flagged student before launch."</a:t>
            </a:r>
          </a:p>
          <a:p/>
          <a:p>
            <a:r>
              <a:t>Key Takeaways &amp; Transition:</a:t>
            </a:r>
          </a:p>
          <a:p>
            <a:r>
              <a:t>Three playbooks mapped to flag triggers; success targets are planning assumptions to validate.</a:t>
            </a:r>
          </a:p>
          <a:p>
            <a:r>
              <a:t>Capacity: about 47% of students flagged.</a:t>
            </a:r>
          </a:p>
          <a:p>
            <a:r>
              <a:t>Transition: "Before deploying, we must address fairness. Here is what the audit found."</a:t>
            </a:r>
          </a:p>
        </p:txBody>
      </p:sp>
      <p:sp>
        <p:nvSpPr>
          <p:cNvPr id="4" name="Slide Number Placeholder 3"/>
          <p:cNvSpPr>
            <a:spLocks noGrp="1"/>
          </p:cNvSpPr>
          <p:nvPr>
            <p:ph type="sldNum" sz="quarter" idx="5"/>
          </p:nvPr>
        </p:nvSpPr>
        <p:spPr/>
        <p:txBody>
          <a:bodyPr/>
          <a:lstStyle/>
          <a:p>
            <a:fld id="{59183492-71CA-4247-84DA-EC3ADF4E65F9}" type="slidenum">
              <a:rPr lang="en-US" smtClean="0"/>
              <a:t>11</a:t>
            </a:fld>
            <a:endParaRPr lang="en-US"/>
          </a:p>
        </p:txBody>
      </p:sp>
    </p:spTree>
    <p:extLst>
      <p:ext uri="{BB962C8B-B14F-4D97-AF65-F5344CB8AC3E}">
        <p14:creationId xmlns:p14="http://schemas.microsoft.com/office/powerpoint/2010/main" val="2054547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Governance &amp; Ethics - Fairness Audit and Mitigation</a:t>
            </a:r>
          </a:p>
          <a:p>
            <a:r>
              <a:t>Speaker Script:</a:t>
            </a:r>
          </a:p>
          <a:p>
            <a:r>
              <a:t>"We audited the model for five attributes: gender, marital status, scholarship status, debtor status and age group. Two lessons. First, flag rates differ across all five groups, with ratios between 0.32 and 0.64, below the 0.80 screening heuristic. That is largely because their dropout rates differ, for example 12.6 percent for scholarship holders against 39 percent for others, so we treat recall parity, whether at-risk students in each group are caught equally, as the primary test. By that test, three attributes are within a 0.10 gap, but scholarship holders, at 79 percent recall, and students aged 20 or under, at 80 percent, are caught less often than their peers. Second, we tested two mitigations and adopted group-specific thresholds for age group: the recall gap fell from 0.18 to 0.07 and the flag-rate ratio rose from 0.42 to 0.74. It has costs: overall recall slips from 91.2 to 89.8 percent, precision falls to 61.4 percent, and the false-positive gap widened. The scholarship gap is still open, and I propose treating it as a pilot objective. Gender and marital status are excluded from the model and used only for auditing; nationality and international-student status remain inputs and still need an audit. The 0.80 ratio comes from US employment practice; I use it as a warning flag, not a legal test."</a:t>
            </a:r>
          </a:p>
          <a:p/>
          <a:p>
            <a:r>
              <a:t>Key Takeaways &amp; Transition:</a:t>
            </a:r>
          </a:p>
          <a:p>
            <a:r>
              <a:t>2 of 5 attributes exceed the 0.10 recall gap: age (0.18), scholarship (0.13).</a:t>
            </a:r>
          </a:p>
          <a:p>
            <a:r>
              <a:t>Mitigation: age gap 0.18 to 0.07, with lower precision and a wider false-positive gap; scholarship gap remains.</a:t>
            </a:r>
          </a:p>
          <a:p>
            <a:r>
              <a:t>Transition: "Let us now look at how this would be deployed and what could go wrong."</a:t>
            </a:r>
          </a:p>
        </p:txBody>
      </p:sp>
      <p:sp>
        <p:nvSpPr>
          <p:cNvPr id="4" name="Slide Number Placeholder 3"/>
          <p:cNvSpPr>
            <a:spLocks noGrp="1"/>
          </p:cNvSpPr>
          <p:nvPr>
            <p:ph type="sldNum" sz="quarter" idx="5"/>
          </p:nvPr>
        </p:nvSpPr>
        <p:spPr/>
        <p:txBody>
          <a:bodyPr/>
          <a:lstStyle/>
          <a:p>
            <a:fld id="{59183492-71CA-4247-84DA-EC3ADF4E65F9}" type="slidenum">
              <a:rPr lang="en-US" smtClean="0"/>
              <a:t>12</a:t>
            </a:fld>
            <a:endParaRPr lang="en-US"/>
          </a:p>
        </p:txBody>
      </p:sp>
    </p:spTree>
    <p:extLst>
      <p:ext uri="{BB962C8B-B14F-4D97-AF65-F5344CB8AC3E}">
        <p14:creationId xmlns:p14="http://schemas.microsoft.com/office/powerpoint/2010/main" val="1145640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Proposed Deployment Architecture &amp; Key Risks</a:t>
            </a:r>
          </a:p>
          <a:p>
            <a:r>
              <a:t>Speaker Script:</a:t>
            </a:r>
          </a:p>
          <a:p>
            <a:r>
              <a:t>"This is a proposal, not something I have built beyond the model itself. What exists today is the trained XGBoost artifact and a configuration file recording its parameters, threshold and features. The next steps would be a scoring service, integration with the student-information system and advisory tools so flags and reason cards appear where advisors work, and monitoring of recall, flag rate and the per-group recall gap each cycle. Three risks matter most. Advisor capacity: with 47 percent of students flagged, we must triage by risk. Advisor adoption: staff will trust flags more if they see the reasons. And fairness and drift: the scholarship gap is still open and the student population changes, so we audit every cycle and retrain if a gap exceeds 0.10."</a:t>
            </a:r>
          </a:p>
          <a:p/>
          <a:p>
            <a:r>
              <a:t>Key Takeaways &amp; Transition:</a:t>
            </a:r>
          </a:p>
          <a:p>
            <a:r>
              <a:t>Existing: model artifact and config. Proposed: API, integration, monitoring.</a:t>
            </a:r>
          </a:p>
          <a:p>
            <a:r>
              <a:t>Risks: capacity, adoption, fairness and drift.</a:t>
            </a:r>
          </a:p>
          <a:p>
            <a:r>
              <a:t>Transition: "Finally, here is the roadmap and what I am asking of you today."</a:t>
            </a:r>
          </a:p>
        </p:txBody>
      </p:sp>
      <p:sp>
        <p:nvSpPr>
          <p:cNvPr id="4" name="Slide Number Placeholder 3"/>
          <p:cNvSpPr>
            <a:spLocks noGrp="1"/>
          </p:cNvSpPr>
          <p:nvPr>
            <p:ph type="sldNum" sz="quarter" idx="5"/>
          </p:nvPr>
        </p:nvSpPr>
        <p:spPr/>
        <p:txBody>
          <a:bodyPr/>
          <a:lstStyle/>
          <a:p>
            <a:fld id="{59183492-71CA-4247-84DA-EC3ADF4E65F9}" type="slidenum">
              <a:rPr lang="en-US" smtClean="0"/>
              <a:t>13</a:t>
            </a:fld>
            <a:endParaRPr lang="en-US"/>
          </a:p>
        </p:txBody>
      </p:sp>
    </p:spTree>
    <p:extLst>
      <p:ext uri="{BB962C8B-B14F-4D97-AF65-F5344CB8AC3E}">
        <p14:creationId xmlns:p14="http://schemas.microsoft.com/office/powerpoint/2010/main" val="35794576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Execution Strategy - Implementation Roadmap &amp; Call to Action</a:t>
            </a:r>
          </a:p>
          <a:p>
            <a:r>
              <a:t>Speaker Script:</a:t>
            </a:r>
          </a:p>
          <a:p>
            <a:r>
              <a:t>"I propose a twelve-month, three-phase plan. In months one to three, a pilot: score an incoming cohort at the end of Semester 2, run the playbooks on flagged students and stand up the scoring service and advisor dashboard. In months four to six, calibration: measure real retention lift, which replaces my 25 percent assumption, advisor hours per flag, and recall by group, and adjust thresholds. In months seven to twelve, if the pilot confirms the return, scale across the institution and institute drift audits and an annual fairness review. Today I am asking for approval to begin Phase 1."</a:t>
            </a:r>
          </a:p>
          <a:p/>
          <a:p>
            <a:r>
              <a:t>Key Takeaways &amp; Transition:</a:t>
            </a:r>
          </a:p>
          <a:p>
            <a:r>
              <a:t>Phase 1 M1-M3 pilot; Phase 2 M4-M6 calibration; Phase 3 M7-M12 scale.</a:t>
            </a:r>
          </a:p>
          <a:p>
            <a:r>
              <a:t>Ask: approval to launch the pilot.</a:t>
            </a:r>
          </a:p>
          <a:p>
            <a:r>
              <a:t>Transition: "Thank you. I am happy to take questions."</a:t>
            </a:r>
          </a:p>
          <a:p/>
          <a:p>
            <a:r>
              <a:t>Executive Q&amp;A Prep</a:t>
            </a:r>
          </a:p>
          <a:p>
            <a:r>
              <a:t>Q1: Why prioritise recall over precision? Won't advisors complain about false alarms?</a:t>
            </a:r>
          </a:p>
          <a:p>
            <a:r>
              <a:t>A: Because a miss is far costlier than a check-in (about $24,000 versus about $30 in our planning assumptions). The honest cost is workload: to catch about 90% of dropouts the model flags about 47% of students and about 39% of flags are unnecessary, so we will triage by risk score and pilot advisor hours before scaling.</a:t>
            </a:r>
          </a:p>
          <a:p>
            <a:r>
              <a:t>Q2: How do we know the model won't discriminate against low-income or minority students?</a:t>
            </a:r>
          </a:p>
          <a:p>
            <a:r>
              <a:t>A: Gender and marital status are excluded from the model. We audited five groups and found recall gaps for scholarship holders (0.13) and age groups (0.18). We reduced the age gap to 0.07 with group thresholds, at some cost in precision; the scholarship gap is open and is a pilot objective. Nationality and international-student status are still model inputs and have not been audited; that is a follow-up. The 0.80 ratio is a screening heuristic, not a legal test.</a:t>
            </a:r>
          </a:p>
          <a:p>
            <a:r>
              <a:t>Q3: What if advisors ignore the system?</a:t>
            </a:r>
          </a:p>
          <a:p>
            <a:r>
              <a:t>A: That is why each flag will carry a reason card (SHAP and LIME), and why the pilot includes advisor review sessions. Adoption is measured in Phase 2.</a:t>
            </a:r>
          </a:p>
          <a:p>
            <a:r>
              <a:t>Q4: How reliable are the dollar figures?</a:t>
            </a:r>
          </a:p>
          <a:p>
            <a:r>
              <a:t>A: They are planning assumptions (tuition value, 25% success rate, programme cost per flag), not dataset values. The sensitivity table shows the return stays positive across a wide range, and the pilot will replace them with measurements.</a:t>
            </a:r>
          </a:p>
          <a:p>
            <a:r>
              <a:t>Photo credit (slide 9): prepscholar.com.</a:t>
            </a:r>
          </a:p>
        </p:txBody>
      </p:sp>
      <p:sp>
        <p:nvSpPr>
          <p:cNvPr id="4" name="Slide Number Placeholder 3"/>
          <p:cNvSpPr>
            <a:spLocks noGrp="1"/>
          </p:cNvSpPr>
          <p:nvPr>
            <p:ph type="sldNum" sz="quarter" idx="5"/>
          </p:nvPr>
        </p:nvSpPr>
        <p:spPr/>
        <p:txBody>
          <a:bodyPr/>
          <a:lstStyle/>
          <a:p>
            <a:fld id="{59183492-71CA-4247-84DA-EC3ADF4E65F9}" type="slidenum">
              <a:rPr lang="en-US" smtClean="0"/>
              <a:t>15</a:t>
            </a:fld>
            <a:endParaRPr lang="en-US"/>
          </a:p>
        </p:txBody>
      </p:sp>
    </p:spTree>
    <p:extLst>
      <p:ext uri="{BB962C8B-B14F-4D97-AF65-F5344CB8AC3E}">
        <p14:creationId xmlns:p14="http://schemas.microsoft.com/office/powerpoint/2010/main" val="2262539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a:xfrm>
            <a:off x="432000" y="6365893"/>
            <a:ext cx="5664000" cy="187307"/>
          </a:xfrm>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812072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a:prstGeom prst="rect">
            <a:avLst/>
          </a:prstGeo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a:prstGeom prst="rect">
            <a:avLst/>
          </a:prstGeo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2621124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a:prstGeom prst="rect">
            <a:avLst/>
          </a:prstGeo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645453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prstGeom prst="rect">
            <a:avLst/>
          </a:prstGeom>
          <a:solidFill>
            <a:schemeClr val="accent6">
              <a:lumMod val="50000"/>
            </a:schemeClr>
          </a:solidFill>
        </p:spPr>
        <p:txBody>
          <a:bodyPr/>
          <a:lstStyle>
            <a:lvl1pPr marL="0" indent="0" algn="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a:prstGeom prst="rect">
            <a:avLst/>
          </a:prstGeo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a:prstGeom prst="rect">
            <a:avLst/>
          </a:prstGeo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1427928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a:prstGeom prst="rect">
            <a:avLst/>
          </a:prstGeo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09852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a:prstGeom prst="rect">
            <a:avLst/>
          </a:prstGeo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a:prstGeom prst="rect">
            <a:avLst/>
          </a:prstGeo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prstGeom prst="rect">
            <a:avLst/>
          </a:prstGeo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Tree>
    <p:extLst>
      <p:ext uri="{BB962C8B-B14F-4D97-AF65-F5344CB8AC3E}">
        <p14:creationId xmlns:p14="http://schemas.microsoft.com/office/powerpoint/2010/main" val="31329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a:prstGeom prst="rect">
            <a:avLst/>
          </a:prstGeo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a:prstGeom prst="rect">
            <a:avLst/>
          </a:prstGeo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a:prstGeom prst="rect">
            <a:avLst/>
          </a:prstGeo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658785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prstGeom prst="rect">
            <a:avLst/>
          </a:prstGeo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a:prstGeom prst="rect">
            <a:avLst/>
          </a:prstGeo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946745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a:prstGeom prst="rect">
            <a:avLst/>
          </a:prstGeo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a:prstGeom prst="rect">
            <a:avLst/>
          </a:prstGeo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650263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a:prstGeom prst="rect">
            <a:avLst/>
          </a:prstGeo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a:prstGeom prst="rect">
            <a:avLst/>
          </a:prstGeo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827204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a:prstGeom prst="rect">
            <a:avLst/>
          </a:prstGeo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0329987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prstGeom prst="rect">
            <a:avLst/>
          </a:prstGeom>
          <a:solidFill>
            <a:schemeClr val="accent6">
              <a:lumMod val="75000"/>
            </a:schemeClr>
          </a:solidFill>
        </p:spPr>
        <p:txBody>
          <a:bodyPr/>
          <a:lstStyle>
            <a:lvl1pPr marL="0" indent="0" algn="l">
              <a:buNone/>
              <a:defRPr>
                <a:solidFill>
                  <a:schemeClr val="bg1"/>
                </a:solidFill>
              </a:defRPr>
            </a:lvl1pPr>
          </a:lstStyle>
          <a:p>
            <a:r>
              <a:rPr lang="en-US"/>
              <a:t>Click icon to add picture</a:t>
            </a:r>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a:prstGeom prst="rect">
            <a:avLst/>
          </a:prstGeo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a:extLst>
              <a:ext uri="{96DAC541-7B7A-43D3-8B79-37D633B846F1}">
                <asvg:svgBlip xmlns:asvg="http://schemas.microsoft.com/office/drawing/2016/SVG/main" r:embed="rId2"/>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2562666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a:prstGeom prst="rect">
            <a:avLst/>
          </a:prstGeo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a:prstGeom prst="rect">
            <a:avLst/>
          </a:prstGeo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a:prstGeom prst="rect">
            <a:avLst/>
          </a:prstGeo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33242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a:prstGeom prst="rect">
            <a:avLst/>
          </a:prstGeo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a:prstGeom prst="rect">
            <a:avLst/>
          </a:prstGeo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99330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6136C8-5F1C-1938-2749-EB92507D5B73}"/>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8F8A0E18-5BF2-0344-33F6-E3D16F9F6F7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861156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957789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002586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with image 0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3294316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9437662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with image 0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Tree>
    <p:extLst>
      <p:ext uri="{BB962C8B-B14F-4D97-AF65-F5344CB8AC3E}">
        <p14:creationId xmlns:p14="http://schemas.microsoft.com/office/powerpoint/2010/main" val="34207803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1856674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a:t>Click to edit Master title style</a:t>
            </a:r>
            <a:endParaRPr lang="en-US" dirty="0"/>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91314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8939159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587460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6913045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break with image 03">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r>
              <a:rPr lang="en-US"/>
              <a:t>Click icon to add picture</a:t>
            </a:r>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a:extLst>
              <a:ext uri="{96DAC541-7B7A-43D3-8B79-37D633B846F1}">
                <asvg:svgBlip xmlns:asvg="http://schemas.microsoft.com/office/drawing/2016/SVG/main" r:embed="rId2"/>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40437554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849455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23186084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6136C8-5F1C-1938-2749-EB92507D5B73}"/>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8F8A0E18-5BF2-0344-33F6-E3D16F9F6F7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8291362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0E35E-0126-3B47-9A1D-E797D5E889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7A2510-492D-F3B5-BB46-8E4FE86EE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BDEA9A-BB61-27A9-ACB7-F23932A1DAE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664259D-70F4-3BF1-9855-33581BFD3F67}"/>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1F38DDBB-6776-481C-5238-8CC22ADDC028}"/>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37412256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B34BF-3D5D-819E-E41E-692336AA5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435656-7F5A-0511-3EEC-ABFE7A886D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B48021-285A-B4BC-C31D-C7D1D4F497F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65B39DD-8613-308C-08F1-9E4B2D6FF63A}"/>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1FA9A7EC-081E-32AD-AFDA-F0A0C2EBE680}"/>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0804824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DCF98-837D-2CE4-A352-7BDB875783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8E58AD-A35E-BCDF-C11D-1A4545353E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036E5E-66D2-7196-F278-FDC7020EA35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C78F518-4236-109D-4F4D-1E32C0E35983}"/>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66855372-AB97-755D-07C5-D85D5F17D662}"/>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27644025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6E47F-322F-4769-C744-B0373F0953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C173FF-7520-E745-8D6F-DDDD843F2A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25AFBF-34A9-6602-CF7E-252B5F1D4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8B1986-6674-2363-665E-110EADC68B6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EF02BF4-751F-AF83-6490-8494F5F4EA4A}"/>
              </a:ext>
            </a:extLst>
          </p:cNvPr>
          <p:cNvSpPr>
            <a:spLocks noGrp="1"/>
          </p:cNvSpPr>
          <p:nvPr>
            <p:ph type="ftr" sz="quarter" idx="11"/>
          </p:nvPr>
        </p:nvSpPr>
        <p:spPr/>
        <p:txBody>
          <a:bodyPr/>
          <a:lstStyle/>
          <a:p>
            <a:r>
              <a:rPr lang="en-US"/>
              <a:t>Capstone Project: PGD in Artificial Intelligence and Machine Learning</a:t>
            </a:r>
          </a:p>
        </p:txBody>
      </p:sp>
      <p:sp>
        <p:nvSpPr>
          <p:cNvPr id="7" name="Slide Number Placeholder 6">
            <a:extLst>
              <a:ext uri="{FF2B5EF4-FFF2-40B4-BE49-F238E27FC236}">
                <a16:creationId xmlns:a16="http://schemas.microsoft.com/office/drawing/2014/main" id="{09B4103A-6192-B333-CB4D-1E048CFD17A3}"/>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2912076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65C2F-2C83-1409-812C-7B82477EF1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3B5601-63E5-FC9B-D0D1-3D98D5D026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2399DF-06AD-8F6D-382D-005F537F24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274586-1269-810C-B41C-310A109BB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2B8619-A4D8-FF94-3CCB-398F267B4D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F6C03F-E1E0-824E-53FD-C9A62CB99872}"/>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8195356D-8218-442A-F6BB-51E0A1DD3504}"/>
              </a:ext>
            </a:extLst>
          </p:cNvPr>
          <p:cNvSpPr>
            <a:spLocks noGrp="1"/>
          </p:cNvSpPr>
          <p:nvPr>
            <p:ph type="ftr" sz="quarter" idx="11"/>
          </p:nvPr>
        </p:nvSpPr>
        <p:spPr/>
        <p:txBody>
          <a:bodyPr/>
          <a:lstStyle/>
          <a:p>
            <a:r>
              <a:rPr lang="en-US"/>
              <a:t>Capstone Project: PGD in Artificial Intelligence and Machine Learning</a:t>
            </a:r>
          </a:p>
        </p:txBody>
      </p:sp>
      <p:sp>
        <p:nvSpPr>
          <p:cNvPr id="9" name="Slide Number Placeholder 8">
            <a:extLst>
              <a:ext uri="{FF2B5EF4-FFF2-40B4-BE49-F238E27FC236}">
                <a16:creationId xmlns:a16="http://schemas.microsoft.com/office/drawing/2014/main" id="{53E1C105-CB4C-0984-D926-2E6F88F78D9A}"/>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22543168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8C850-D164-036D-6B61-FFEAFF22D2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6C9BAF-B6EA-94EB-6BB9-36FFBDDB5FD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01D1AD4-7549-1057-5371-02A3003B661C}"/>
              </a:ext>
            </a:extLst>
          </p:cNvPr>
          <p:cNvSpPr>
            <a:spLocks noGrp="1"/>
          </p:cNvSpPr>
          <p:nvPr>
            <p:ph type="ftr" sz="quarter" idx="11"/>
          </p:nvPr>
        </p:nvSpPr>
        <p:spPr/>
        <p:txBody>
          <a:bodyPr/>
          <a:lstStyle/>
          <a:p>
            <a:r>
              <a:rPr lang="en-US"/>
              <a:t>Capstone Project: PGD in Artificial Intelligence and Machine Learning</a:t>
            </a:r>
          </a:p>
        </p:txBody>
      </p:sp>
      <p:sp>
        <p:nvSpPr>
          <p:cNvPr id="5" name="Slide Number Placeholder 4">
            <a:extLst>
              <a:ext uri="{FF2B5EF4-FFF2-40B4-BE49-F238E27FC236}">
                <a16:creationId xmlns:a16="http://schemas.microsoft.com/office/drawing/2014/main" id="{734D5B88-9E03-DEA6-E00F-21CB8178E5DC}"/>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6388210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BF6F4F-A2AB-7B14-3787-AA7067CCB10C}"/>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42E0B2F-CFFF-C705-0B9F-E60AC07C63DF}"/>
              </a:ext>
            </a:extLst>
          </p:cNvPr>
          <p:cNvSpPr>
            <a:spLocks noGrp="1"/>
          </p:cNvSpPr>
          <p:nvPr>
            <p:ph type="ftr" sz="quarter" idx="11"/>
          </p:nvPr>
        </p:nvSpPr>
        <p:spPr/>
        <p:txBody>
          <a:bodyPr/>
          <a:lstStyle/>
          <a:p>
            <a:r>
              <a:rPr lang="en-US"/>
              <a:t>Capstone Project: PGD in Artificial Intelligence and Machine Learning</a:t>
            </a:r>
          </a:p>
        </p:txBody>
      </p:sp>
      <p:sp>
        <p:nvSpPr>
          <p:cNvPr id="4" name="Slide Number Placeholder 3">
            <a:extLst>
              <a:ext uri="{FF2B5EF4-FFF2-40B4-BE49-F238E27FC236}">
                <a16:creationId xmlns:a16="http://schemas.microsoft.com/office/drawing/2014/main" id="{D5C3F11B-983F-45C3-B86C-02532C428BAA}"/>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758295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EB77-B1FA-F9C9-CD4D-F5C03F4244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ADB7CD-FC91-7C6D-24EA-6A8F8FD205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2F8FE8-2410-CF8A-220D-40E9F65F9B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F3B2A5-2DD6-DEA4-E3AF-A8EADEB4F52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AAC9328-F11D-A21A-37B0-74823EA741DF}"/>
              </a:ext>
            </a:extLst>
          </p:cNvPr>
          <p:cNvSpPr>
            <a:spLocks noGrp="1"/>
          </p:cNvSpPr>
          <p:nvPr>
            <p:ph type="ftr" sz="quarter" idx="11"/>
          </p:nvPr>
        </p:nvSpPr>
        <p:spPr/>
        <p:txBody>
          <a:bodyPr/>
          <a:lstStyle/>
          <a:p>
            <a:r>
              <a:rPr lang="en-US"/>
              <a:t>Capstone Project: PGD in Artificial Intelligence and Machine Learning</a:t>
            </a:r>
          </a:p>
        </p:txBody>
      </p:sp>
      <p:sp>
        <p:nvSpPr>
          <p:cNvPr id="7" name="Slide Number Placeholder 6">
            <a:extLst>
              <a:ext uri="{FF2B5EF4-FFF2-40B4-BE49-F238E27FC236}">
                <a16:creationId xmlns:a16="http://schemas.microsoft.com/office/drawing/2014/main" id="{2058C7B1-CD5D-86EC-43D8-A2F3DE07D3BE}"/>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22080797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6BE3D-8825-7684-5C02-89762A9182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1A433E-FF94-AE25-6CBE-FC6311B4CD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A1F532-0C36-FF24-229F-0D5F0BA17B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2376C7-1FA8-D53F-6B8F-2C06D44EB52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1AEA896-960E-D2DF-1A90-46305D0925E8}"/>
              </a:ext>
            </a:extLst>
          </p:cNvPr>
          <p:cNvSpPr>
            <a:spLocks noGrp="1"/>
          </p:cNvSpPr>
          <p:nvPr>
            <p:ph type="ftr" sz="quarter" idx="11"/>
          </p:nvPr>
        </p:nvSpPr>
        <p:spPr/>
        <p:txBody>
          <a:bodyPr/>
          <a:lstStyle/>
          <a:p>
            <a:r>
              <a:rPr lang="en-US"/>
              <a:t>Capstone Project: PGD in Artificial Intelligence and Machine Learning</a:t>
            </a:r>
          </a:p>
        </p:txBody>
      </p:sp>
      <p:sp>
        <p:nvSpPr>
          <p:cNvPr id="7" name="Slide Number Placeholder 6">
            <a:extLst>
              <a:ext uri="{FF2B5EF4-FFF2-40B4-BE49-F238E27FC236}">
                <a16:creationId xmlns:a16="http://schemas.microsoft.com/office/drawing/2014/main" id="{4C1B3A78-D847-5EBE-9B7C-C9872321C680}"/>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39613900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EABD-2995-C380-FED9-58294B3FEC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F49D33-0F8F-004F-C190-5716CF9CBF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FFC3D2-0479-EC1D-14C0-28F56E21AE6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6C01968-B4D5-7899-CB4C-AC32F13D551E}"/>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D03A0B28-2B87-25C5-1908-AE069971B3F9}"/>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1156645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AEE401-952F-8A52-946D-1538A65B8A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E0C6BE-5CE9-B7FD-247B-0A460FD341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AC2825-F4D8-F0CE-0FF6-F3022DB4E9C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F2E80E5-B5A6-38FA-9A08-7F1007836A40}"/>
              </a:ext>
            </a:extLst>
          </p:cNvPr>
          <p:cNvSpPr>
            <a:spLocks noGrp="1"/>
          </p:cNvSpPr>
          <p:nvPr>
            <p:ph type="ftr" sz="quarter" idx="11"/>
          </p:nvPr>
        </p:nvSpPr>
        <p:spPr/>
        <p:txBody>
          <a:body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AE536BF3-6C23-3B47-53C4-E2A5FBD61A8C}"/>
              </a:ext>
            </a:extLst>
          </p:cNvPr>
          <p:cNvSpPr>
            <a:spLocks noGrp="1"/>
          </p:cNvSpPr>
          <p:nvPr>
            <p:ph type="sldNum" sz="quarter" idx="12"/>
          </p:nvPr>
        </p:nvSpPr>
        <p:spPr/>
        <p:txBody>
          <a:bodyPr/>
          <a:lstStyle/>
          <a:p>
            <a:fld id="{FE9561E1-3A8E-4607-885F-F55590AB9AD3}" type="slidenum">
              <a:rPr lang="en-US" smtClean="0"/>
              <a:t>‹#›</a:t>
            </a:fld>
            <a:endParaRPr lang="en-US"/>
          </a:p>
        </p:txBody>
      </p:sp>
    </p:spTree>
    <p:extLst>
      <p:ext uri="{BB962C8B-B14F-4D97-AF65-F5344CB8AC3E}">
        <p14:creationId xmlns:p14="http://schemas.microsoft.com/office/powerpoint/2010/main" val="141541993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520291938"/>
      </p:ext>
    </p:extLst>
  </p:cSld>
  <p:clrMap bg1="lt1" tx1="dk1" bg2="lt2" tx2="dk2" accent1="accent1" accent2="accent2" accent3="accent3" accent4="accent4" accent5="accent5" accent6="accent6" hlink="hlink" folHlink="folHlink"/>
  <p:sldLayoutIdLst>
    <p:sldLayoutId id="2147483702"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86" r:id="rId15"/>
  </p:sldLayoutIdLst>
  <p:hf hd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a:t>Capstone Project: PGD in Artificial Intelligence and Machine Learning</a:t>
            </a:r>
            <a:endParaRPr lang="en-US" noProof="0" dirty="0"/>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70947627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35621-2E54-EF7D-875F-747EAD184B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C1BE6C-DE22-11C3-9BE9-3769FF577F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14DC20-7C31-68C9-CFFD-E81848F617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59FC4A3C-FC9D-4885-9C16-36E9B5D89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Capstone Project: PGD in Artificial Intelligence and Machine Learning</a:t>
            </a:r>
          </a:p>
        </p:txBody>
      </p:sp>
      <p:sp>
        <p:nvSpPr>
          <p:cNvPr id="6" name="Slide Number Placeholder 5">
            <a:extLst>
              <a:ext uri="{FF2B5EF4-FFF2-40B4-BE49-F238E27FC236}">
                <a16:creationId xmlns:a16="http://schemas.microsoft.com/office/drawing/2014/main" id="{BAA0BFD0-4D5D-E0B2-05B3-ABC67CDCCB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9561E1-3A8E-4607-885F-F55590AB9AD3}" type="slidenum">
              <a:rPr lang="en-US" smtClean="0"/>
              <a:t>‹#›</a:t>
            </a:fld>
            <a:endParaRPr lang="en-US"/>
          </a:p>
        </p:txBody>
      </p:sp>
    </p:spTree>
    <p:extLst>
      <p:ext uri="{BB962C8B-B14F-4D97-AF65-F5344CB8AC3E}">
        <p14:creationId xmlns:p14="http://schemas.microsoft.com/office/powerpoint/2010/main" val="67927260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F76A4-E28D-100C-EB1C-CD1C8859BC0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5A0AE1-CFBE-1616-03EA-B070D7B73FD2}"/>
              </a:ext>
            </a:extLst>
          </p:cNvPr>
          <p:cNvSpPr/>
          <p:nvPr/>
        </p:nvSpPr>
        <p:spPr>
          <a:xfrm>
            <a:off x="762000" y="5629126"/>
            <a:ext cx="10668000" cy="6191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3">
            <a:extLst>
              <a:ext uri="{FF2B5EF4-FFF2-40B4-BE49-F238E27FC236}">
                <a16:creationId xmlns:a16="http://schemas.microsoft.com/office/drawing/2014/main" id="{C8FC9B5B-ADE7-3586-58E3-E58FFBED5296}"/>
              </a:ext>
            </a:extLst>
          </p:cNvPr>
          <p:cNvSpPr/>
          <p:nvPr/>
        </p:nvSpPr>
        <p:spPr>
          <a:xfrm>
            <a:off x="762000" y="2291655"/>
            <a:ext cx="3248025" cy="304800"/>
          </a:xfrm>
          <a:prstGeom prst="roundRect">
            <a:avLst>
              <a:gd name="adj" fmla="val 50000"/>
            </a:avLst>
          </a:prstGeom>
          <a:solidFill>
            <a:srgbClr val="342D2C"/>
          </a:solidFill>
          <a:ln w="9525">
            <a:solidFill>
              <a:srgbClr val="65432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26D3E509-1F35-A997-BFE5-A5D7FDA9D12C}"/>
              </a:ext>
            </a:extLst>
          </p:cNvPr>
          <p:cNvSpPr/>
          <p:nvPr/>
        </p:nvSpPr>
        <p:spPr>
          <a:xfrm>
            <a:off x="762000" y="5629126"/>
            <a:ext cx="106680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5">
            <a:extLst>
              <a:ext uri="{FF2B5EF4-FFF2-40B4-BE49-F238E27FC236}">
                <a16:creationId xmlns:a16="http://schemas.microsoft.com/office/drawing/2014/main" id="{CA043C95-1C90-2F64-4F3A-45F250F9A28B}"/>
              </a:ext>
            </a:extLst>
          </p:cNvPr>
          <p:cNvSpPr/>
          <p:nvPr/>
        </p:nvSpPr>
        <p:spPr>
          <a:xfrm>
            <a:off x="762000" y="638175"/>
            <a:ext cx="114300" cy="11430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a:extLst>
              <a:ext uri="{FF2B5EF4-FFF2-40B4-BE49-F238E27FC236}">
                <a16:creationId xmlns:a16="http://schemas.microsoft.com/office/drawing/2014/main" id="{D3E982DF-AB30-30AB-6EED-B8913DB848D7}"/>
              </a:ext>
            </a:extLst>
          </p:cNvPr>
          <p:cNvPicPr>
            <a:picLocks noChangeAspect="1"/>
          </p:cNvPicPr>
          <p:nvPr/>
        </p:nvPicPr>
        <p:blipFill>
          <a:blip r:embed="rId3"/>
          <a:stretch>
            <a:fillRect/>
          </a:stretch>
        </p:blipFill>
        <p:spPr>
          <a:xfrm>
            <a:off x="923925" y="2377380"/>
            <a:ext cx="133350" cy="133350"/>
          </a:xfrm>
          <a:prstGeom prst="rect">
            <a:avLst/>
          </a:prstGeom>
        </p:spPr>
      </p:pic>
      <p:sp>
        <p:nvSpPr>
          <p:cNvPr id="20" name="TextBox 19">
            <a:extLst>
              <a:ext uri="{FF2B5EF4-FFF2-40B4-BE49-F238E27FC236}">
                <a16:creationId xmlns:a16="http://schemas.microsoft.com/office/drawing/2014/main" id="{EBCF9AFA-369C-D131-5606-7E124162D1B7}"/>
              </a:ext>
            </a:extLst>
          </p:cNvPr>
          <p:cNvSpPr txBox="1"/>
          <p:nvPr/>
        </p:nvSpPr>
        <p:spPr>
          <a:xfrm>
            <a:off x="9458325" y="609600"/>
            <a:ext cx="1764907" cy="161583"/>
          </a:xfrm>
          <a:prstGeom prst="rect">
            <a:avLst/>
          </a:prstGeom>
          <a:noFill/>
        </p:spPr>
        <p:txBody>
          <a:bodyPr wrap="none" lIns="0" tIns="0" rIns="0" bIns="0" anchor="t">
            <a:spAutoFit/>
          </a:bodyPr>
          <a:lstStyle/>
          <a:p>
            <a:pPr algn="l"/>
            <a:r>
              <a:rPr sz="1050" b="1" i="0" u="none" dirty="0">
                <a:solidFill>
                  <a:schemeClr val="bg1">
                    <a:lumMod val="85000"/>
                  </a:schemeClr>
                </a:solidFill>
                <a:latin typeface="Aptos Narrow" panose="020B0004020202020204" pitchFamily="34" charset="0"/>
              </a:rPr>
              <a:t>AI &amp; Machine Learning Strategy</a:t>
            </a:r>
          </a:p>
        </p:txBody>
      </p:sp>
      <p:sp>
        <p:nvSpPr>
          <p:cNvPr id="22" name="TextBox 21">
            <a:extLst>
              <a:ext uri="{FF2B5EF4-FFF2-40B4-BE49-F238E27FC236}">
                <a16:creationId xmlns:a16="http://schemas.microsoft.com/office/drawing/2014/main" id="{44C8774A-72D6-1F0C-DA2E-164E41AC80B0}"/>
              </a:ext>
            </a:extLst>
          </p:cNvPr>
          <p:cNvSpPr txBox="1"/>
          <p:nvPr/>
        </p:nvSpPr>
        <p:spPr>
          <a:xfrm>
            <a:off x="762000" y="2786955"/>
            <a:ext cx="10515600" cy="640080"/>
          </a:xfrm>
          <a:prstGeom prst="rect">
            <a:avLst/>
          </a:prstGeom>
          <a:noFill/>
        </p:spPr>
        <p:txBody>
          <a:bodyPr wrap="square" lIns="0" tIns="0" rIns="0" bIns="0" anchor="t">
            <a:noAutofit/>
          </a:bodyPr>
          <a:lstStyle/>
          <a:p>
            <a:pPr algn="l">
              <a:lnSpc>
                <a:spcPts val="4484"/>
              </a:lnSpc>
            </a:pPr>
            <a:r>
              <a:rPr sz="4400" b="1" i="0" u="none" dirty="0">
                <a:solidFill>
                  <a:srgbClr val="FFFFFF"/>
                </a:solidFill>
                <a:latin typeface="Aptos Narrow" panose="020B0004020202020204" pitchFamily="34" charset="0"/>
              </a:rPr>
              <a:t>Predictive Retention Analytics</a:t>
            </a:r>
          </a:p>
        </p:txBody>
      </p:sp>
      <p:sp>
        <p:nvSpPr>
          <p:cNvPr id="24" name="TextBox 23">
            <a:extLst>
              <a:ext uri="{FF2B5EF4-FFF2-40B4-BE49-F238E27FC236}">
                <a16:creationId xmlns:a16="http://schemas.microsoft.com/office/drawing/2014/main" id="{5BF387CE-B245-8397-29AE-BBBE521FEF02}"/>
              </a:ext>
            </a:extLst>
          </p:cNvPr>
          <p:cNvSpPr txBox="1"/>
          <p:nvPr/>
        </p:nvSpPr>
        <p:spPr>
          <a:xfrm>
            <a:off x="762000" y="3547020"/>
            <a:ext cx="7909560" cy="640080"/>
          </a:xfrm>
          <a:prstGeom prst="rect">
            <a:avLst/>
          </a:prstGeom>
          <a:noFill/>
        </p:spPr>
        <p:txBody>
          <a:bodyPr wrap="square" lIns="0" tIns="0" rIns="0" bIns="0" anchor="t">
            <a:noAutofit/>
          </a:bodyPr>
          <a:lstStyle/>
          <a:p>
            <a:pPr algn="l">
              <a:lnSpc>
                <a:spcPts val="2250"/>
              </a:lnSpc>
            </a:pPr>
            <a:r>
              <a:rPr sz="1500" b="0" i="0" u="none" dirty="0">
                <a:solidFill>
                  <a:schemeClr val="bg1">
                    <a:lumMod val="85000"/>
                  </a:schemeClr>
                </a:solidFill>
                <a:latin typeface="Aptos Narrow" panose="020B0004020202020204" pitchFamily="34" charset="0"/>
              </a:rPr>
              <a:t>An early-warning system that scores every student at the end of Semester 2 and flags about 9 in 10 eventual dropouts while advisors can still intervene.</a:t>
            </a:r>
          </a:p>
        </p:txBody>
      </p:sp>
      <p:sp>
        <p:nvSpPr>
          <p:cNvPr id="26" name="TextBox 25">
            <a:extLst>
              <a:ext uri="{FF2B5EF4-FFF2-40B4-BE49-F238E27FC236}">
                <a16:creationId xmlns:a16="http://schemas.microsoft.com/office/drawing/2014/main" id="{9937325B-656F-0636-967E-56C8C9B484A2}"/>
              </a:ext>
            </a:extLst>
          </p:cNvPr>
          <p:cNvSpPr txBox="1"/>
          <p:nvPr/>
        </p:nvSpPr>
        <p:spPr>
          <a:xfrm>
            <a:off x="10344150" y="6076801"/>
            <a:ext cx="1188720" cy="161583"/>
          </a:xfrm>
          <a:prstGeom prst="rect">
            <a:avLst/>
          </a:prstGeom>
          <a:noFill/>
        </p:spPr>
        <p:txBody>
          <a:bodyPr wrap="none" lIns="0" tIns="0" rIns="0" bIns="0" anchor="t">
            <a:spAutoFit/>
          </a:bodyPr>
          <a:lstStyle/>
          <a:p>
            <a:pPr algn="l"/>
            <a:r>
              <a:rPr sz="1050" b="0" i="0" u="none" dirty="0">
                <a:solidFill>
                  <a:schemeClr val="bg1"/>
                </a:solidFill>
                <a:latin typeface="Aptos Narrow" panose="020B0004020202020204" pitchFamily="34" charset="0"/>
              </a:rPr>
              <a:t>October 2026</a:t>
            </a:r>
          </a:p>
        </p:txBody>
      </p:sp>
      <p:sp>
        <p:nvSpPr>
          <p:cNvPr id="28" name="TextBox 27">
            <a:extLst>
              <a:ext uri="{FF2B5EF4-FFF2-40B4-BE49-F238E27FC236}">
                <a16:creationId xmlns:a16="http://schemas.microsoft.com/office/drawing/2014/main" id="{A8896847-4E4C-4A27-B8C6-03E8F0E00B56}"/>
              </a:ext>
            </a:extLst>
          </p:cNvPr>
          <p:cNvSpPr txBox="1"/>
          <p:nvPr/>
        </p:nvSpPr>
        <p:spPr>
          <a:xfrm>
            <a:off x="990600" y="609600"/>
            <a:ext cx="3657600" cy="161583"/>
          </a:xfrm>
          <a:prstGeom prst="rect">
            <a:avLst/>
          </a:prstGeom>
          <a:noFill/>
        </p:spPr>
        <p:txBody>
          <a:bodyPr wrap="square" lIns="0" tIns="0" rIns="0" bIns="0" anchor="t">
            <a:noAutofit/>
          </a:bodyPr>
          <a:lstStyle/>
          <a:p>
            <a:pPr algn="l"/>
            <a:r>
              <a:rPr sz="1050" b="1" i="0" u="none" dirty="0">
                <a:solidFill>
                  <a:srgbClr val="CBD5E1"/>
                </a:solidFill>
                <a:latin typeface="Aptos Narrow" panose="020B0004020202020204" pitchFamily="34" charset="0"/>
              </a:rPr>
              <a:t>CAPSTONE EXECUTIVE BRIEFING</a:t>
            </a:r>
          </a:p>
        </p:txBody>
      </p:sp>
      <p:sp>
        <p:nvSpPr>
          <p:cNvPr id="30" name="TextBox 29">
            <a:extLst>
              <a:ext uri="{FF2B5EF4-FFF2-40B4-BE49-F238E27FC236}">
                <a16:creationId xmlns:a16="http://schemas.microsoft.com/office/drawing/2014/main" id="{7318EB88-22A3-CAC0-F068-B6C674C1277F}"/>
              </a:ext>
            </a:extLst>
          </p:cNvPr>
          <p:cNvSpPr txBox="1"/>
          <p:nvPr/>
        </p:nvSpPr>
        <p:spPr>
          <a:xfrm>
            <a:off x="1133475" y="2358330"/>
            <a:ext cx="2926080" cy="161583"/>
          </a:xfrm>
          <a:prstGeom prst="rect">
            <a:avLst/>
          </a:prstGeom>
          <a:noFill/>
        </p:spPr>
        <p:txBody>
          <a:bodyPr wrap="square" lIns="0" tIns="0" rIns="0" bIns="0" anchor="t">
            <a:noAutofit/>
          </a:bodyPr>
          <a:lstStyle/>
          <a:p>
            <a:pPr algn="l"/>
            <a:r>
              <a:rPr sz="1050" b="1" i="0" u="none" dirty="0">
                <a:solidFill>
                  <a:srgbClr val="F59E0B"/>
                </a:solidFill>
                <a:latin typeface="Aptos Narrow" panose="020B0004020202020204" pitchFamily="34" charset="0"/>
              </a:rPr>
              <a:t>End-of-Semester-2 XGBoost Pipeline</a:t>
            </a:r>
          </a:p>
        </p:txBody>
      </p:sp>
      <p:sp>
        <p:nvSpPr>
          <p:cNvPr id="32" name="TextBox 31">
            <a:extLst>
              <a:ext uri="{FF2B5EF4-FFF2-40B4-BE49-F238E27FC236}">
                <a16:creationId xmlns:a16="http://schemas.microsoft.com/office/drawing/2014/main" id="{368659D8-31C9-00FE-29A2-C7AD60D9209C}"/>
              </a:ext>
            </a:extLst>
          </p:cNvPr>
          <p:cNvSpPr txBox="1"/>
          <p:nvPr/>
        </p:nvSpPr>
        <p:spPr>
          <a:xfrm>
            <a:off x="762000" y="5867251"/>
            <a:ext cx="914400" cy="138499"/>
          </a:xfrm>
          <a:prstGeom prst="rect">
            <a:avLst/>
          </a:prstGeom>
          <a:noFill/>
        </p:spPr>
        <p:txBody>
          <a:bodyPr wrap="square" lIns="0" tIns="0" rIns="0" bIns="0" anchor="t">
            <a:noAutofit/>
          </a:bodyPr>
          <a:lstStyle/>
          <a:p>
            <a:pPr algn="l"/>
            <a:r>
              <a:rPr sz="900" b="1" i="0" u="none" dirty="0">
                <a:solidFill>
                  <a:schemeClr val="bg1">
                    <a:lumMod val="75000"/>
                  </a:schemeClr>
                </a:solidFill>
                <a:latin typeface="Aptos Narrow" panose="020B0004020202020204" pitchFamily="34" charset="0"/>
              </a:rPr>
              <a:t>AUTHOR</a:t>
            </a:r>
            <a:endParaRPr sz="900" b="1" i="0" u="none" dirty="0">
              <a:solidFill>
                <a:schemeClr val="bg1">
                  <a:lumMod val="85000"/>
                </a:schemeClr>
              </a:solidFill>
              <a:latin typeface="Aptos Narrow" panose="020B0004020202020204" pitchFamily="34" charset="0"/>
            </a:endParaRPr>
          </a:p>
        </p:txBody>
      </p:sp>
      <p:sp>
        <p:nvSpPr>
          <p:cNvPr id="34" name="TextBox 33">
            <a:extLst>
              <a:ext uri="{FF2B5EF4-FFF2-40B4-BE49-F238E27FC236}">
                <a16:creationId xmlns:a16="http://schemas.microsoft.com/office/drawing/2014/main" id="{14D7F3A8-FD1D-0069-59DF-EF283AF490A4}"/>
              </a:ext>
            </a:extLst>
          </p:cNvPr>
          <p:cNvSpPr txBox="1"/>
          <p:nvPr/>
        </p:nvSpPr>
        <p:spPr>
          <a:xfrm>
            <a:off x="762000" y="6048226"/>
            <a:ext cx="1463040" cy="184666"/>
          </a:xfrm>
          <a:prstGeom prst="rect">
            <a:avLst/>
          </a:prstGeom>
          <a:noFill/>
        </p:spPr>
        <p:txBody>
          <a:bodyPr wrap="square" lIns="0" tIns="0" rIns="0" bIns="0" anchor="t">
            <a:noAutofit/>
          </a:bodyPr>
          <a:lstStyle/>
          <a:p>
            <a:pPr algn="l"/>
            <a:r>
              <a:rPr sz="1200" b="1" i="0" u="none" dirty="0">
                <a:solidFill>
                  <a:srgbClr val="F8FAFC"/>
                </a:solidFill>
                <a:latin typeface="Aptos Narrow" panose="020B0004020202020204" pitchFamily="34" charset="0"/>
              </a:rPr>
              <a:t>Rex Villamar</a:t>
            </a:r>
          </a:p>
        </p:txBody>
      </p:sp>
      <p:sp>
        <p:nvSpPr>
          <p:cNvPr id="36" name="TextBox 35">
            <a:extLst>
              <a:ext uri="{FF2B5EF4-FFF2-40B4-BE49-F238E27FC236}">
                <a16:creationId xmlns:a16="http://schemas.microsoft.com/office/drawing/2014/main" id="{ED32CCA0-C7A4-2A9A-DCD0-4BA0D79FC084}"/>
              </a:ext>
            </a:extLst>
          </p:cNvPr>
          <p:cNvSpPr txBox="1"/>
          <p:nvPr/>
        </p:nvSpPr>
        <p:spPr>
          <a:xfrm>
            <a:off x="2238375" y="5867251"/>
            <a:ext cx="1645920" cy="138499"/>
          </a:xfrm>
          <a:prstGeom prst="rect">
            <a:avLst/>
          </a:prstGeom>
          <a:noFill/>
        </p:spPr>
        <p:txBody>
          <a:bodyPr wrap="square" lIns="0" tIns="0" rIns="0" bIns="0" anchor="t">
            <a:noAutofit/>
          </a:bodyPr>
          <a:lstStyle/>
          <a:p>
            <a:pPr algn="l"/>
            <a:r>
              <a:rPr sz="900" b="1" dirty="0">
                <a:solidFill>
                  <a:schemeClr val="bg1">
                    <a:lumMod val="75000"/>
                  </a:schemeClr>
                </a:solidFill>
                <a:latin typeface="Aptos Narrow" panose="020B0004020202020204" pitchFamily="34" charset="0"/>
              </a:rPr>
              <a:t>COHORT</a:t>
            </a:r>
            <a:r>
              <a:rPr sz="900" b="1" i="0" u="none" dirty="0">
                <a:solidFill>
                  <a:srgbClr val="64748B"/>
                </a:solidFill>
                <a:latin typeface="Aptos Narrow" panose="020B0004020202020204" pitchFamily="34" charset="0"/>
              </a:rPr>
              <a:t> </a:t>
            </a:r>
            <a:r>
              <a:rPr sz="900" b="1" dirty="0">
                <a:solidFill>
                  <a:schemeClr val="bg1">
                    <a:lumMod val="75000"/>
                  </a:schemeClr>
                </a:solidFill>
                <a:latin typeface="Aptos Narrow" panose="020B0004020202020204" pitchFamily="34" charset="0"/>
              </a:rPr>
              <a:t>DATASET</a:t>
            </a:r>
          </a:p>
        </p:txBody>
      </p:sp>
      <p:sp>
        <p:nvSpPr>
          <p:cNvPr id="38" name="TextBox 37">
            <a:extLst>
              <a:ext uri="{FF2B5EF4-FFF2-40B4-BE49-F238E27FC236}">
                <a16:creationId xmlns:a16="http://schemas.microsoft.com/office/drawing/2014/main" id="{3C5E7FF4-B147-4B28-5340-5D08D05879F3}"/>
              </a:ext>
            </a:extLst>
          </p:cNvPr>
          <p:cNvSpPr txBox="1"/>
          <p:nvPr/>
        </p:nvSpPr>
        <p:spPr>
          <a:xfrm>
            <a:off x="2238375" y="6048226"/>
            <a:ext cx="1645920" cy="184666"/>
          </a:xfrm>
          <a:prstGeom prst="rect">
            <a:avLst/>
          </a:prstGeom>
          <a:noFill/>
        </p:spPr>
        <p:txBody>
          <a:bodyPr wrap="square" lIns="0" tIns="0" rIns="0" bIns="0" anchor="t">
            <a:noAutofit/>
          </a:bodyPr>
          <a:lstStyle/>
          <a:p>
            <a:pPr algn="l"/>
            <a:r>
              <a:rPr sz="1200" b="1" i="0" u="none" dirty="0">
                <a:solidFill>
                  <a:srgbClr val="F8FAFC"/>
                </a:solidFill>
                <a:latin typeface="Aptos Narrow" panose="020B0004020202020204" pitchFamily="34" charset="0"/>
              </a:rPr>
              <a:t>N = 4,424 Records</a:t>
            </a:r>
          </a:p>
        </p:txBody>
      </p:sp>
      <p:sp>
        <p:nvSpPr>
          <p:cNvPr id="40" name="TextBox 39">
            <a:extLst>
              <a:ext uri="{FF2B5EF4-FFF2-40B4-BE49-F238E27FC236}">
                <a16:creationId xmlns:a16="http://schemas.microsoft.com/office/drawing/2014/main" id="{945F6CB8-9468-21C5-5DAB-B960FEEA40CF}"/>
              </a:ext>
            </a:extLst>
          </p:cNvPr>
          <p:cNvSpPr txBox="1"/>
          <p:nvPr/>
        </p:nvSpPr>
        <p:spPr>
          <a:xfrm>
            <a:off x="4038600" y="5867251"/>
            <a:ext cx="2194560" cy="138499"/>
          </a:xfrm>
          <a:prstGeom prst="rect">
            <a:avLst/>
          </a:prstGeom>
          <a:noFill/>
        </p:spPr>
        <p:txBody>
          <a:bodyPr wrap="none" lIns="0" tIns="0" rIns="0" bIns="0" anchor="t">
            <a:spAutoFit/>
          </a:bodyPr>
          <a:lstStyle/>
          <a:p>
            <a:pPr algn="l"/>
            <a:r>
              <a:rPr sz="900" b="1" dirty="0">
                <a:solidFill>
                  <a:schemeClr val="bg1">
                    <a:lumMod val="75000"/>
                  </a:schemeClr>
                </a:solidFill>
                <a:latin typeface="Aptos Narrow" panose="020B0004020202020204" pitchFamily="34" charset="0"/>
              </a:rPr>
              <a:t>HOLD-OUT</a:t>
            </a:r>
            <a:r>
              <a:rPr sz="900" b="1" i="0" u="none" dirty="0">
                <a:solidFill>
                  <a:srgbClr val="64748B"/>
                </a:solidFill>
                <a:latin typeface="Aptos Narrow" panose="020B0004020202020204" pitchFamily="34" charset="0"/>
              </a:rPr>
              <a:t> </a:t>
            </a:r>
            <a:r>
              <a:rPr sz="900" b="1" dirty="0">
                <a:solidFill>
                  <a:schemeClr val="bg1">
                    <a:lumMod val="75000"/>
                  </a:schemeClr>
                </a:solidFill>
                <a:latin typeface="Aptos Narrow" panose="020B0004020202020204" pitchFamily="34" charset="0"/>
              </a:rPr>
              <a:t>ATTRITION</a:t>
            </a:r>
            <a:r>
              <a:rPr sz="900" b="1" i="0" u="none" dirty="0">
                <a:solidFill>
                  <a:srgbClr val="64748B"/>
                </a:solidFill>
                <a:latin typeface="Aptos Narrow" panose="020B0004020202020204" pitchFamily="34" charset="0"/>
              </a:rPr>
              <a:t> </a:t>
            </a:r>
            <a:r>
              <a:rPr sz="900" b="1" dirty="0">
                <a:solidFill>
                  <a:schemeClr val="bg1">
                    <a:lumMod val="75000"/>
                  </a:schemeClr>
                </a:solidFill>
                <a:latin typeface="Aptos Narrow" panose="020B0004020202020204" pitchFamily="34" charset="0"/>
              </a:rPr>
              <a:t>RECALL</a:t>
            </a:r>
          </a:p>
        </p:txBody>
      </p:sp>
      <p:sp>
        <p:nvSpPr>
          <p:cNvPr id="42" name="TextBox 41">
            <a:extLst>
              <a:ext uri="{FF2B5EF4-FFF2-40B4-BE49-F238E27FC236}">
                <a16:creationId xmlns:a16="http://schemas.microsoft.com/office/drawing/2014/main" id="{BD0357AF-21BC-DBAD-3037-58DEC90EB568}"/>
              </a:ext>
            </a:extLst>
          </p:cNvPr>
          <p:cNvSpPr txBox="1"/>
          <p:nvPr/>
        </p:nvSpPr>
        <p:spPr>
          <a:xfrm>
            <a:off x="4038600" y="6048226"/>
            <a:ext cx="1645920" cy="184666"/>
          </a:xfrm>
          <a:prstGeom prst="rect">
            <a:avLst/>
          </a:prstGeom>
          <a:noFill/>
        </p:spPr>
        <p:txBody>
          <a:bodyPr wrap="none" lIns="0" tIns="0" rIns="0" bIns="0" anchor="t">
            <a:spAutoFit/>
          </a:bodyPr>
          <a:lstStyle/>
          <a:p>
            <a:pPr algn="l"/>
            <a:r>
              <a:rPr sz="1200" b="1" i="0" u="none" dirty="0">
                <a:solidFill>
                  <a:srgbClr val="00FF00"/>
                </a:solidFill>
                <a:latin typeface="Aptos Narrow" panose="020B0004020202020204" pitchFamily="34" charset="0"/>
              </a:rPr>
              <a:t>89.8% Detection</a:t>
            </a:r>
          </a:p>
        </p:txBody>
      </p:sp>
    </p:spTree>
    <p:extLst>
      <p:ext uri="{BB962C8B-B14F-4D97-AF65-F5344CB8AC3E}">
        <p14:creationId xmlns:p14="http://schemas.microsoft.com/office/powerpoint/2010/main" val="52566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1">
            <a:extLst>
              <a:ext uri="{FF2B5EF4-FFF2-40B4-BE49-F238E27FC236}">
                <a16:creationId xmlns:a16="http://schemas.microsoft.com/office/drawing/2014/main" id="{71674D04-F36A-CA01-6B06-7F8B65B2E2B4}"/>
              </a:ext>
            </a:extLst>
          </p:cNvPr>
          <p:cNvSpPr/>
          <p:nvPr/>
        </p:nvSpPr>
        <p:spPr>
          <a:xfrm>
            <a:off x="609600" y="4257675"/>
            <a:ext cx="10972800" cy="1133475"/>
          </a:xfrm>
          <a:prstGeom prst="roundRect">
            <a:avLst>
              <a:gd name="adj" fmla="val 10084"/>
            </a:avLst>
          </a:prstGeom>
          <a:solidFill>
            <a:srgbClr val="0F172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2">
            <a:extLst>
              <a:ext uri="{FF2B5EF4-FFF2-40B4-BE49-F238E27FC236}">
                <a16:creationId xmlns:a16="http://schemas.microsoft.com/office/drawing/2014/main" id="{CF34C09B-AB59-B0A1-B0A2-3ACDD6677183}"/>
              </a:ext>
            </a:extLst>
          </p:cNvPr>
          <p:cNvSpPr/>
          <p:nvPr/>
        </p:nvSpPr>
        <p:spPr>
          <a:xfrm>
            <a:off x="652463" y="2314575"/>
            <a:ext cx="3505200" cy="1704975"/>
          </a:xfrm>
          <a:prstGeom prst="roundRect">
            <a:avLst>
              <a:gd name="adj" fmla="val 6703"/>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p>
        </p:txBody>
      </p:sp>
      <p:sp>
        <p:nvSpPr>
          <p:cNvPr id="14" name="Rounded Rectangle 3">
            <a:extLst>
              <a:ext uri="{FF2B5EF4-FFF2-40B4-BE49-F238E27FC236}">
                <a16:creationId xmlns:a16="http://schemas.microsoft.com/office/drawing/2014/main" id="{5F44AA6A-8307-0134-0734-863A7432AD0B}"/>
              </a:ext>
            </a:extLst>
          </p:cNvPr>
          <p:cNvSpPr/>
          <p:nvPr/>
        </p:nvSpPr>
        <p:spPr>
          <a:xfrm>
            <a:off x="4343400" y="2324100"/>
            <a:ext cx="3505200" cy="1704975"/>
          </a:xfrm>
          <a:prstGeom prst="roundRect">
            <a:avLst>
              <a:gd name="adj" fmla="val 6703"/>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p>
        </p:txBody>
      </p:sp>
      <p:sp>
        <p:nvSpPr>
          <p:cNvPr id="16" name="Rounded Rectangle 4">
            <a:extLst>
              <a:ext uri="{FF2B5EF4-FFF2-40B4-BE49-F238E27FC236}">
                <a16:creationId xmlns:a16="http://schemas.microsoft.com/office/drawing/2014/main" id="{4186D06B-4106-A028-197A-3324DB2008E8}"/>
              </a:ext>
            </a:extLst>
          </p:cNvPr>
          <p:cNvSpPr/>
          <p:nvPr/>
        </p:nvSpPr>
        <p:spPr>
          <a:xfrm>
            <a:off x="8077200" y="2324100"/>
            <a:ext cx="3505200" cy="1704975"/>
          </a:xfrm>
          <a:prstGeom prst="roundRect">
            <a:avLst>
              <a:gd name="adj" fmla="val 6703"/>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p>
        </p:txBody>
      </p:sp>
      <p:sp>
        <p:nvSpPr>
          <p:cNvPr id="18" name="Rounded Rectangle 5">
            <a:extLst>
              <a:ext uri="{FF2B5EF4-FFF2-40B4-BE49-F238E27FC236}">
                <a16:creationId xmlns:a16="http://schemas.microsoft.com/office/drawing/2014/main" id="{BB3AEF81-1EB9-C83F-2E3B-9C4EC4C73AAE}"/>
              </a:ext>
            </a:extLst>
          </p:cNvPr>
          <p:cNvSpPr/>
          <p:nvPr/>
        </p:nvSpPr>
        <p:spPr>
          <a:xfrm>
            <a:off x="9886950" y="4486275"/>
            <a:ext cx="1390650" cy="676275"/>
          </a:xfrm>
          <a:prstGeom prst="roundRect">
            <a:avLst>
              <a:gd name="adj" fmla="val 11267"/>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mage.png">
            <a:extLst>
              <a:ext uri="{FF2B5EF4-FFF2-40B4-BE49-F238E27FC236}">
                <a16:creationId xmlns:a16="http://schemas.microsoft.com/office/drawing/2014/main" id="{39FC5292-C7C8-286A-3A06-3E6863EA6955}"/>
              </a:ext>
            </a:extLst>
          </p:cNvPr>
          <p:cNvPicPr>
            <a:picLocks noChangeAspect="1"/>
          </p:cNvPicPr>
          <p:nvPr/>
        </p:nvPicPr>
        <p:blipFill>
          <a:blip r:embed="rId3"/>
          <a:stretch>
            <a:fillRect/>
          </a:stretch>
        </p:blipFill>
        <p:spPr>
          <a:xfrm>
            <a:off x="847725" y="2562225"/>
            <a:ext cx="381000" cy="381000"/>
          </a:xfrm>
          <a:prstGeom prst="rect">
            <a:avLst/>
          </a:prstGeom>
        </p:spPr>
      </p:pic>
      <p:pic>
        <p:nvPicPr>
          <p:cNvPr id="22" name="Picture 21" descr="image.png">
            <a:extLst>
              <a:ext uri="{FF2B5EF4-FFF2-40B4-BE49-F238E27FC236}">
                <a16:creationId xmlns:a16="http://schemas.microsoft.com/office/drawing/2014/main" id="{B78F9F33-C1E1-EE12-61C2-67793FBD99A9}"/>
              </a:ext>
            </a:extLst>
          </p:cNvPr>
          <p:cNvPicPr>
            <a:picLocks noChangeAspect="1"/>
          </p:cNvPicPr>
          <p:nvPr/>
        </p:nvPicPr>
        <p:blipFill>
          <a:blip r:embed="rId4"/>
          <a:stretch>
            <a:fillRect/>
          </a:stretch>
        </p:blipFill>
        <p:spPr>
          <a:xfrm>
            <a:off x="4581525" y="2562225"/>
            <a:ext cx="381000" cy="381000"/>
          </a:xfrm>
          <a:prstGeom prst="rect">
            <a:avLst/>
          </a:prstGeom>
        </p:spPr>
      </p:pic>
      <p:pic>
        <p:nvPicPr>
          <p:cNvPr id="24" name="Picture 23" descr="image.png">
            <a:extLst>
              <a:ext uri="{FF2B5EF4-FFF2-40B4-BE49-F238E27FC236}">
                <a16:creationId xmlns:a16="http://schemas.microsoft.com/office/drawing/2014/main" id="{BC959F53-F3E0-D91A-A09F-5D074860241E}"/>
              </a:ext>
            </a:extLst>
          </p:cNvPr>
          <p:cNvPicPr>
            <a:picLocks noChangeAspect="1"/>
          </p:cNvPicPr>
          <p:nvPr/>
        </p:nvPicPr>
        <p:blipFill>
          <a:blip r:embed="rId5"/>
          <a:stretch>
            <a:fillRect/>
          </a:stretch>
        </p:blipFill>
        <p:spPr>
          <a:xfrm>
            <a:off x="8315325" y="2562225"/>
            <a:ext cx="381000" cy="381000"/>
          </a:xfrm>
          <a:prstGeom prst="rect">
            <a:avLst/>
          </a:prstGeom>
        </p:spPr>
      </p:pic>
      <p:pic>
        <p:nvPicPr>
          <p:cNvPr id="26" name="Picture 25" descr="image.png">
            <a:extLst>
              <a:ext uri="{FF2B5EF4-FFF2-40B4-BE49-F238E27FC236}">
                <a16:creationId xmlns:a16="http://schemas.microsoft.com/office/drawing/2014/main" id="{4F9F4F6D-8178-04C6-0616-B5249FD262B0}"/>
              </a:ext>
            </a:extLst>
          </p:cNvPr>
          <p:cNvPicPr>
            <a:picLocks noChangeAspect="1"/>
          </p:cNvPicPr>
          <p:nvPr/>
        </p:nvPicPr>
        <p:blipFill>
          <a:blip r:embed="rId6"/>
          <a:stretch>
            <a:fillRect/>
          </a:stretch>
        </p:blipFill>
        <p:spPr>
          <a:xfrm>
            <a:off x="981075" y="2657475"/>
            <a:ext cx="114300" cy="190500"/>
          </a:xfrm>
          <a:prstGeom prst="rect">
            <a:avLst/>
          </a:prstGeom>
        </p:spPr>
      </p:pic>
      <p:pic>
        <p:nvPicPr>
          <p:cNvPr id="28" name="Picture 27" descr="image.png">
            <a:extLst>
              <a:ext uri="{FF2B5EF4-FFF2-40B4-BE49-F238E27FC236}">
                <a16:creationId xmlns:a16="http://schemas.microsoft.com/office/drawing/2014/main" id="{A1427559-3871-6E22-947B-AA8406BD4DD5}"/>
              </a:ext>
            </a:extLst>
          </p:cNvPr>
          <p:cNvPicPr>
            <a:picLocks noChangeAspect="1"/>
          </p:cNvPicPr>
          <p:nvPr/>
        </p:nvPicPr>
        <p:blipFill>
          <a:blip r:embed="rId7"/>
          <a:stretch>
            <a:fillRect/>
          </a:stretch>
        </p:blipFill>
        <p:spPr>
          <a:xfrm>
            <a:off x="4676775" y="2657475"/>
            <a:ext cx="190500" cy="190500"/>
          </a:xfrm>
          <a:prstGeom prst="rect">
            <a:avLst/>
          </a:prstGeom>
        </p:spPr>
      </p:pic>
      <p:pic>
        <p:nvPicPr>
          <p:cNvPr id="30" name="Picture 29" descr="image.png">
            <a:extLst>
              <a:ext uri="{FF2B5EF4-FFF2-40B4-BE49-F238E27FC236}">
                <a16:creationId xmlns:a16="http://schemas.microsoft.com/office/drawing/2014/main" id="{203912F8-BFDF-E3FE-AD8F-3DE4B8364733}"/>
              </a:ext>
            </a:extLst>
          </p:cNvPr>
          <p:cNvPicPr>
            <a:picLocks noChangeAspect="1"/>
          </p:cNvPicPr>
          <p:nvPr/>
        </p:nvPicPr>
        <p:blipFill>
          <a:blip r:embed="rId8"/>
          <a:stretch>
            <a:fillRect/>
          </a:stretch>
        </p:blipFill>
        <p:spPr>
          <a:xfrm>
            <a:off x="8386762" y="2657475"/>
            <a:ext cx="238125" cy="190500"/>
          </a:xfrm>
          <a:prstGeom prst="rect">
            <a:avLst/>
          </a:prstGeom>
        </p:spPr>
      </p:pic>
      <p:sp>
        <p:nvSpPr>
          <p:cNvPr id="32" name="TextBox 31">
            <a:extLst>
              <a:ext uri="{FF2B5EF4-FFF2-40B4-BE49-F238E27FC236}">
                <a16:creationId xmlns:a16="http://schemas.microsoft.com/office/drawing/2014/main" id="{4B5E92CA-4E76-B1BF-F999-004AC5A5233A}"/>
              </a:ext>
            </a:extLst>
          </p:cNvPr>
          <p:cNvSpPr txBox="1"/>
          <p:nvPr/>
        </p:nvSpPr>
        <p:spPr>
          <a:xfrm>
            <a:off x="609600" y="457200"/>
            <a:ext cx="5486400" cy="182880"/>
          </a:xfrm>
          <a:prstGeom prst="rect">
            <a:avLst/>
          </a:prstGeom>
          <a:noFill/>
        </p:spPr>
        <p:txBody>
          <a:bodyPr wrap="square" lIns="0" tIns="0" rIns="0" bIns="0" anchor="t">
            <a:noAutofit/>
          </a:bodyPr>
          <a:lstStyle/>
          <a:p>
            <a:pPr algn="l"/>
            <a:r>
              <a:rPr sz="1000" b="1" i="0" u="none" dirty="0">
                <a:solidFill>
                  <a:srgbClr val="0284C7"/>
                </a:solidFill>
                <a:latin typeface="+mj-lt"/>
              </a:rPr>
              <a:t>STRATEGIC SUMMARY</a:t>
            </a:r>
            <a:endParaRPr sz="1000" b="1" i="0" u="none" dirty="0">
              <a:solidFill>
                <a:srgbClr val="0284C7"/>
              </a:solidFill>
              <a:latin typeface="+mj-lt"/>
            </a:endParaRPr>
          </a:p>
        </p:txBody>
      </p:sp>
      <p:sp>
        <p:nvSpPr>
          <p:cNvPr id="34" name="TextBox 33">
            <a:extLst>
              <a:ext uri="{FF2B5EF4-FFF2-40B4-BE49-F238E27FC236}">
                <a16:creationId xmlns:a16="http://schemas.microsoft.com/office/drawing/2014/main" id="{E037E999-61E7-4B75-4841-E9BB530B2442}"/>
              </a:ext>
            </a:extLst>
          </p:cNvPr>
          <p:cNvSpPr txBox="1"/>
          <p:nvPr/>
        </p:nvSpPr>
        <p:spPr>
          <a:xfrm>
            <a:off x="609600" y="666750"/>
            <a:ext cx="10972800" cy="457200"/>
          </a:xfrm>
          <a:prstGeom prst="rect">
            <a:avLst/>
          </a:prstGeom>
          <a:noFill/>
        </p:spPr>
        <p:txBody>
          <a:bodyPr wrap="square" lIns="0" tIns="0" rIns="0" bIns="0" anchor="t">
            <a:noAutofit/>
          </a:bodyPr>
          <a:lstStyle/>
          <a:p>
            <a:pPr algn="l"/>
            <a:r>
              <a:rPr sz="2400" b="1" i="0" u="none" dirty="0">
                <a:solidFill>
                  <a:srgbClr val="0F172A"/>
                </a:solidFill>
                <a:latin typeface="Aptos Narrow" panose="020B0004020202020204" pitchFamily="34" charset="0"/>
              </a:rPr>
              <a:t>Executive Snapshot: From Reactive to Proactive</a:t>
            </a:r>
          </a:p>
        </p:txBody>
      </p:sp>
      <p:sp>
        <p:nvSpPr>
          <p:cNvPr id="36" name="TextBox 35">
            <a:extLst>
              <a:ext uri="{FF2B5EF4-FFF2-40B4-BE49-F238E27FC236}">
                <a16:creationId xmlns:a16="http://schemas.microsoft.com/office/drawing/2014/main" id="{F84A57E1-722F-50FE-9E50-67018EECE1BF}"/>
              </a:ext>
            </a:extLst>
          </p:cNvPr>
          <p:cNvSpPr txBox="1"/>
          <p:nvPr/>
        </p:nvSpPr>
        <p:spPr>
          <a:xfrm>
            <a:off x="847725" y="3095625"/>
            <a:ext cx="3108960" cy="274320"/>
          </a:xfrm>
          <a:prstGeom prst="rect">
            <a:avLst/>
          </a:prstGeom>
          <a:noFill/>
        </p:spPr>
        <p:txBody>
          <a:bodyPr wrap="square" lIns="0" tIns="0" rIns="0" bIns="0" anchor="t">
            <a:noAutofit/>
          </a:bodyPr>
          <a:lstStyle/>
          <a:p>
            <a:pPr algn="l"/>
            <a:r>
              <a:rPr sz="1400" b="1" i="0" u="none" dirty="0">
                <a:solidFill>
                  <a:srgbClr val="0F172A"/>
                </a:solidFill>
                <a:latin typeface="+mj-lt"/>
              </a:rPr>
              <a:t>$7.7M </a:t>
            </a:r>
            <a:r>
              <a:rPr sz="1600" b="1" i="0" u="none" dirty="0">
                <a:solidFill>
                  <a:srgbClr val="0F172A"/>
                </a:solidFill>
                <a:latin typeface="+mj-lt"/>
              </a:rPr>
              <a:t>Tuition</a:t>
            </a:r>
            <a:r>
              <a:rPr sz="1400" b="1" i="0" u="none" dirty="0">
                <a:solidFill>
                  <a:srgbClr val="0F172A"/>
                </a:solidFill>
                <a:latin typeface="+mj-lt"/>
              </a:rPr>
              <a:t> Preserved</a:t>
            </a:r>
          </a:p>
        </p:txBody>
      </p:sp>
      <p:sp>
        <p:nvSpPr>
          <p:cNvPr id="38" name="TextBox 37">
            <a:extLst>
              <a:ext uri="{FF2B5EF4-FFF2-40B4-BE49-F238E27FC236}">
                <a16:creationId xmlns:a16="http://schemas.microsoft.com/office/drawing/2014/main" id="{485AABE6-F849-07D3-72E8-378555CF84B3}"/>
              </a:ext>
            </a:extLst>
          </p:cNvPr>
          <p:cNvSpPr txBox="1"/>
          <p:nvPr/>
        </p:nvSpPr>
        <p:spPr>
          <a:xfrm>
            <a:off x="847725" y="3390900"/>
            <a:ext cx="3063240" cy="548640"/>
          </a:xfrm>
          <a:prstGeom prst="rect">
            <a:avLst/>
          </a:prstGeom>
          <a:noFill/>
        </p:spPr>
        <p:txBody>
          <a:bodyPr wrap="square" lIns="0" tIns="0" rIns="0" bIns="0" anchor="t">
            <a:noAutofit/>
          </a:bodyPr>
          <a:lstStyle/>
          <a:p>
            <a:pPr algn="l">
              <a:lnSpc>
                <a:spcPts val="1575"/>
              </a:lnSpc>
            </a:pPr>
            <a:r>
              <a:rPr sz="1050" b="0" i="0" u="none" dirty="0">
                <a:solidFill>
                  <a:srgbClr val="475569"/>
                </a:solidFill>
                <a:latin typeface="Aptos Narrow" panose="020B0004020202020204" pitchFamily="34" charset="0"/>
              </a:rPr>
              <a:t>Illustrative multi-year tuition preserved per 4,424-student cohort if 25% of caught dropouts are retained at $24,000 each.</a:t>
            </a:r>
          </a:p>
        </p:txBody>
      </p:sp>
      <p:sp>
        <p:nvSpPr>
          <p:cNvPr id="40" name="TextBox 39">
            <a:extLst>
              <a:ext uri="{FF2B5EF4-FFF2-40B4-BE49-F238E27FC236}">
                <a16:creationId xmlns:a16="http://schemas.microsoft.com/office/drawing/2014/main" id="{0B0C3458-E73E-08E0-6AFA-21D4329748E7}"/>
              </a:ext>
            </a:extLst>
          </p:cNvPr>
          <p:cNvSpPr txBox="1"/>
          <p:nvPr/>
        </p:nvSpPr>
        <p:spPr>
          <a:xfrm>
            <a:off x="4581525" y="3095625"/>
            <a:ext cx="3108960" cy="274320"/>
          </a:xfrm>
          <a:prstGeom prst="rect">
            <a:avLst/>
          </a:prstGeom>
          <a:noFill/>
        </p:spPr>
        <p:txBody>
          <a:bodyPr wrap="square" lIns="0" tIns="0" rIns="0" bIns="0" anchor="t">
            <a:noAutofit/>
          </a:bodyPr>
          <a:lstStyle>
            <a:defPPr>
              <a:defRPr lang="en-US"/>
            </a:defPPr>
            <a:lvl1pPr>
              <a:defRPr sz="1400" b="1" i="0" u="none">
                <a:solidFill>
                  <a:srgbClr val="0F172A"/>
                </a:solidFill>
                <a:latin typeface="+mj-lt"/>
              </a:defRPr>
            </a:lvl1pPr>
          </a:lstStyle>
          <a:p>
            <a:r>
              <a:rPr dirty="0"/>
              <a:t>89.8% </a:t>
            </a:r>
            <a:r>
              <a:rPr sz="1600" dirty="0"/>
              <a:t>Attrition</a:t>
            </a:r>
            <a:r>
              <a:rPr dirty="0"/>
              <a:t> Recall</a:t>
            </a:r>
          </a:p>
        </p:txBody>
      </p:sp>
      <p:sp>
        <p:nvSpPr>
          <p:cNvPr id="42" name="TextBox 41">
            <a:extLst>
              <a:ext uri="{FF2B5EF4-FFF2-40B4-BE49-F238E27FC236}">
                <a16:creationId xmlns:a16="http://schemas.microsoft.com/office/drawing/2014/main" id="{48546E8C-EEBF-C32A-1AC5-3CC325910EB7}"/>
              </a:ext>
            </a:extLst>
          </p:cNvPr>
          <p:cNvSpPr txBox="1"/>
          <p:nvPr/>
        </p:nvSpPr>
        <p:spPr>
          <a:xfrm>
            <a:off x="4581525" y="3390900"/>
            <a:ext cx="3063240" cy="548640"/>
          </a:xfrm>
          <a:prstGeom prst="rect">
            <a:avLst/>
          </a:prstGeom>
          <a:noFill/>
        </p:spPr>
        <p:txBody>
          <a:bodyPr wrap="square" lIns="0" tIns="0" rIns="0" bIns="0" anchor="t">
            <a:noAutofit/>
          </a:bodyPr>
          <a:lstStyle>
            <a:defPPr>
              <a:defRPr lang="en-US"/>
            </a:defPPr>
            <a:lvl1pPr>
              <a:lnSpc>
                <a:spcPts val="1575"/>
              </a:lnSpc>
              <a:defRPr sz="1050" b="0" i="0" u="none">
                <a:solidFill>
                  <a:srgbClr val="475569"/>
                </a:solidFill>
                <a:latin typeface="Aptos Narrow" panose="020B0004020202020204" pitchFamily="34" charset="0"/>
              </a:defRPr>
            </a:lvl1pPr>
          </a:lstStyle>
          <a:p>
            <a:r>
              <a:rPr dirty="0" err="1"/>
              <a:t>Catches about 9 in 10 dropouts at the end of Semester 2 on the hold-out set; roughly 61% of flagged students are truly at risk.</a:t>
            </a:r>
          </a:p>
        </p:txBody>
      </p:sp>
      <p:sp>
        <p:nvSpPr>
          <p:cNvPr id="44" name="TextBox 43">
            <a:extLst>
              <a:ext uri="{FF2B5EF4-FFF2-40B4-BE49-F238E27FC236}">
                <a16:creationId xmlns:a16="http://schemas.microsoft.com/office/drawing/2014/main" id="{AAEE199E-BC0F-B111-6B7A-6435E8E8E250}"/>
              </a:ext>
            </a:extLst>
          </p:cNvPr>
          <p:cNvSpPr txBox="1"/>
          <p:nvPr/>
        </p:nvSpPr>
        <p:spPr>
          <a:xfrm>
            <a:off x="8315325" y="3095625"/>
            <a:ext cx="3108960" cy="274320"/>
          </a:xfrm>
          <a:prstGeom prst="rect">
            <a:avLst/>
          </a:prstGeom>
          <a:noFill/>
        </p:spPr>
        <p:txBody>
          <a:bodyPr wrap="square" lIns="0" tIns="0" rIns="0" bIns="0" anchor="t">
            <a:noAutofit/>
          </a:bodyPr>
          <a:lstStyle>
            <a:defPPr>
              <a:defRPr lang="en-US"/>
            </a:defPPr>
            <a:lvl1pPr>
              <a:defRPr sz="1400" b="1" i="0" u="none">
                <a:solidFill>
                  <a:srgbClr val="0F172A"/>
                </a:solidFill>
                <a:latin typeface="+mj-lt"/>
              </a:defRPr>
            </a:lvl1pPr>
          </a:lstStyle>
          <a:p>
            <a:r>
              <a:rPr dirty="0"/>
              <a:t>0.18 </a:t>
            </a:r>
            <a:r>
              <a:rPr lang="en-US" dirty="0"/>
              <a:t>→ </a:t>
            </a:r>
            <a:r>
              <a:rPr dirty="0"/>
              <a:t>0.07 </a:t>
            </a:r>
            <a:r>
              <a:rPr sz="1600" dirty="0"/>
              <a:t>Recall</a:t>
            </a:r>
            <a:r>
              <a:rPr dirty="0"/>
              <a:t> Gap</a:t>
            </a:r>
          </a:p>
        </p:txBody>
      </p:sp>
      <p:sp>
        <p:nvSpPr>
          <p:cNvPr id="46" name="TextBox 45">
            <a:extLst>
              <a:ext uri="{FF2B5EF4-FFF2-40B4-BE49-F238E27FC236}">
                <a16:creationId xmlns:a16="http://schemas.microsoft.com/office/drawing/2014/main" id="{B306E81D-7827-E0FE-AEBA-7B800BD8E896}"/>
              </a:ext>
            </a:extLst>
          </p:cNvPr>
          <p:cNvSpPr txBox="1"/>
          <p:nvPr/>
        </p:nvSpPr>
        <p:spPr>
          <a:xfrm>
            <a:off x="8315325" y="3390900"/>
            <a:ext cx="3063240" cy="548640"/>
          </a:xfrm>
          <a:prstGeom prst="rect">
            <a:avLst/>
          </a:prstGeom>
          <a:noFill/>
        </p:spPr>
        <p:txBody>
          <a:bodyPr wrap="square" lIns="0" tIns="0" rIns="0" bIns="0" anchor="t">
            <a:noAutofit/>
          </a:bodyPr>
          <a:lstStyle>
            <a:defPPr>
              <a:defRPr lang="en-US"/>
            </a:defPPr>
            <a:lvl1pPr>
              <a:lnSpc>
                <a:spcPts val="1575"/>
              </a:lnSpc>
              <a:defRPr sz="1050" b="0" i="0" u="none">
                <a:solidFill>
                  <a:srgbClr val="475569"/>
                </a:solidFill>
                <a:latin typeface="Aptos Narrow" panose="020B0004020202020204" pitchFamily="34" charset="0"/>
              </a:defRPr>
            </a:lvl1pPr>
          </a:lstStyle>
          <a:p>
            <a:r>
              <a:rPr dirty="0"/>
              <a:t>Age-group recall gap after mitigation. A 0.13 scholarship gap remains open and will be tracked in the pilot.</a:t>
            </a:r>
          </a:p>
        </p:txBody>
      </p:sp>
      <p:sp>
        <p:nvSpPr>
          <p:cNvPr id="48" name="TextBox 47">
            <a:extLst>
              <a:ext uri="{FF2B5EF4-FFF2-40B4-BE49-F238E27FC236}">
                <a16:creationId xmlns:a16="http://schemas.microsoft.com/office/drawing/2014/main" id="{6FE02CC0-91DE-83D8-3ACB-A837511DBD1E}"/>
              </a:ext>
            </a:extLst>
          </p:cNvPr>
          <p:cNvSpPr txBox="1"/>
          <p:nvPr/>
        </p:nvSpPr>
        <p:spPr>
          <a:xfrm>
            <a:off x="914400" y="4514850"/>
            <a:ext cx="1106072" cy="150041"/>
          </a:xfrm>
          <a:prstGeom prst="rect">
            <a:avLst/>
          </a:prstGeom>
          <a:noFill/>
        </p:spPr>
        <p:txBody>
          <a:bodyPr wrap="none" lIns="0" tIns="0" rIns="0" bIns="0" anchor="t">
            <a:spAutoFit/>
          </a:bodyPr>
          <a:lstStyle/>
          <a:p>
            <a:pPr algn="l"/>
            <a:r>
              <a:rPr sz="975" b="1" i="0" u="none" dirty="0">
                <a:solidFill>
                  <a:srgbClr val="F59E0B"/>
                </a:solidFill>
                <a:latin typeface="Aptos Narrow" panose="020B0004020202020204" pitchFamily="34" charset="0"/>
              </a:rPr>
              <a:t>STRATEGIC MANDATE</a:t>
            </a:r>
          </a:p>
        </p:txBody>
      </p:sp>
      <p:sp>
        <p:nvSpPr>
          <p:cNvPr id="50" name="TextBox 49">
            <a:extLst>
              <a:ext uri="{FF2B5EF4-FFF2-40B4-BE49-F238E27FC236}">
                <a16:creationId xmlns:a16="http://schemas.microsoft.com/office/drawing/2014/main" id="{C1A11063-B69A-B7FF-2D63-047E0F302604}"/>
              </a:ext>
            </a:extLst>
          </p:cNvPr>
          <p:cNvSpPr txBox="1"/>
          <p:nvPr/>
        </p:nvSpPr>
        <p:spPr>
          <a:xfrm>
            <a:off x="914400" y="4705350"/>
            <a:ext cx="8412480" cy="731520"/>
          </a:xfrm>
          <a:prstGeom prst="rect">
            <a:avLst/>
          </a:prstGeom>
          <a:noFill/>
        </p:spPr>
        <p:txBody>
          <a:bodyPr wrap="square" lIns="0" tIns="0" rIns="0" bIns="0" anchor="t">
            <a:noAutofit/>
          </a:bodyPr>
          <a:lstStyle/>
          <a:p>
            <a:pPr algn="l">
              <a:lnSpc>
                <a:spcPts val="1687"/>
              </a:lnSpc>
            </a:pPr>
            <a:r>
              <a:rPr sz="1300" b="0" i="0" u="none" dirty="0">
                <a:solidFill>
                  <a:srgbClr val="CBD5E1"/>
                </a:solidFill>
                <a:latin typeface="Aptos Narrow" panose="020B0004020202020204" pitchFamily="34" charset="0"/>
              </a:rPr>
              <a:t>Attrition is a revenue problem advisors can act on. The model catches about 9 in 10 dropouts at the end of Semester 2 but flags about 47% of students, so advisory capacity, not model accuracy, is the constraint to plan for.</a:t>
            </a:r>
          </a:p>
        </p:txBody>
      </p:sp>
      <p:sp>
        <p:nvSpPr>
          <p:cNvPr id="52" name="TextBox 51">
            <a:extLst>
              <a:ext uri="{FF2B5EF4-FFF2-40B4-BE49-F238E27FC236}">
                <a16:creationId xmlns:a16="http://schemas.microsoft.com/office/drawing/2014/main" id="{1436C1CD-D5D4-9A16-50C0-EB50EFBA7856}"/>
              </a:ext>
            </a:extLst>
          </p:cNvPr>
          <p:cNvSpPr txBox="1"/>
          <p:nvPr/>
        </p:nvSpPr>
        <p:spPr>
          <a:xfrm>
            <a:off x="9884664" y="4610100"/>
            <a:ext cx="1389888" cy="274320"/>
          </a:xfrm>
          <a:prstGeom prst="rect">
            <a:avLst/>
          </a:prstGeom>
          <a:noFill/>
        </p:spPr>
        <p:txBody>
          <a:bodyPr wrap="square" lIns="0" tIns="0" rIns="0" bIns="0" anchor="t">
            <a:noAutofit/>
          </a:bodyPr>
          <a:lstStyle/>
          <a:p>
            <a:pPr algn="ctr"/>
            <a:r>
              <a:rPr sz="1800" b="1" i="0" u="none" dirty="0">
                <a:solidFill>
                  <a:srgbClr val="38BDF8"/>
                </a:solidFill>
                <a:latin typeface="Aptos Narrow" panose="020B0004020202020204" pitchFamily="34" charset="0"/>
              </a:rPr>
              <a:t>29x</a:t>
            </a:r>
          </a:p>
        </p:txBody>
      </p:sp>
      <p:sp>
        <p:nvSpPr>
          <p:cNvPr id="54" name="TextBox 53">
            <a:extLst>
              <a:ext uri="{FF2B5EF4-FFF2-40B4-BE49-F238E27FC236}">
                <a16:creationId xmlns:a16="http://schemas.microsoft.com/office/drawing/2014/main" id="{25933119-D702-6552-1574-023E14E790F5}"/>
              </a:ext>
            </a:extLst>
          </p:cNvPr>
          <p:cNvSpPr txBox="1"/>
          <p:nvPr/>
        </p:nvSpPr>
        <p:spPr>
          <a:xfrm>
            <a:off x="9884664" y="4895850"/>
            <a:ext cx="1389888" cy="182880"/>
          </a:xfrm>
          <a:prstGeom prst="rect">
            <a:avLst/>
          </a:prstGeom>
          <a:noFill/>
        </p:spPr>
        <p:txBody>
          <a:bodyPr wrap="square" lIns="0" tIns="0" rIns="0" bIns="0" anchor="t">
            <a:noAutofit/>
          </a:bodyPr>
          <a:lstStyle/>
          <a:p>
            <a:pPr algn="ctr"/>
            <a:r>
              <a:rPr sz="900" b="1" i="0" u="none" dirty="0">
                <a:solidFill>
                  <a:srgbClr val="94A3B8"/>
                </a:solidFill>
                <a:latin typeface="Aptos Narrow" panose="020B0004020202020204" pitchFamily="34" charset="0"/>
              </a:rPr>
              <a:t>Illustrative Net ROI</a:t>
            </a:r>
          </a:p>
        </p:txBody>
      </p:sp>
      <p:sp>
        <p:nvSpPr>
          <p:cNvPr id="9" name="Footer Placeholder 8">
            <a:extLst>
              <a:ext uri="{FF2B5EF4-FFF2-40B4-BE49-F238E27FC236}">
                <a16:creationId xmlns:a16="http://schemas.microsoft.com/office/drawing/2014/main" id="{4EFC4883-13A3-34DC-205F-553FDE48C67B}"/>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11" name="Slide Number Placeholder 10">
            <a:extLst>
              <a:ext uri="{FF2B5EF4-FFF2-40B4-BE49-F238E27FC236}">
                <a16:creationId xmlns:a16="http://schemas.microsoft.com/office/drawing/2014/main" id="{8D381FD6-BEC8-20B8-76BC-B5AE8729B099}"/>
              </a:ext>
            </a:extLst>
          </p:cNvPr>
          <p:cNvSpPr>
            <a:spLocks noGrp="1"/>
          </p:cNvSpPr>
          <p:nvPr>
            <p:ph type="sldNum" sz="quarter" idx="11"/>
          </p:nvPr>
        </p:nvSpPr>
        <p:spPr/>
        <p:txBody>
          <a:bodyPr/>
          <a:lstStyle/>
          <a:p>
            <a:fld id="{B67B645E-C5E5-4727-B977-D372A0AA71D9}" type="slidenum">
              <a:rPr lang="en-US" smtClean="0"/>
              <a:pPr/>
              <a:t>2</a:t>
            </a:fld>
            <a:endParaRPr lang="en-US" dirty="0"/>
          </a:p>
        </p:txBody>
      </p:sp>
    </p:spTree>
    <p:extLst>
      <p:ext uri="{BB962C8B-B14F-4D97-AF65-F5344CB8AC3E}">
        <p14:creationId xmlns:p14="http://schemas.microsoft.com/office/powerpoint/2010/main" val="413263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EE610B81-546B-547F-B54A-780C40E53D39}"/>
              </a:ext>
            </a:extLst>
          </p:cNvPr>
          <p:cNvSpPr txBox="1"/>
          <p:nvPr/>
        </p:nvSpPr>
        <p:spPr>
          <a:xfrm>
            <a:off x="609600" y="457200"/>
            <a:ext cx="5486400" cy="182880"/>
          </a:xfrm>
          <a:prstGeom prst="rect">
            <a:avLst/>
          </a:prstGeom>
          <a:noFill/>
        </p:spPr>
        <p:txBody>
          <a:bodyPr wrap="square" lIns="0" tIns="0" rIns="0" bIns="0" anchor="t">
            <a:noAutofit/>
          </a:bodyPr>
          <a:lstStyle>
            <a:defPPr>
              <a:defRPr lang="en-US"/>
            </a:defPPr>
            <a:lvl1pPr>
              <a:defRPr sz="1000" b="1" i="0" u="none">
                <a:solidFill>
                  <a:srgbClr val="0284C7"/>
                </a:solidFill>
                <a:latin typeface="+mj-lt"/>
              </a:defRPr>
            </a:lvl1pPr>
          </a:lstStyle>
          <a:p>
            <a:r>
              <a:rPr dirty="0"/>
              <a:t>PROBLEM FRAMING &amp; DATA</a:t>
            </a:r>
          </a:p>
        </p:txBody>
      </p:sp>
      <p:sp>
        <p:nvSpPr>
          <p:cNvPr id="23" name="TextBox 22">
            <a:extLst>
              <a:ext uri="{FF2B5EF4-FFF2-40B4-BE49-F238E27FC236}">
                <a16:creationId xmlns:a16="http://schemas.microsoft.com/office/drawing/2014/main" id="{3CE89CEE-371C-2D16-FA20-76E70A7F7B38}"/>
              </a:ext>
            </a:extLst>
          </p:cNvPr>
          <p:cNvSpPr txBox="1"/>
          <p:nvPr/>
        </p:nvSpPr>
        <p:spPr>
          <a:xfrm>
            <a:off x="609600" y="666750"/>
            <a:ext cx="10972800" cy="457200"/>
          </a:xfrm>
          <a:prstGeom prst="rect">
            <a:avLst/>
          </a:prstGeom>
          <a:noFill/>
        </p:spPr>
        <p:txBody>
          <a:bodyPr wrap="square" lIns="0" tIns="0" rIns="0" bIns="0" anchor="t">
            <a:noAutofit/>
          </a:bodyPr>
          <a:lstStyle>
            <a:defPPr>
              <a:defRPr lang="en-US"/>
            </a:defPPr>
            <a:lvl1pPr>
              <a:defRPr sz="2400" b="1" i="0" u="none">
                <a:solidFill>
                  <a:srgbClr val="0F172A"/>
                </a:solidFill>
                <a:latin typeface="Aptos Narrow" panose="020B0004020202020204" pitchFamily="34" charset="0"/>
              </a:defRPr>
            </a:lvl1pPr>
          </a:lstStyle>
          <a:p>
            <a:r>
              <a:rPr dirty="0"/>
              <a:t>The Attrition Drain: What 4,424 Student Records Show</a:t>
            </a:r>
          </a:p>
        </p:txBody>
      </p:sp>
      <p:sp>
        <p:nvSpPr>
          <p:cNvPr id="4" name="Footer Placeholder 3">
            <a:extLst>
              <a:ext uri="{FF2B5EF4-FFF2-40B4-BE49-F238E27FC236}">
                <a16:creationId xmlns:a16="http://schemas.microsoft.com/office/drawing/2014/main" id="{D67C5AF7-CDD6-56A5-5EB6-69E6D1E59026}"/>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6" name="Slide Number Placeholder 5">
            <a:extLst>
              <a:ext uri="{FF2B5EF4-FFF2-40B4-BE49-F238E27FC236}">
                <a16:creationId xmlns:a16="http://schemas.microsoft.com/office/drawing/2014/main" id="{C42266E9-E483-4DD9-B83F-8CFAD0932F58}"/>
              </a:ext>
            </a:extLst>
          </p:cNvPr>
          <p:cNvSpPr>
            <a:spLocks noGrp="1"/>
          </p:cNvSpPr>
          <p:nvPr>
            <p:ph type="sldNum" sz="quarter" idx="11"/>
          </p:nvPr>
        </p:nvSpPr>
        <p:spPr/>
        <p:txBody>
          <a:bodyPr/>
          <a:lstStyle/>
          <a:p>
            <a:fld id="{B67B645E-C5E5-4727-B977-D372A0AA71D9}" type="slidenum">
              <a:rPr lang="en-US" smtClean="0"/>
              <a:pPr/>
              <a:t>3</a:t>
            </a:fld>
            <a:endParaRPr lang="en-US" dirty="0"/>
          </a:p>
        </p:txBody>
      </p:sp>
      <p:sp>
        <p:nvSpPr>
          <p:cNvPr id="24" name="Rounded Rectangle 23"/>
          <p:cNvSpPr/>
          <p:nvPr/>
        </p:nvSpPr>
        <p:spPr>
          <a:xfrm>
            <a:off x="612648" y="1554480"/>
            <a:ext cx="5074920" cy="141732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8" y="1691640"/>
            <a:ext cx="4663440" cy="1188720"/>
          </a:xfrm>
          <a:prstGeom prst="rect">
            <a:avLst/>
          </a:prstGeom>
          <a:noFill/>
        </p:spPr>
        <p:txBody>
          <a:bodyPr wrap="square" lIns="0" rIns="0" tIns="0" bIns="0" anchor="t">
            <a:noAutofit/>
          </a:bodyPr>
          <a:lstStyle/>
          <a:p>
            <a:pPr algn="l">
              <a:spcAft>
                <a:spcPts val="200"/>
              </a:spcAft>
            </a:pPr>
            <a:r>
              <a:rPr sz="3000" b="1">
                <a:solidFill>
                  <a:srgbClr val="EF4444"/>
                </a:solidFill>
                <a:latin typeface="Aptos Narrow"/>
              </a:rPr>
              <a:t>32.1%</a:t>
            </a:r>
          </a:p>
          <a:p>
            <a:pPr algn="l">
              <a:spcAft>
                <a:spcPts val="300"/>
              </a:spcAft>
            </a:pPr>
            <a:r>
              <a:rPr sz="1400" b="1">
                <a:solidFill>
                  <a:srgbClr val="0F172A"/>
                </a:solidFill>
                <a:latin typeface="Aptos Narrow"/>
              </a:rPr>
              <a:t>Dropout Share of Students</a:t>
            </a:r>
          </a:p>
          <a:p>
            <a:pPr algn="l"/>
            <a:r>
              <a:rPr sz="1100" b="0">
                <a:solidFill>
                  <a:srgbClr val="475569"/>
                </a:solidFill>
                <a:latin typeface="Aptos Narrow"/>
              </a:rPr>
              <a:t>1,421 of 4,424 students dropped out; 49.9% graduated and 17.9% are still enrolled.</a:t>
            </a:r>
          </a:p>
        </p:txBody>
      </p:sp>
      <p:sp>
        <p:nvSpPr>
          <p:cNvPr id="26" name="Rounded Rectangle 25"/>
          <p:cNvSpPr/>
          <p:nvPr/>
        </p:nvSpPr>
        <p:spPr>
          <a:xfrm>
            <a:off x="612648" y="3127248"/>
            <a:ext cx="5074920" cy="137160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41248" y="3264408"/>
            <a:ext cx="4663440" cy="1143000"/>
          </a:xfrm>
          <a:prstGeom prst="rect">
            <a:avLst/>
          </a:prstGeom>
          <a:noFill/>
        </p:spPr>
        <p:txBody>
          <a:bodyPr wrap="square" lIns="0" rIns="0" tIns="0" bIns="0" anchor="t">
            <a:noAutofit/>
          </a:bodyPr>
          <a:lstStyle/>
          <a:p>
            <a:pPr algn="l">
              <a:spcAft>
                <a:spcPts val="400"/>
              </a:spcAft>
            </a:pPr>
            <a:r>
              <a:rPr sz="1400" b="1">
                <a:solidFill>
                  <a:srgbClr val="0F172A"/>
                </a:solidFill>
                <a:latin typeface="Aptos Narrow"/>
              </a:rPr>
              <a:t>Money Is the Clearest Non-Academic Signal</a:t>
            </a:r>
          </a:p>
          <a:p>
            <a:pPr algn="l"/>
            <a:r>
              <a:rPr sz="1100" b="0">
                <a:solidFill>
                  <a:srgbClr val="475569"/>
                </a:solidFill>
                <a:latin typeface="Aptos Narrow"/>
              </a:rPr>
              <a:t>The dropout rate climbs from 9.3% with no financial-stress flag to 88.8% with all three flags (debtor, unpaid tuition, no scholarship).</a:t>
            </a:r>
          </a:p>
        </p:txBody>
      </p:sp>
      <p:sp>
        <p:nvSpPr>
          <p:cNvPr id="28" name="Rounded Rectangle 27"/>
          <p:cNvSpPr/>
          <p:nvPr/>
        </p:nvSpPr>
        <p:spPr>
          <a:xfrm>
            <a:off x="612648" y="4654296"/>
            <a:ext cx="5074920" cy="132588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1248" y="4773168"/>
            <a:ext cx="4663440" cy="1097280"/>
          </a:xfrm>
          <a:prstGeom prst="rect">
            <a:avLst/>
          </a:prstGeom>
          <a:noFill/>
        </p:spPr>
        <p:txBody>
          <a:bodyPr wrap="square" lIns="0" rIns="0" tIns="0" bIns="0" anchor="t">
            <a:noAutofit/>
          </a:bodyPr>
          <a:lstStyle/>
          <a:p>
            <a:pPr algn="l">
              <a:spcAft>
                <a:spcPts val="300"/>
              </a:spcAft>
            </a:pPr>
            <a:r>
              <a:rPr sz="900" b="1">
                <a:solidFill>
                  <a:srgbClr val="1E40AF"/>
                </a:solidFill>
                <a:latin typeface="Aptos Narrow"/>
              </a:rPr>
              <a:t>DATA SOURCE</a:t>
            </a:r>
          </a:p>
          <a:p>
            <a:pPr algn="l"/>
            <a:r>
              <a:rPr sz="1050" b="0">
                <a:solidFill>
                  <a:srgbClr val="1E3A8A"/>
                </a:solidFill>
                <a:latin typeface="Aptos Narrow"/>
              </a:rPr>
              <a:t>UCI Machine Learning Repository, Predict Students' Dropout and Academic Success (Realinho et al., 2022). One Portuguese higher-education institution, so results need local validation.</a:t>
            </a:r>
          </a:p>
        </p:txBody>
      </p:sp>
      <p:sp>
        <p:nvSpPr>
          <p:cNvPr id="30" name="Rounded Rectangle 29"/>
          <p:cNvSpPr/>
          <p:nvPr/>
        </p:nvSpPr>
        <p:spPr>
          <a:xfrm>
            <a:off x="5943600" y="1554480"/>
            <a:ext cx="5641848" cy="4425696"/>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31" name="Chart 30"/>
          <p:cNvGraphicFramePr>
            <a:graphicFrameLocks noGrp="1"/>
          </p:cNvGraphicFramePr>
          <p:nvPr/>
        </p:nvGraphicFramePr>
        <p:xfrm>
          <a:off x="6080760" y="1691640"/>
          <a:ext cx="5367528" cy="4160520"/>
        </p:xfrm>
        <a:graphic>
          <a:graphicData uri="http://schemas.openxmlformats.org/drawingml/2006/chart">
            <c:chart xmlns:c="http://schemas.openxmlformats.org/drawingml/2006/chart" r:id="rId6"/>
          </a:graphicData>
        </a:graphic>
      </p:graphicFrame>
    </p:spTree>
    <p:extLst>
      <p:ext uri="{BB962C8B-B14F-4D97-AF65-F5344CB8AC3E}">
        <p14:creationId xmlns:p14="http://schemas.microsoft.com/office/powerpoint/2010/main" val="31413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
            <a:extLst>
              <a:ext uri="{FF2B5EF4-FFF2-40B4-BE49-F238E27FC236}">
                <a16:creationId xmlns:a16="http://schemas.microsoft.com/office/drawing/2014/main" id="{886A0507-C03B-5E93-05A3-EC5C6D75ECA1}"/>
              </a:ext>
            </a:extLst>
          </p:cNvPr>
          <p:cNvSpPr/>
          <p:nvPr/>
        </p:nvSpPr>
        <p:spPr>
          <a:xfrm>
            <a:off x="609600" y="4014787"/>
            <a:ext cx="10972800" cy="1333500"/>
          </a:xfrm>
          <a:prstGeom prst="roundRect">
            <a:avLst>
              <a:gd name="adj" fmla="val 8571"/>
            </a:avLst>
          </a:prstGeom>
          <a:solidFill>
            <a:srgbClr val="F8FAFC"/>
          </a:solidFill>
          <a:ln w="19050">
            <a:solidFill>
              <a:srgbClr val="0284C7"/>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2">
            <a:extLst>
              <a:ext uri="{FF2B5EF4-FFF2-40B4-BE49-F238E27FC236}">
                <a16:creationId xmlns:a16="http://schemas.microsoft.com/office/drawing/2014/main" id="{0F026EA3-EC58-BABB-DA43-1D944C5B103F}"/>
              </a:ext>
            </a:extLst>
          </p:cNvPr>
          <p:cNvSpPr/>
          <p:nvPr/>
        </p:nvSpPr>
        <p:spPr>
          <a:xfrm>
            <a:off x="609600" y="2328862"/>
            <a:ext cx="5372100" cy="1457325"/>
          </a:xfrm>
          <a:prstGeom prst="roundRect">
            <a:avLst>
              <a:gd name="adj" fmla="val 7843"/>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solidFill>
                <a:schemeClr val="dk1"/>
              </a:solidFill>
            </a:endParaRPr>
          </a:p>
        </p:txBody>
      </p:sp>
      <p:sp>
        <p:nvSpPr>
          <p:cNvPr id="8" name="Rounded Rectangle 3">
            <a:extLst>
              <a:ext uri="{FF2B5EF4-FFF2-40B4-BE49-F238E27FC236}">
                <a16:creationId xmlns:a16="http://schemas.microsoft.com/office/drawing/2014/main" id="{1D914707-A376-A583-D15D-21BFD499594D}"/>
              </a:ext>
            </a:extLst>
          </p:cNvPr>
          <p:cNvSpPr/>
          <p:nvPr/>
        </p:nvSpPr>
        <p:spPr>
          <a:xfrm>
            <a:off x="6210300" y="2328862"/>
            <a:ext cx="5372100" cy="1457325"/>
          </a:xfrm>
          <a:prstGeom prst="roundRect">
            <a:avLst>
              <a:gd name="adj" fmla="val 7843"/>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solidFill>
                <a:schemeClr val="dk1"/>
              </a:solidFill>
            </a:endParaRPr>
          </a:p>
        </p:txBody>
      </p:sp>
      <p:sp>
        <p:nvSpPr>
          <p:cNvPr id="10" name="Rounded Rectangle 4">
            <a:extLst>
              <a:ext uri="{FF2B5EF4-FFF2-40B4-BE49-F238E27FC236}">
                <a16:creationId xmlns:a16="http://schemas.microsoft.com/office/drawing/2014/main" id="{F05518A5-2E3A-1147-D84B-6B4D3CFFAE42}"/>
              </a:ext>
            </a:extLst>
          </p:cNvPr>
          <p:cNvSpPr/>
          <p:nvPr/>
        </p:nvSpPr>
        <p:spPr>
          <a:xfrm>
            <a:off x="847725" y="2566987"/>
            <a:ext cx="1783080" cy="228600"/>
          </a:xfrm>
          <a:prstGeom prst="roundRect">
            <a:avLst>
              <a:gd name="adj" fmla="val 16666"/>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5">
            <a:extLst>
              <a:ext uri="{FF2B5EF4-FFF2-40B4-BE49-F238E27FC236}">
                <a16:creationId xmlns:a16="http://schemas.microsoft.com/office/drawing/2014/main" id="{AB57EB0C-D2FB-0EB0-BFBE-A418F4763177}"/>
              </a:ext>
            </a:extLst>
          </p:cNvPr>
          <p:cNvSpPr/>
          <p:nvPr/>
        </p:nvSpPr>
        <p:spPr>
          <a:xfrm>
            <a:off x="6448425" y="2566987"/>
            <a:ext cx="1783080" cy="228600"/>
          </a:xfrm>
          <a:prstGeom prst="roundRect">
            <a:avLst>
              <a:gd name="adj" fmla="val 16666"/>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FA16298-14E3-512B-4355-E5CF915DB992}"/>
              </a:ext>
            </a:extLst>
          </p:cNvPr>
          <p:cNvSpPr txBox="1"/>
          <p:nvPr/>
        </p:nvSpPr>
        <p:spPr>
          <a:xfrm>
            <a:off x="609600" y="457200"/>
            <a:ext cx="5486400" cy="182880"/>
          </a:xfrm>
          <a:prstGeom prst="rect">
            <a:avLst/>
          </a:prstGeom>
          <a:noFill/>
        </p:spPr>
        <p:txBody>
          <a:bodyPr wrap="square" lIns="0" tIns="0" rIns="0" bIns="0" anchor="t">
            <a:noAutofit/>
          </a:bodyPr>
          <a:lstStyle>
            <a:defPPr>
              <a:defRPr lang="en-US"/>
            </a:defPPr>
            <a:lvl1pPr>
              <a:defRPr sz="1000" b="1" i="0" u="none">
                <a:solidFill>
                  <a:srgbClr val="0284C7"/>
                </a:solidFill>
                <a:latin typeface="+mj-lt"/>
              </a:defRPr>
            </a:lvl1pPr>
          </a:lstStyle>
          <a:p>
            <a:r>
              <a:rPr dirty="0"/>
              <a:t>DATA SCIENCE ALIGNMENT</a:t>
            </a:r>
          </a:p>
        </p:txBody>
      </p:sp>
      <p:sp>
        <p:nvSpPr>
          <p:cNvPr id="16" name="TextBox 15">
            <a:extLst>
              <a:ext uri="{FF2B5EF4-FFF2-40B4-BE49-F238E27FC236}">
                <a16:creationId xmlns:a16="http://schemas.microsoft.com/office/drawing/2014/main" id="{478F310B-D91E-1520-7A8A-AFF79973E24A}"/>
              </a:ext>
            </a:extLst>
          </p:cNvPr>
          <p:cNvSpPr txBox="1"/>
          <p:nvPr/>
        </p:nvSpPr>
        <p:spPr>
          <a:xfrm>
            <a:off x="609600" y="666750"/>
            <a:ext cx="10972800" cy="457200"/>
          </a:xfrm>
          <a:prstGeom prst="rect">
            <a:avLst/>
          </a:prstGeom>
          <a:noFill/>
        </p:spPr>
        <p:txBody>
          <a:bodyPr wrap="square" lIns="0" tIns="0" rIns="0" bIns="0" anchor="t">
            <a:noAutofit/>
          </a:bodyPr>
          <a:lstStyle>
            <a:defPPr>
              <a:defRPr lang="en-US"/>
            </a:defPPr>
            <a:lvl1pPr>
              <a:defRPr sz="2400" b="1" i="0" u="none">
                <a:solidFill>
                  <a:srgbClr val="0F172A"/>
                </a:solidFill>
                <a:latin typeface="Aptos Narrow" panose="020B0004020202020204" pitchFamily="34" charset="0"/>
              </a:defRPr>
            </a:lvl1pPr>
          </a:lstStyle>
          <a:p>
            <a:r>
              <a:rPr dirty="0"/>
              <a:t>Asymmetric Cost Matrix &amp; Metric Selection</a:t>
            </a:r>
          </a:p>
        </p:txBody>
      </p:sp>
      <p:sp>
        <p:nvSpPr>
          <p:cNvPr id="18" name="TextBox 17">
            <a:extLst>
              <a:ext uri="{FF2B5EF4-FFF2-40B4-BE49-F238E27FC236}">
                <a16:creationId xmlns:a16="http://schemas.microsoft.com/office/drawing/2014/main" id="{202EECB6-4382-7946-5687-645F3AE23A3E}"/>
              </a:ext>
            </a:extLst>
          </p:cNvPr>
          <p:cNvSpPr txBox="1"/>
          <p:nvPr/>
        </p:nvSpPr>
        <p:spPr>
          <a:xfrm>
            <a:off x="847725" y="2909887"/>
            <a:ext cx="3291840" cy="274320"/>
          </a:xfrm>
          <a:prstGeom prst="rect">
            <a:avLst/>
          </a:prstGeom>
          <a:noFill/>
        </p:spPr>
        <p:txBody>
          <a:bodyPr wrap="square" lIns="0" tIns="0" rIns="0" bIns="0" anchor="t">
            <a:noAutofit/>
          </a:bodyPr>
          <a:lstStyle/>
          <a:p>
            <a:pPr algn="l"/>
            <a:r>
              <a:rPr sz="1600" b="1" i="0" u="none" dirty="0">
                <a:solidFill>
                  <a:srgbClr val="0F172A"/>
                </a:solidFill>
                <a:latin typeface="Aptos Narrow" panose="020B0004020202020204" pitchFamily="34" charset="0"/>
              </a:rPr>
              <a:t>Missed At-Risk Student</a:t>
            </a:r>
          </a:p>
        </p:txBody>
      </p:sp>
      <p:sp>
        <p:nvSpPr>
          <p:cNvPr id="20" name="TextBox 19">
            <a:extLst>
              <a:ext uri="{FF2B5EF4-FFF2-40B4-BE49-F238E27FC236}">
                <a16:creationId xmlns:a16="http://schemas.microsoft.com/office/drawing/2014/main" id="{56C6DF94-CB5E-D3F4-5620-FBF997991542}"/>
              </a:ext>
            </a:extLst>
          </p:cNvPr>
          <p:cNvSpPr txBox="1"/>
          <p:nvPr/>
        </p:nvSpPr>
        <p:spPr>
          <a:xfrm>
            <a:off x="847725" y="3205162"/>
            <a:ext cx="4937760" cy="548640"/>
          </a:xfrm>
          <a:prstGeom prst="rect">
            <a:avLst/>
          </a:prstGeom>
          <a:noFill/>
        </p:spPr>
        <p:txBody>
          <a:bodyPr wrap="square" lIns="0" tIns="0" rIns="0" bIns="0" anchor="t">
            <a:noAutofit/>
          </a:bodyPr>
          <a:lstStyle/>
          <a:p>
            <a:pPr algn="l"/>
            <a:r>
              <a:rPr sz="1050" b="0" i="0" u="none" dirty="0">
                <a:solidFill>
                  <a:srgbClr val="475569"/>
                </a:solidFill>
                <a:latin typeface="Aptos Narrow" panose="020B0004020202020204" pitchFamily="34" charset="0"/>
              </a:rPr>
              <a:t>The system misses a student who then drops out silently; the tuition is lost for good.</a:t>
            </a:r>
          </a:p>
        </p:txBody>
      </p:sp>
      <p:sp>
        <p:nvSpPr>
          <p:cNvPr id="22" name="TextBox 21">
            <a:extLst>
              <a:ext uri="{FF2B5EF4-FFF2-40B4-BE49-F238E27FC236}">
                <a16:creationId xmlns:a16="http://schemas.microsoft.com/office/drawing/2014/main" id="{0A005C50-2FD5-5088-7D59-79A143A3F95C}"/>
              </a:ext>
            </a:extLst>
          </p:cNvPr>
          <p:cNvSpPr txBox="1"/>
          <p:nvPr/>
        </p:nvSpPr>
        <p:spPr>
          <a:xfrm>
            <a:off x="6448425" y="2909887"/>
            <a:ext cx="3291840" cy="274320"/>
          </a:xfrm>
          <a:prstGeom prst="rect">
            <a:avLst/>
          </a:prstGeom>
          <a:noFill/>
        </p:spPr>
        <p:txBody>
          <a:bodyPr wrap="square" lIns="0" tIns="0" rIns="0" bIns="0" anchor="t">
            <a:noAutofit/>
          </a:bodyPr>
          <a:lstStyle/>
          <a:p>
            <a:pPr algn="l"/>
            <a:r>
              <a:rPr sz="1600" b="1" i="0" u="none" dirty="0">
                <a:solidFill>
                  <a:srgbClr val="0F172A"/>
                </a:solidFill>
                <a:latin typeface="Aptos Narrow" panose="020B0004020202020204" pitchFamily="34" charset="0"/>
              </a:rPr>
              <a:t>Unnecessary Check-in</a:t>
            </a:r>
          </a:p>
        </p:txBody>
      </p:sp>
      <p:sp>
        <p:nvSpPr>
          <p:cNvPr id="24" name="TextBox 23">
            <a:extLst>
              <a:ext uri="{FF2B5EF4-FFF2-40B4-BE49-F238E27FC236}">
                <a16:creationId xmlns:a16="http://schemas.microsoft.com/office/drawing/2014/main" id="{3EDE49C3-F7EB-EED0-F2E9-DCA6C07372B0}"/>
              </a:ext>
            </a:extLst>
          </p:cNvPr>
          <p:cNvSpPr txBox="1"/>
          <p:nvPr/>
        </p:nvSpPr>
        <p:spPr>
          <a:xfrm>
            <a:off x="6448425" y="3205162"/>
            <a:ext cx="4937760" cy="548640"/>
          </a:xfrm>
          <a:prstGeom prst="rect">
            <a:avLst/>
          </a:prstGeom>
          <a:noFill/>
        </p:spPr>
        <p:txBody>
          <a:bodyPr wrap="square" lIns="0" tIns="0" rIns="0" bIns="0" anchor="t">
            <a:noAutofit/>
          </a:bodyPr>
          <a:lstStyle/>
          <a:p>
            <a:pPr algn="l"/>
            <a:r>
              <a:rPr sz="1050" b="0" i="0" u="none" dirty="0">
                <a:solidFill>
                  <a:srgbClr val="475569"/>
                </a:solidFill>
                <a:latin typeface="Aptos Narrow" panose="020B0004020202020204" pitchFamily="34" charset="0"/>
              </a:rPr>
              <a:t>The system flags a student who was fine. The cost is a low-cost email or advisor check-in, with no harm to the student.</a:t>
            </a:r>
          </a:p>
        </p:txBody>
      </p:sp>
      <p:sp>
        <p:nvSpPr>
          <p:cNvPr id="26" name="TextBox 25">
            <a:extLst>
              <a:ext uri="{FF2B5EF4-FFF2-40B4-BE49-F238E27FC236}">
                <a16:creationId xmlns:a16="http://schemas.microsoft.com/office/drawing/2014/main" id="{31935CA9-E68C-F28F-39AD-6C70903686F8}"/>
              </a:ext>
            </a:extLst>
          </p:cNvPr>
          <p:cNvSpPr txBox="1"/>
          <p:nvPr/>
        </p:nvSpPr>
        <p:spPr>
          <a:xfrm>
            <a:off x="933450" y="4206240"/>
            <a:ext cx="3657600" cy="182880"/>
          </a:xfrm>
          <a:prstGeom prst="rect">
            <a:avLst/>
          </a:prstGeom>
          <a:noFill/>
        </p:spPr>
        <p:txBody>
          <a:bodyPr wrap="square" lIns="0" tIns="0" rIns="0" bIns="0" anchor="t">
            <a:noAutofit/>
          </a:bodyPr>
          <a:lstStyle/>
          <a:p>
            <a:pPr algn="l"/>
            <a:r>
              <a:rPr sz="1000" b="1" i="0" u="none" dirty="0">
                <a:solidFill>
                  <a:srgbClr val="0284C7"/>
                </a:solidFill>
                <a:latin typeface="Aptos Narrow" panose="020B0004020202020204" pitchFamily="34" charset="0"/>
              </a:rPr>
              <a:t>PRIMARY OPTIMIZATION TARGET</a:t>
            </a:r>
          </a:p>
        </p:txBody>
      </p:sp>
      <p:sp>
        <p:nvSpPr>
          <p:cNvPr id="28" name="TextBox 27">
            <a:extLst>
              <a:ext uri="{FF2B5EF4-FFF2-40B4-BE49-F238E27FC236}">
                <a16:creationId xmlns:a16="http://schemas.microsoft.com/office/drawing/2014/main" id="{40B12B88-4C0A-99E4-F910-0E13055CEA7B}"/>
              </a:ext>
            </a:extLst>
          </p:cNvPr>
          <p:cNvSpPr txBox="1"/>
          <p:nvPr/>
        </p:nvSpPr>
        <p:spPr>
          <a:xfrm>
            <a:off x="933450" y="4416552"/>
            <a:ext cx="8686800" cy="274320"/>
          </a:xfrm>
          <a:prstGeom prst="rect">
            <a:avLst/>
          </a:prstGeom>
          <a:noFill/>
        </p:spPr>
        <p:txBody>
          <a:bodyPr wrap="square" lIns="0" tIns="0" rIns="0" bIns="0" anchor="t">
            <a:noAutofit/>
          </a:bodyPr>
          <a:lstStyle/>
          <a:p>
            <a:pPr algn="l"/>
            <a:r>
              <a:rPr sz="1600" b="1" i="0" u="none" dirty="0">
                <a:solidFill>
                  <a:srgbClr val="0F172A"/>
                </a:solidFill>
                <a:latin typeface="Aptos Narrow" panose="020B0004020202020204" pitchFamily="34" charset="0"/>
              </a:rPr>
              <a:t>Recall ≥ 85% as the goal; F2 to rank the models</a:t>
            </a:r>
          </a:p>
        </p:txBody>
      </p:sp>
      <p:sp>
        <p:nvSpPr>
          <p:cNvPr id="30" name="TextBox 29">
            <a:extLst>
              <a:ext uri="{FF2B5EF4-FFF2-40B4-BE49-F238E27FC236}">
                <a16:creationId xmlns:a16="http://schemas.microsoft.com/office/drawing/2014/main" id="{47CC2812-C44D-07B3-0233-AA09BCAD8DAE}"/>
              </a:ext>
            </a:extLst>
          </p:cNvPr>
          <p:cNvSpPr txBox="1"/>
          <p:nvPr/>
        </p:nvSpPr>
        <p:spPr>
          <a:xfrm>
            <a:off x="933450" y="4727448"/>
            <a:ext cx="8686800" cy="365760"/>
          </a:xfrm>
          <a:prstGeom prst="rect">
            <a:avLst/>
          </a:prstGeom>
          <a:noFill/>
        </p:spPr>
        <p:txBody>
          <a:bodyPr wrap="square" lIns="0" tIns="0" rIns="0" bIns="0" anchor="t">
            <a:noAutofit/>
          </a:bodyPr>
          <a:lstStyle/>
          <a:p>
            <a:pPr algn="l"/>
            <a:r>
              <a:rPr sz="1050" b="0" i="0" u="none" dirty="0">
                <a:solidFill>
                  <a:srgbClr val="475569"/>
                </a:solidFill>
                <a:latin typeface="Aptos Narrow" panose="020B0004020202020204" pitchFamily="34" charset="0"/>
              </a:rPr>
              <a:t>Class-weighted XGBoost (scale_pos_weight = 5) at a fixed 0.50 threshold on a held-out 20% test set: recall 91.2%, precision 68.5%, ROC-AUC 0.937.</a:t>
            </a:r>
          </a:p>
        </p:txBody>
      </p:sp>
      <p:sp>
        <p:nvSpPr>
          <p:cNvPr id="32" name="TextBox 31">
            <a:extLst>
              <a:ext uri="{FF2B5EF4-FFF2-40B4-BE49-F238E27FC236}">
                <a16:creationId xmlns:a16="http://schemas.microsoft.com/office/drawing/2014/main" id="{1B11DDBC-DBAE-43E8-861E-712DF197B381}"/>
              </a:ext>
            </a:extLst>
          </p:cNvPr>
          <p:cNvSpPr txBox="1"/>
          <p:nvPr/>
        </p:nvSpPr>
        <p:spPr>
          <a:xfrm>
            <a:off x="933450" y="5084064"/>
            <a:ext cx="8686800" cy="182880"/>
          </a:xfrm>
          <a:prstGeom prst="rect">
            <a:avLst/>
          </a:prstGeom>
          <a:noFill/>
        </p:spPr>
        <p:txBody>
          <a:bodyPr wrap="square" lIns="0" tIns="0" rIns="0" bIns="0" anchor="t">
            <a:noAutofit/>
          </a:bodyPr>
          <a:lstStyle/>
          <a:p>
            <a:pPr algn="l"/>
            <a:r>
              <a:rPr sz="900" b="1" i="0" u="none" dirty="0">
                <a:solidFill>
                  <a:srgbClr val="64748B"/>
                </a:solidFill>
                <a:latin typeface="Aptos Narrow" panose="020B0004020202020204" pitchFamily="34" charset="0"/>
              </a:rPr>
              <a:t>* Illustrative planning assumptions, not derived from the dataset; replace with institutional figures.</a:t>
            </a:r>
          </a:p>
        </p:txBody>
      </p:sp>
      <p:sp>
        <p:nvSpPr>
          <p:cNvPr id="34" name="TextBox 33">
            <a:extLst>
              <a:ext uri="{FF2B5EF4-FFF2-40B4-BE49-F238E27FC236}">
                <a16:creationId xmlns:a16="http://schemas.microsoft.com/office/drawing/2014/main" id="{6E1689B2-ED60-221B-3DBA-A1C0E09CE2EC}"/>
              </a:ext>
            </a:extLst>
          </p:cNvPr>
          <p:cNvSpPr txBox="1"/>
          <p:nvPr/>
        </p:nvSpPr>
        <p:spPr>
          <a:xfrm>
            <a:off x="9509760" y="4395787"/>
            <a:ext cx="1737360" cy="395045"/>
          </a:xfrm>
          <a:prstGeom prst="rect">
            <a:avLst/>
          </a:prstGeom>
          <a:noFill/>
        </p:spPr>
        <p:txBody>
          <a:bodyPr wrap="none" lIns="0" tIns="0" rIns="0" bIns="0" anchor="t">
            <a:spAutoFit/>
          </a:bodyPr>
          <a:lstStyle/>
          <a:p>
            <a:pPr algn="r">
              <a:lnSpc>
                <a:spcPts val="3000"/>
              </a:lnSpc>
            </a:pPr>
            <a:r>
              <a:rPr sz="3000" b="1" i="0" u="none" dirty="0">
                <a:solidFill>
                  <a:srgbClr val="0284C7"/>
                </a:solidFill>
                <a:latin typeface="Aptos Narrow" panose="020B0004020202020204" pitchFamily="34" charset="0"/>
              </a:rPr>
              <a:t>0.855</a:t>
            </a:r>
          </a:p>
        </p:txBody>
      </p:sp>
      <p:sp>
        <p:nvSpPr>
          <p:cNvPr id="36" name="TextBox 35">
            <a:extLst>
              <a:ext uri="{FF2B5EF4-FFF2-40B4-BE49-F238E27FC236}">
                <a16:creationId xmlns:a16="http://schemas.microsoft.com/office/drawing/2014/main" id="{66890778-6C2C-4EEC-4915-3F7632781244}"/>
              </a:ext>
            </a:extLst>
          </p:cNvPr>
          <p:cNvSpPr txBox="1"/>
          <p:nvPr/>
        </p:nvSpPr>
        <p:spPr>
          <a:xfrm>
            <a:off x="9509760" y="4814887"/>
            <a:ext cx="1737360" cy="150041"/>
          </a:xfrm>
          <a:prstGeom prst="rect">
            <a:avLst/>
          </a:prstGeom>
          <a:noFill/>
        </p:spPr>
        <p:txBody>
          <a:bodyPr wrap="none" lIns="0" tIns="0" rIns="0" bIns="0" anchor="t">
            <a:spAutoFit/>
          </a:bodyPr>
          <a:lstStyle/>
          <a:p>
            <a:pPr algn="r"/>
            <a:r>
              <a:rPr sz="975" b="1" i="0" u="none" dirty="0">
                <a:solidFill>
                  <a:srgbClr val="64748B"/>
                </a:solidFill>
                <a:latin typeface="Aptos Narrow" panose="020B0004020202020204" pitchFamily="34" charset="0"/>
              </a:rPr>
              <a:t>Hold-out F2 Score</a:t>
            </a:r>
          </a:p>
        </p:txBody>
      </p:sp>
      <p:sp>
        <p:nvSpPr>
          <p:cNvPr id="38" name="TextBox 37">
            <a:extLst>
              <a:ext uri="{FF2B5EF4-FFF2-40B4-BE49-F238E27FC236}">
                <a16:creationId xmlns:a16="http://schemas.microsoft.com/office/drawing/2014/main" id="{5C6C36BB-8242-07F9-A296-79730F9C1442}"/>
              </a:ext>
            </a:extLst>
          </p:cNvPr>
          <p:cNvSpPr txBox="1"/>
          <p:nvPr/>
        </p:nvSpPr>
        <p:spPr>
          <a:xfrm>
            <a:off x="942975" y="2605087"/>
            <a:ext cx="1737360" cy="182880"/>
          </a:xfrm>
          <a:prstGeom prst="rect">
            <a:avLst/>
          </a:prstGeom>
          <a:noFill/>
        </p:spPr>
        <p:txBody>
          <a:bodyPr wrap="square" lIns="0" tIns="0" rIns="0" bIns="0" anchor="t">
            <a:noAutofit/>
          </a:bodyPr>
          <a:lstStyle/>
          <a:p>
            <a:pPr algn="l"/>
            <a:r>
              <a:rPr sz="1000" b="1" i="0" u="none" dirty="0">
                <a:solidFill>
                  <a:srgbClr val="EF4444"/>
                </a:solidFill>
                <a:latin typeface="Aptos Narrow" panose="020B0004020202020204" pitchFamily="34" charset="0"/>
              </a:rPr>
              <a:t>FALSE NEGATIVE (FN)</a:t>
            </a:r>
          </a:p>
        </p:txBody>
      </p:sp>
      <p:sp>
        <p:nvSpPr>
          <p:cNvPr id="40" name="TextBox 39">
            <a:extLst>
              <a:ext uri="{FF2B5EF4-FFF2-40B4-BE49-F238E27FC236}">
                <a16:creationId xmlns:a16="http://schemas.microsoft.com/office/drawing/2014/main" id="{701E0601-C2E6-66E9-22B7-A68BD73C8637}"/>
              </a:ext>
            </a:extLst>
          </p:cNvPr>
          <p:cNvSpPr txBox="1"/>
          <p:nvPr/>
        </p:nvSpPr>
        <p:spPr>
          <a:xfrm>
            <a:off x="3931920" y="2595562"/>
            <a:ext cx="1920240" cy="169277"/>
          </a:xfrm>
          <a:prstGeom prst="rect">
            <a:avLst/>
          </a:prstGeom>
          <a:noFill/>
        </p:spPr>
        <p:txBody>
          <a:bodyPr wrap="none" lIns="0" tIns="0" rIns="0" bIns="0" anchor="t">
            <a:spAutoFit/>
          </a:bodyPr>
          <a:lstStyle/>
          <a:p>
            <a:pPr algn="r"/>
            <a:r>
              <a:rPr sz="1100" b="1" i="0" u="none" dirty="0">
                <a:solidFill>
                  <a:srgbClr val="B91C1C"/>
                </a:solidFill>
                <a:latin typeface="Aptos Narrow" panose="020B0004020202020204" pitchFamily="34" charset="0"/>
              </a:rPr>
              <a:t>HIGH COST (≈$24,000*)</a:t>
            </a:r>
          </a:p>
        </p:txBody>
      </p:sp>
      <p:sp>
        <p:nvSpPr>
          <p:cNvPr id="42" name="TextBox 41">
            <a:extLst>
              <a:ext uri="{FF2B5EF4-FFF2-40B4-BE49-F238E27FC236}">
                <a16:creationId xmlns:a16="http://schemas.microsoft.com/office/drawing/2014/main" id="{36BB719E-DAC3-4CB3-7C15-1CFC6893FABC}"/>
              </a:ext>
            </a:extLst>
          </p:cNvPr>
          <p:cNvSpPr txBox="1"/>
          <p:nvPr/>
        </p:nvSpPr>
        <p:spPr>
          <a:xfrm>
            <a:off x="6543675" y="2605087"/>
            <a:ext cx="1737360" cy="182880"/>
          </a:xfrm>
          <a:prstGeom prst="rect">
            <a:avLst/>
          </a:prstGeom>
          <a:noFill/>
        </p:spPr>
        <p:txBody>
          <a:bodyPr wrap="square" lIns="0" tIns="0" rIns="0" bIns="0" anchor="t">
            <a:noAutofit/>
          </a:bodyPr>
          <a:lstStyle/>
          <a:p>
            <a:pPr algn="l"/>
            <a:r>
              <a:rPr sz="1000" b="1" i="0" u="none" dirty="0">
                <a:solidFill>
                  <a:srgbClr val="3B82F6"/>
                </a:solidFill>
                <a:latin typeface="Aptos Narrow" panose="020B0004020202020204" pitchFamily="34" charset="0"/>
              </a:rPr>
              <a:t>FALSE POSITIVE (FP)</a:t>
            </a:r>
          </a:p>
        </p:txBody>
      </p:sp>
      <p:sp>
        <p:nvSpPr>
          <p:cNvPr id="44" name="TextBox 43">
            <a:extLst>
              <a:ext uri="{FF2B5EF4-FFF2-40B4-BE49-F238E27FC236}">
                <a16:creationId xmlns:a16="http://schemas.microsoft.com/office/drawing/2014/main" id="{5B995763-C652-EF6B-AC58-C8FE4D3E10CC}"/>
              </a:ext>
            </a:extLst>
          </p:cNvPr>
          <p:cNvSpPr txBox="1"/>
          <p:nvPr/>
        </p:nvSpPr>
        <p:spPr>
          <a:xfrm>
            <a:off x="9692640" y="2595562"/>
            <a:ext cx="1645920" cy="161583"/>
          </a:xfrm>
          <a:prstGeom prst="rect">
            <a:avLst/>
          </a:prstGeom>
          <a:noFill/>
        </p:spPr>
        <p:txBody>
          <a:bodyPr wrap="none" lIns="0" tIns="0" rIns="0" bIns="0" anchor="t">
            <a:spAutoFit/>
          </a:bodyPr>
          <a:lstStyle/>
          <a:p>
            <a:pPr algn="r"/>
            <a:r>
              <a:rPr sz="1050" b="1" i="0" u="none" dirty="0">
                <a:solidFill>
                  <a:srgbClr val="1D4ED8"/>
                </a:solidFill>
                <a:latin typeface="Aptos Narrow" panose="020B0004020202020204" pitchFamily="34" charset="0"/>
              </a:rPr>
              <a:t>LOW COST (≈$30*)</a:t>
            </a:r>
          </a:p>
        </p:txBody>
      </p:sp>
      <p:sp>
        <p:nvSpPr>
          <p:cNvPr id="5" name="Footer Placeholder 4">
            <a:extLst>
              <a:ext uri="{FF2B5EF4-FFF2-40B4-BE49-F238E27FC236}">
                <a16:creationId xmlns:a16="http://schemas.microsoft.com/office/drawing/2014/main" id="{D047476C-1D48-6F35-36B1-B8F6DE653E38}"/>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7" name="Slide Number Placeholder 6">
            <a:extLst>
              <a:ext uri="{FF2B5EF4-FFF2-40B4-BE49-F238E27FC236}">
                <a16:creationId xmlns:a16="http://schemas.microsoft.com/office/drawing/2014/main" id="{81CAD791-81A9-0249-729B-1E4A719506B4}"/>
              </a:ext>
            </a:extLst>
          </p:cNvPr>
          <p:cNvSpPr>
            <a:spLocks noGrp="1"/>
          </p:cNvSpPr>
          <p:nvPr>
            <p:ph type="sldNum" sz="quarter" idx="11"/>
          </p:nvPr>
        </p:nvSpPr>
        <p:spPr/>
        <p:txBody>
          <a:bodyPr/>
          <a:lstStyle/>
          <a:p>
            <a:fld id="{B67B645E-C5E5-4727-B977-D372A0AA71D9}" type="slidenum">
              <a:rPr lang="en-US" smtClean="0"/>
              <a:pPr/>
              <a:t>5</a:t>
            </a:fld>
            <a:endParaRPr lang="en-US" dirty="0"/>
          </a:p>
        </p:txBody>
      </p:sp>
    </p:spTree>
    <p:extLst>
      <p:ext uri="{BB962C8B-B14F-4D97-AF65-F5344CB8AC3E}">
        <p14:creationId xmlns:p14="http://schemas.microsoft.com/office/powerpoint/2010/main" val="1239494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
            <a:extLst>
              <a:ext uri="{FF2B5EF4-FFF2-40B4-BE49-F238E27FC236}">
                <a16:creationId xmlns:a16="http://schemas.microsoft.com/office/drawing/2014/main" id="{2E4A90DA-057E-E587-95A6-29CE5462A75B}"/>
              </a:ext>
            </a:extLst>
          </p:cNvPr>
          <p:cNvSpPr/>
          <p:nvPr/>
        </p:nvSpPr>
        <p:spPr>
          <a:xfrm>
            <a:off x="609600" y="2257425"/>
            <a:ext cx="3505200" cy="2286000"/>
          </a:xfrm>
          <a:prstGeom prst="roundRect">
            <a:avLst>
              <a:gd name="adj" fmla="val 5000"/>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solidFill>
                <a:schemeClr val="dk1"/>
              </a:solidFill>
            </a:endParaRPr>
          </a:p>
        </p:txBody>
      </p:sp>
      <p:sp>
        <p:nvSpPr>
          <p:cNvPr id="6" name="Rounded Rectangle 2">
            <a:extLst>
              <a:ext uri="{FF2B5EF4-FFF2-40B4-BE49-F238E27FC236}">
                <a16:creationId xmlns:a16="http://schemas.microsoft.com/office/drawing/2014/main" id="{2371EA1B-C46F-F5B2-0CC6-9F029A6DCBE8}"/>
              </a:ext>
            </a:extLst>
          </p:cNvPr>
          <p:cNvSpPr/>
          <p:nvPr/>
        </p:nvSpPr>
        <p:spPr>
          <a:xfrm>
            <a:off x="4343400" y="2257425"/>
            <a:ext cx="3505200" cy="2286000"/>
          </a:xfrm>
          <a:prstGeom prst="roundRect">
            <a:avLst>
              <a:gd name="adj" fmla="val 5000"/>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solidFill>
                <a:schemeClr val="dk1"/>
              </a:solidFill>
            </a:endParaRPr>
          </a:p>
        </p:txBody>
      </p:sp>
      <p:sp>
        <p:nvSpPr>
          <p:cNvPr id="8" name="Rounded Rectangle 3">
            <a:extLst>
              <a:ext uri="{FF2B5EF4-FFF2-40B4-BE49-F238E27FC236}">
                <a16:creationId xmlns:a16="http://schemas.microsoft.com/office/drawing/2014/main" id="{6F60105D-DEF3-0FAE-B5DC-AB971DBD3786}"/>
              </a:ext>
            </a:extLst>
          </p:cNvPr>
          <p:cNvSpPr/>
          <p:nvPr/>
        </p:nvSpPr>
        <p:spPr>
          <a:xfrm>
            <a:off x="8077200" y="2257425"/>
            <a:ext cx="3505200" cy="2286000"/>
          </a:xfrm>
          <a:prstGeom prst="roundRect">
            <a:avLst>
              <a:gd name="adj" fmla="val 5000"/>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solidFill>
                <a:schemeClr val="dk1"/>
              </a:solidFill>
            </a:endParaRPr>
          </a:p>
        </p:txBody>
      </p:sp>
      <p:pic>
        <p:nvPicPr>
          <p:cNvPr id="10" name="Picture 9" descr="image.png">
            <a:extLst>
              <a:ext uri="{FF2B5EF4-FFF2-40B4-BE49-F238E27FC236}">
                <a16:creationId xmlns:a16="http://schemas.microsoft.com/office/drawing/2014/main" id="{1FF242F0-4DE9-6D6F-1521-305BC83FA50C}"/>
              </a:ext>
            </a:extLst>
          </p:cNvPr>
          <p:cNvPicPr>
            <a:picLocks noChangeAspect="1"/>
          </p:cNvPicPr>
          <p:nvPr/>
        </p:nvPicPr>
        <p:blipFill>
          <a:blip r:embed="rId3"/>
          <a:stretch>
            <a:fillRect/>
          </a:stretch>
        </p:blipFill>
        <p:spPr>
          <a:xfrm>
            <a:off x="885825" y="2533650"/>
            <a:ext cx="419100" cy="419100"/>
          </a:xfrm>
          <a:prstGeom prst="rect">
            <a:avLst/>
          </a:prstGeom>
        </p:spPr>
      </p:pic>
      <p:pic>
        <p:nvPicPr>
          <p:cNvPr id="12" name="Picture 11" descr="image.png">
            <a:extLst>
              <a:ext uri="{FF2B5EF4-FFF2-40B4-BE49-F238E27FC236}">
                <a16:creationId xmlns:a16="http://schemas.microsoft.com/office/drawing/2014/main" id="{6F4E49A9-189D-0177-0EDA-FAF4A530DA13}"/>
              </a:ext>
            </a:extLst>
          </p:cNvPr>
          <p:cNvPicPr>
            <a:picLocks noChangeAspect="1"/>
          </p:cNvPicPr>
          <p:nvPr/>
        </p:nvPicPr>
        <p:blipFill>
          <a:blip r:embed="rId4"/>
          <a:stretch>
            <a:fillRect/>
          </a:stretch>
        </p:blipFill>
        <p:spPr>
          <a:xfrm>
            <a:off x="4619625" y="2533650"/>
            <a:ext cx="419100" cy="419100"/>
          </a:xfrm>
          <a:prstGeom prst="rect">
            <a:avLst/>
          </a:prstGeom>
        </p:spPr>
      </p:pic>
      <p:pic>
        <p:nvPicPr>
          <p:cNvPr id="14" name="Picture 13" descr="image.png">
            <a:extLst>
              <a:ext uri="{FF2B5EF4-FFF2-40B4-BE49-F238E27FC236}">
                <a16:creationId xmlns:a16="http://schemas.microsoft.com/office/drawing/2014/main" id="{BE0BC80E-B804-4905-9580-F8B379B4FC85}"/>
              </a:ext>
            </a:extLst>
          </p:cNvPr>
          <p:cNvPicPr>
            <a:picLocks noChangeAspect="1"/>
          </p:cNvPicPr>
          <p:nvPr/>
        </p:nvPicPr>
        <p:blipFill>
          <a:blip r:embed="rId5"/>
          <a:stretch>
            <a:fillRect/>
          </a:stretch>
        </p:blipFill>
        <p:spPr>
          <a:xfrm>
            <a:off x="8353425" y="2533650"/>
            <a:ext cx="419100" cy="419100"/>
          </a:xfrm>
          <a:prstGeom prst="rect">
            <a:avLst/>
          </a:prstGeom>
        </p:spPr>
      </p:pic>
      <p:pic>
        <p:nvPicPr>
          <p:cNvPr id="16" name="Picture 15" descr="image.png">
            <a:extLst>
              <a:ext uri="{FF2B5EF4-FFF2-40B4-BE49-F238E27FC236}">
                <a16:creationId xmlns:a16="http://schemas.microsoft.com/office/drawing/2014/main" id="{4FCE0C69-80AA-3310-9B2D-0A25F55DB223}"/>
              </a:ext>
            </a:extLst>
          </p:cNvPr>
          <p:cNvPicPr>
            <a:picLocks noChangeAspect="1"/>
          </p:cNvPicPr>
          <p:nvPr/>
        </p:nvPicPr>
        <p:blipFill>
          <a:blip r:embed="rId6"/>
          <a:stretch>
            <a:fillRect/>
          </a:stretch>
        </p:blipFill>
        <p:spPr>
          <a:xfrm>
            <a:off x="1000125" y="2647950"/>
            <a:ext cx="190500" cy="190500"/>
          </a:xfrm>
          <a:prstGeom prst="rect">
            <a:avLst/>
          </a:prstGeom>
        </p:spPr>
      </p:pic>
      <p:pic>
        <p:nvPicPr>
          <p:cNvPr id="18" name="Picture 17" descr="image.png">
            <a:extLst>
              <a:ext uri="{FF2B5EF4-FFF2-40B4-BE49-F238E27FC236}">
                <a16:creationId xmlns:a16="http://schemas.microsoft.com/office/drawing/2014/main" id="{1ADEC1E5-60AE-361D-6AB1-44B50941C5E6}"/>
              </a:ext>
            </a:extLst>
          </p:cNvPr>
          <p:cNvPicPr>
            <a:picLocks noChangeAspect="1"/>
          </p:cNvPicPr>
          <p:nvPr/>
        </p:nvPicPr>
        <p:blipFill>
          <a:blip r:embed="rId7"/>
          <a:stretch>
            <a:fillRect/>
          </a:stretch>
        </p:blipFill>
        <p:spPr>
          <a:xfrm>
            <a:off x="4757737" y="2647950"/>
            <a:ext cx="142875" cy="190500"/>
          </a:xfrm>
          <a:prstGeom prst="rect">
            <a:avLst/>
          </a:prstGeom>
        </p:spPr>
      </p:pic>
      <p:pic>
        <p:nvPicPr>
          <p:cNvPr id="20" name="Picture 19" descr="image.png">
            <a:extLst>
              <a:ext uri="{FF2B5EF4-FFF2-40B4-BE49-F238E27FC236}">
                <a16:creationId xmlns:a16="http://schemas.microsoft.com/office/drawing/2014/main" id="{8CB6871B-7F5D-F3ED-6774-F0A50ED6C02A}"/>
              </a:ext>
            </a:extLst>
          </p:cNvPr>
          <p:cNvPicPr>
            <a:picLocks noChangeAspect="1"/>
          </p:cNvPicPr>
          <p:nvPr/>
        </p:nvPicPr>
        <p:blipFill>
          <a:blip r:embed="rId8"/>
          <a:stretch>
            <a:fillRect/>
          </a:stretch>
        </p:blipFill>
        <p:spPr>
          <a:xfrm>
            <a:off x="8443912" y="2647950"/>
            <a:ext cx="238125" cy="190500"/>
          </a:xfrm>
          <a:prstGeom prst="rect">
            <a:avLst/>
          </a:prstGeom>
        </p:spPr>
      </p:pic>
      <p:sp>
        <p:nvSpPr>
          <p:cNvPr id="22" name="TextBox 21">
            <a:extLst>
              <a:ext uri="{FF2B5EF4-FFF2-40B4-BE49-F238E27FC236}">
                <a16:creationId xmlns:a16="http://schemas.microsoft.com/office/drawing/2014/main" id="{9C158A40-5A05-B87D-9780-B010F860E540}"/>
              </a:ext>
            </a:extLst>
          </p:cNvPr>
          <p:cNvSpPr txBox="1"/>
          <p:nvPr/>
        </p:nvSpPr>
        <p:spPr>
          <a:xfrm>
            <a:off x="609600" y="457200"/>
            <a:ext cx="5486400" cy="182880"/>
          </a:xfrm>
          <a:prstGeom prst="rect">
            <a:avLst/>
          </a:prstGeom>
          <a:noFill/>
        </p:spPr>
        <p:txBody>
          <a:bodyPr wrap="square" lIns="0" tIns="0" rIns="0" bIns="0" anchor="t">
            <a:noAutofit/>
          </a:bodyPr>
          <a:lstStyle>
            <a:defPPr>
              <a:defRPr lang="en-US"/>
            </a:defPPr>
            <a:lvl1pPr>
              <a:defRPr sz="1000" b="1" i="0" u="none">
                <a:solidFill>
                  <a:srgbClr val="0284C7"/>
                </a:solidFill>
                <a:latin typeface="+mj-lt"/>
              </a:defRPr>
            </a:lvl1pPr>
          </a:lstStyle>
          <a:p>
            <a:r>
              <a:rPr dirty="0"/>
              <a:t>FEATURE ENGINEERING</a:t>
            </a:r>
          </a:p>
        </p:txBody>
      </p:sp>
      <p:sp>
        <p:nvSpPr>
          <p:cNvPr id="24" name="TextBox 23">
            <a:extLst>
              <a:ext uri="{FF2B5EF4-FFF2-40B4-BE49-F238E27FC236}">
                <a16:creationId xmlns:a16="http://schemas.microsoft.com/office/drawing/2014/main" id="{949ED4B6-F2C4-1B5F-12BE-2B19E51DDF04}"/>
              </a:ext>
            </a:extLst>
          </p:cNvPr>
          <p:cNvSpPr txBox="1"/>
          <p:nvPr/>
        </p:nvSpPr>
        <p:spPr>
          <a:xfrm>
            <a:off x="609600" y="666750"/>
            <a:ext cx="10972800" cy="457200"/>
          </a:xfrm>
          <a:prstGeom prst="rect">
            <a:avLst/>
          </a:prstGeom>
          <a:noFill/>
        </p:spPr>
        <p:txBody>
          <a:bodyPr wrap="square" lIns="0" tIns="0" rIns="0" bIns="0" anchor="t">
            <a:noAutofit/>
          </a:bodyPr>
          <a:lstStyle>
            <a:defPPr>
              <a:defRPr lang="en-US"/>
            </a:defPPr>
            <a:lvl1pPr>
              <a:defRPr sz="2400" b="1" i="0" u="none">
                <a:solidFill>
                  <a:srgbClr val="0F172A"/>
                </a:solidFill>
                <a:latin typeface="Aptos Narrow" panose="020B0004020202020204" pitchFamily="34" charset="0"/>
              </a:defRPr>
            </a:lvl1pPr>
          </a:lstStyle>
          <a:p>
            <a:r>
              <a:rPr dirty="0"/>
              <a:t>Domain-Derived Features: What Actually Carried the Signal</a:t>
            </a:r>
          </a:p>
        </p:txBody>
      </p:sp>
      <p:sp>
        <p:nvSpPr>
          <p:cNvPr id="26" name="TextBox 25">
            <a:extLst>
              <a:ext uri="{FF2B5EF4-FFF2-40B4-BE49-F238E27FC236}">
                <a16:creationId xmlns:a16="http://schemas.microsoft.com/office/drawing/2014/main" id="{DA0E87CF-FE3F-6535-6332-240D96EA0FF9}"/>
              </a:ext>
            </a:extLst>
          </p:cNvPr>
          <p:cNvSpPr txBox="1"/>
          <p:nvPr/>
        </p:nvSpPr>
        <p:spPr>
          <a:xfrm>
            <a:off x="886968" y="3105150"/>
            <a:ext cx="3017520" cy="274320"/>
          </a:xfrm>
          <a:prstGeom prst="rect">
            <a:avLst/>
          </a:prstGeom>
          <a:noFill/>
        </p:spPr>
        <p:txBody>
          <a:bodyPr wrap="square" lIns="0" tIns="0" rIns="0" bIns="0" anchor="t">
            <a:noAutofit/>
          </a:bodyPr>
          <a:lstStyle/>
          <a:p>
            <a:pPr algn="l"/>
            <a:r>
              <a:rPr sz="1600" b="1" i="0" u="none" dirty="0">
                <a:solidFill>
                  <a:srgbClr val="0F172A"/>
                </a:solidFill>
                <a:latin typeface="Aptos Narrow" panose="020B0004020202020204" pitchFamily="34" charset="0"/>
              </a:rPr>
              <a:t>Academic Momentum</a:t>
            </a:r>
          </a:p>
        </p:txBody>
      </p:sp>
      <p:sp>
        <p:nvSpPr>
          <p:cNvPr id="28" name="TextBox 27">
            <a:extLst>
              <a:ext uri="{FF2B5EF4-FFF2-40B4-BE49-F238E27FC236}">
                <a16:creationId xmlns:a16="http://schemas.microsoft.com/office/drawing/2014/main" id="{B108EB4B-8A7F-F78A-7172-667268E506D6}"/>
              </a:ext>
            </a:extLst>
          </p:cNvPr>
          <p:cNvSpPr txBox="1"/>
          <p:nvPr/>
        </p:nvSpPr>
        <p:spPr>
          <a:xfrm>
            <a:off x="886968" y="3400425"/>
            <a:ext cx="3017520" cy="182880"/>
          </a:xfrm>
          <a:prstGeom prst="rect">
            <a:avLst/>
          </a:prstGeom>
          <a:noFill/>
        </p:spPr>
        <p:txBody>
          <a:bodyPr wrap="square" lIns="0" tIns="0" rIns="0" bIns="0" anchor="t">
            <a:noAutofit/>
          </a:bodyPr>
          <a:lstStyle/>
          <a:p>
            <a:pPr algn="l"/>
            <a:r>
              <a:rPr sz="975" b="1" i="0" u="none" dirty="0">
                <a:solidFill>
                  <a:srgbClr val="0284C7"/>
                </a:solidFill>
                <a:latin typeface="Aptos Narrow" panose="020B0004020202020204" pitchFamily="34" charset="0"/>
              </a:rPr>
              <a:t>Grade (Sem 2) − Grade (Sem 1)</a:t>
            </a:r>
          </a:p>
        </p:txBody>
      </p:sp>
      <p:sp>
        <p:nvSpPr>
          <p:cNvPr id="30" name="TextBox 29">
            <a:extLst>
              <a:ext uri="{FF2B5EF4-FFF2-40B4-BE49-F238E27FC236}">
                <a16:creationId xmlns:a16="http://schemas.microsoft.com/office/drawing/2014/main" id="{36EE2626-8986-210D-D903-15E87916CA5F}"/>
              </a:ext>
            </a:extLst>
          </p:cNvPr>
          <p:cNvSpPr txBox="1"/>
          <p:nvPr/>
        </p:nvSpPr>
        <p:spPr>
          <a:xfrm>
            <a:off x="886968" y="3657600"/>
            <a:ext cx="3017520" cy="502920"/>
          </a:xfrm>
          <a:prstGeom prst="rect">
            <a:avLst/>
          </a:prstGeom>
          <a:noFill/>
        </p:spPr>
        <p:txBody>
          <a:bodyPr wrap="square" lIns="0" tIns="0" rIns="0" bIns="0" anchor="t">
            <a:noAutofit/>
          </a:bodyPr>
          <a:lstStyle/>
          <a:p>
            <a:pPr algn="l">
              <a:lnSpc>
                <a:spcPts val="1575"/>
              </a:lnSpc>
            </a:pPr>
            <a:r>
              <a:rPr sz="1050" b="0" i="0" u="none" dirty="0">
                <a:solidFill>
                  <a:srgbClr val="475569"/>
                </a:solidFill>
                <a:latin typeface="Aptos Narrow" panose="020B0004020202020204" pitchFamily="34" charset="0"/>
              </a:rPr>
              <a:t>Meant to catch grade slips. The median change is 0.00 for both dropouts and retained students.</a:t>
            </a:r>
          </a:p>
        </p:txBody>
      </p:sp>
      <p:sp>
        <p:nvSpPr>
          <p:cNvPr id="32" name="TextBox 31">
            <a:extLst>
              <a:ext uri="{FF2B5EF4-FFF2-40B4-BE49-F238E27FC236}">
                <a16:creationId xmlns:a16="http://schemas.microsoft.com/office/drawing/2014/main" id="{18772FD4-EF02-6F30-FB04-38F6E1CAE498}"/>
              </a:ext>
            </a:extLst>
          </p:cNvPr>
          <p:cNvSpPr txBox="1"/>
          <p:nvPr/>
        </p:nvSpPr>
        <p:spPr>
          <a:xfrm>
            <a:off x="4617720" y="3105150"/>
            <a:ext cx="3017520" cy="274320"/>
          </a:xfrm>
          <a:prstGeom prst="rect">
            <a:avLst/>
          </a:prstGeom>
          <a:noFill/>
        </p:spPr>
        <p:txBody>
          <a:bodyPr wrap="square" lIns="0" tIns="0" rIns="0" bIns="0" anchor="t">
            <a:noAutofit/>
          </a:bodyPr>
          <a:lstStyle>
            <a:defPPr>
              <a:defRPr lang="en-US"/>
            </a:defPPr>
            <a:lvl1pPr>
              <a:defRPr sz="1600" b="1" i="0" u="none">
                <a:solidFill>
                  <a:srgbClr val="0F172A"/>
                </a:solidFill>
                <a:latin typeface="Aptos Narrow" panose="020B0004020202020204" pitchFamily="34" charset="0"/>
              </a:defRPr>
            </a:lvl1pPr>
          </a:lstStyle>
          <a:p>
            <a:r>
              <a:rPr dirty="0"/>
              <a:t>Financial Stress Index</a:t>
            </a:r>
          </a:p>
        </p:txBody>
      </p:sp>
      <p:sp>
        <p:nvSpPr>
          <p:cNvPr id="34" name="TextBox 33">
            <a:extLst>
              <a:ext uri="{FF2B5EF4-FFF2-40B4-BE49-F238E27FC236}">
                <a16:creationId xmlns:a16="http://schemas.microsoft.com/office/drawing/2014/main" id="{A89EA59F-57E4-E5B9-9DC9-89E1AB482675}"/>
              </a:ext>
            </a:extLst>
          </p:cNvPr>
          <p:cNvSpPr txBox="1"/>
          <p:nvPr/>
        </p:nvSpPr>
        <p:spPr>
          <a:xfrm>
            <a:off x="4617720" y="3400425"/>
            <a:ext cx="3017520" cy="182880"/>
          </a:xfrm>
          <a:prstGeom prst="rect">
            <a:avLst/>
          </a:prstGeom>
          <a:noFill/>
        </p:spPr>
        <p:txBody>
          <a:bodyPr wrap="square" lIns="0" tIns="0" rIns="0" bIns="0" anchor="t">
            <a:noAutofit/>
          </a:bodyPr>
          <a:lstStyle/>
          <a:p>
            <a:pPr algn="l"/>
            <a:r>
              <a:rPr sz="975" b="1" i="0" u="none" dirty="0">
                <a:solidFill>
                  <a:srgbClr val="D97706"/>
                </a:solidFill>
                <a:latin typeface="Aptos Narrow" panose="020B0004020202020204" pitchFamily="34" charset="0"/>
              </a:rPr>
              <a:t>Debtor + Unpaid Tuition + No Scholarship</a:t>
            </a:r>
          </a:p>
        </p:txBody>
      </p:sp>
      <p:sp>
        <p:nvSpPr>
          <p:cNvPr id="36" name="TextBox 35">
            <a:extLst>
              <a:ext uri="{FF2B5EF4-FFF2-40B4-BE49-F238E27FC236}">
                <a16:creationId xmlns:a16="http://schemas.microsoft.com/office/drawing/2014/main" id="{B4331AB0-26B6-0A08-6162-32732391CB76}"/>
              </a:ext>
            </a:extLst>
          </p:cNvPr>
          <p:cNvSpPr txBox="1"/>
          <p:nvPr/>
        </p:nvSpPr>
        <p:spPr>
          <a:xfrm>
            <a:off x="4617720" y="3657600"/>
            <a:ext cx="3017520" cy="502920"/>
          </a:xfrm>
          <a:prstGeom prst="rect">
            <a:avLst/>
          </a:prstGeom>
          <a:noFill/>
        </p:spPr>
        <p:txBody>
          <a:bodyPr wrap="square" lIns="0" tIns="0" rIns="0" bIns="0" anchor="t">
            <a:noAutofit/>
          </a:bodyPr>
          <a:lstStyle/>
          <a:p>
            <a:pPr algn="l">
              <a:lnSpc>
                <a:spcPts val="1575"/>
              </a:lnSpc>
            </a:pPr>
            <a:r>
              <a:rPr sz="1050" b="0" i="0" u="none" dirty="0">
                <a:solidFill>
                  <a:srgbClr val="475569"/>
                </a:solidFill>
                <a:latin typeface="Aptos Narrow" panose="020B0004020202020204" pitchFamily="34" charset="0"/>
              </a:rPr>
              <a:t>Counts three financial pressure points; dropout rises from 9.3% (level 0) to 88.8% (level 3).</a:t>
            </a:r>
          </a:p>
        </p:txBody>
      </p:sp>
      <p:sp>
        <p:nvSpPr>
          <p:cNvPr id="38" name="TextBox 37">
            <a:extLst>
              <a:ext uri="{FF2B5EF4-FFF2-40B4-BE49-F238E27FC236}">
                <a16:creationId xmlns:a16="http://schemas.microsoft.com/office/drawing/2014/main" id="{678C00AD-BF3B-D2E8-9BA8-C72FA1864122}"/>
              </a:ext>
            </a:extLst>
          </p:cNvPr>
          <p:cNvSpPr txBox="1"/>
          <p:nvPr/>
        </p:nvSpPr>
        <p:spPr>
          <a:xfrm>
            <a:off x="8357616" y="3105150"/>
            <a:ext cx="3017520" cy="274320"/>
          </a:xfrm>
          <a:prstGeom prst="rect">
            <a:avLst/>
          </a:prstGeom>
          <a:noFill/>
        </p:spPr>
        <p:txBody>
          <a:bodyPr wrap="square" lIns="0" tIns="0" rIns="0" bIns="0" anchor="t">
            <a:noAutofit/>
          </a:bodyPr>
          <a:lstStyle>
            <a:defPPr>
              <a:defRPr lang="en-US"/>
            </a:defPPr>
            <a:lvl1pPr>
              <a:defRPr sz="1600" b="1" i="0" u="none">
                <a:solidFill>
                  <a:srgbClr val="0F172A"/>
                </a:solidFill>
                <a:latin typeface="Aptos Narrow" panose="020B0004020202020204" pitchFamily="34" charset="0"/>
              </a:defRPr>
            </a:lvl1pPr>
          </a:lstStyle>
          <a:p>
            <a:r>
              <a:rPr dirty="0"/>
              <a:t>Approval Efficiency Ratio</a:t>
            </a:r>
          </a:p>
        </p:txBody>
      </p:sp>
      <p:sp>
        <p:nvSpPr>
          <p:cNvPr id="40" name="TextBox 39">
            <a:extLst>
              <a:ext uri="{FF2B5EF4-FFF2-40B4-BE49-F238E27FC236}">
                <a16:creationId xmlns:a16="http://schemas.microsoft.com/office/drawing/2014/main" id="{A9BB1F3D-C88E-8039-39B5-9EFBAA39BCC5}"/>
              </a:ext>
            </a:extLst>
          </p:cNvPr>
          <p:cNvSpPr txBox="1"/>
          <p:nvPr/>
        </p:nvSpPr>
        <p:spPr>
          <a:xfrm>
            <a:off x="8357616" y="3400425"/>
            <a:ext cx="3017520" cy="182880"/>
          </a:xfrm>
          <a:prstGeom prst="rect">
            <a:avLst/>
          </a:prstGeom>
          <a:noFill/>
        </p:spPr>
        <p:txBody>
          <a:bodyPr wrap="square" lIns="0" tIns="0" rIns="0" bIns="0" anchor="t">
            <a:noAutofit/>
          </a:bodyPr>
          <a:lstStyle/>
          <a:p>
            <a:pPr algn="l"/>
            <a:r>
              <a:rPr sz="975" b="1" i="0" u="none" dirty="0">
                <a:solidFill>
                  <a:srgbClr val="0F172A"/>
                </a:solidFill>
                <a:latin typeface="Aptos Narrow" panose="020B0004020202020204" pitchFamily="34" charset="0"/>
              </a:rPr>
              <a:t>Approved Units / Enrolled Units</a:t>
            </a:r>
          </a:p>
        </p:txBody>
      </p:sp>
      <p:sp>
        <p:nvSpPr>
          <p:cNvPr id="42" name="TextBox 41">
            <a:extLst>
              <a:ext uri="{FF2B5EF4-FFF2-40B4-BE49-F238E27FC236}">
                <a16:creationId xmlns:a16="http://schemas.microsoft.com/office/drawing/2014/main" id="{8F96F78C-177B-4C87-DAF1-EDA8844AC061}"/>
              </a:ext>
            </a:extLst>
          </p:cNvPr>
          <p:cNvSpPr txBox="1"/>
          <p:nvPr/>
        </p:nvSpPr>
        <p:spPr>
          <a:xfrm>
            <a:off x="8357616" y="3657600"/>
            <a:ext cx="3017520" cy="502920"/>
          </a:xfrm>
          <a:prstGeom prst="rect">
            <a:avLst/>
          </a:prstGeom>
          <a:noFill/>
        </p:spPr>
        <p:txBody>
          <a:bodyPr wrap="square" lIns="0" tIns="0" rIns="0" bIns="0" anchor="t">
            <a:noAutofit/>
          </a:bodyPr>
          <a:lstStyle/>
          <a:p>
            <a:pPr algn="l">
              <a:lnSpc>
                <a:spcPts val="1575"/>
              </a:lnSpc>
            </a:pPr>
            <a:r>
              <a:rPr sz="1050" b="0" i="0" u="none" dirty="0">
                <a:solidFill>
                  <a:srgbClr val="475569"/>
                </a:solidFill>
                <a:latin typeface="Aptos Narrow" panose="020B0004020202020204" pitchFamily="34" charset="0"/>
              </a:rPr>
              <a:t>Share of enrolled units a student passes, built separately for Semester 1 and Semester 2.</a:t>
            </a:r>
          </a:p>
        </p:txBody>
      </p:sp>
      <p:sp>
        <p:nvSpPr>
          <p:cNvPr id="5" name="Footer Placeholder 4">
            <a:extLst>
              <a:ext uri="{FF2B5EF4-FFF2-40B4-BE49-F238E27FC236}">
                <a16:creationId xmlns:a16="http://schemas.microsoft.com/office/drawing/2014/main" id="{E2D2CB65-175C-1ADE-8D89-344AFCEBE2E1}"/>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7" name="Slide Number Placeholder 6">
            <a:extLst>
              <a:ext uri="{FF2B5EF4-FFF2-40B4-BE49-F238E27FC236}">
                <a16:creationId xmlns:a16="http://schemas.microsoft.com/office/drawing/2014/main" id="{96CA13C2-6B85-5178-B426-0A5B6808D96E}"/>
              </a:ext>
            </a:extLst>
          </p:cNvPr>
          <p:cNvSpPr>
            <a:spLocks noGrp="1"/>
          </p:cNvSpPr>
          <p:nvPr>
            <p:ph type="sldNum" sz="quarter" idx="11"/>
          </p:nvPr>
        </p:nvSpPr>
        <p:spPr/>
        <p:txBody>
          <a:bodyPr/>
          <a:lstStyle/>
          <a:p>
            <a:fld id="{B67B645E-C5E5-4727-B977-D372A0AA71D9}" type="slidenum">
              <a:rPr lang="en-US" smtClean="0"/>
              <a:pPr/>
              <a:t>6</a:t>
            </a:fld>
            <a:endParaRPr lang="en-US" dirty="0"/>
          </a:p>
        </p:txBody>
      </p:sp>
      <p:sp>
        <p:nvSpPr>
          <p:cNvPr id="43" name="TextBox 42"/>
          <p:cNvSpPr txBox="1"/>
          <p:nvPr/>
        </p:nvSpPr>
        <p:spPr>
          <a:xfrm>
            <a:off x="886968" y="4279392"/>
            <a:ext cx="3017520" cy="228600"/>
          </a:xfrm>
          <a:prstGeom prst="rect">
            <a:avLst/>
          </a:prstGeom>
          <a:noFill/>
        </p:spPr>
        <p:txBody>
          <a:bodyPr wrap="square" lIns="0" rIns="0" tIns="0" bIns="0" anchor="t">
            <a:noAutofit/>
          </a:bodyPr>
          <a:lstStyle/>
          <a:p>
            <a:pPr algn="l"/>
            <a:r>
              <a:rPr sz="1100" b="1">
                <a:solidFill>
                  <a:srgbClr val="EF4444"/>
                </a:solidFill>
                <a:latin typeface="Aptos Narrow"/>
              </a:rPr>
              <a:t>Limited signal (outside the top 10)</a:t>
            </a:r>
          </a:p>
        </p:txBody>
      </p:sp>
      <p:sp>
        <p:nvSpPr>
          <p:cNvPr id="44" name="TextBox 43"/>
          <p:cNvSpPr txBox="1"/>
          <p:nvPr/>
        </p:nvSpPr>
        <p:spPr>
          <a:xfrm>
            <a:off x="4617720" y="4279392"/>
            <a:ext cx="3017520" cy="228600"/>
          </a:xfrm>
          <a:prstGeom prst="rect">
            <a:avLst/>
          </a:prstGeom>
          <a:noFill/>
        </p:spPr>
        <p:txBody>
          <a:bodyPr wrap="square" lIns="0" rIns="0" tIns="0" bIns="0" anchor="t">
            <a:noAutofit/>
          </a:bodyPr>
          <a:lstStyle/>
          <a:p>
            <a:pPr algn="l"/>
            <a:r>
              <a:rPr sz="1100" b="1">
                <a:solidFill>
                  <a:srgbClr val="D97706"/>
                </a:solidFill>
                <a:latin typeface="Aptos Narrow"/>
              </a:rPr>
              <a:t>Moderate signal (#7 of 38)</a:t>
            </a:r>
          </a:p>
        </p:txBody>
      </p:sp>
      <p:sp>
        <p:nvSpPr>
          <p:cNvPr id="45" name="TextBox 44"/>
          <p:cNvSpPr txBox="1"/>
          <p:nvPr/>
        </p:nvSpPr>
        <p:spPr>
          <a:xfrm>
            <a:off x="8357616" y="4279392"/>
            <a:ext cx="3017520" cy="228600"/>
          </a:xfrm>
          <a:prstGeom prst="rect">
            <a:avLst/>
          </a:prstGeom>
          <a:noFill/>
        </p:spPr>
        <p:txBody>
          <a:bodyPr wrap="square" lIns="0" rIns="0" tIns="0" bIns="0" anchor="t">
            <a:noAutofit/>
          </a:bodyPr>
          <a:lstStyle/>
          <a:p>
            <a:pPr algn="l"/>
            <a:r>
              <a:rPr sz="1100" b="1">
                <a:solidFill>
                  <a:srgbClr val="10B981"/>
                </a:solidFill>
                <a:latin typeface="Aptos Narrow"/>
              </a:rPr>
              <a:t>Strongest signal (#1 and #2)</a:t>
            </a:r>
          </a:p>
        </p:txBody>
      </p:sp>
    </p:spTree>
    <p:extLst>
      <p:ext uri="{BB962C8B-B14F-4D97-AF65-F5344CB8AC3E}">
        <p14:creationId xmlns:p14="http://schemas.microsoft.com/office/powerpoint/2010/main" val="380955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AB1DC915-417F-53FF-FB41-C14DEBFE3D52}"/>
              </a:ext>
            </a:extLst>
          </p:cNvPr>
          <p:cNvSpPr txBox="1"/>
          <p:nvPr/>
        </p:nvSpPr>
        <p:spPr>
          <a:xfrm>
            <a:off x="609600" y="457200"/>
            <a:ext cx="5486400" cy="182880"/>
          </a:xfrm>
          <a:prstGeom prst="rect">
            <a:avLst/>
          </a:prstGeom>
          <a:noFill/>
        </p:spPr>
        <p:txBody>
          <a:bodyPr wrap="square" lIns="0" tIns="0" rIns="0" bIns="0" anchor="t">
            <a:noAutofit/>
          </a:bodyPr>
          <a:lstStyle>
            <a:defPPr>
              <a:defRPr lang="en-US"/>
            </a:defPPr>
            <a:lvl1pPr>
              <a:defRPr sz="1000" b="1" i="0" u="none">
                <a:solidFill>
                  <a:srgbClr val="0284C7"/>
                </a:solidFill>
                <a:latin typeface="+mj-lt"/>
              </a:defRPr>
            </a:lvl1pPr>
          </a:lstStyle>
          <a:p>
            <a:r>
              <a:rPr dirty="0"/>
              <a:t>MODEL EVALUATION</a:t>
            </a:r>
          </a:p>
        </p:txBody>
      </p:sp>
      <p:sp>
        <p:nvSpPr>
          <p:cNvPr id="16" name="TextBox 15">
            <a:extLst>
              <a:ext uri="{FF2B5EF4-FFF2-40B4-BE49-F238E27FC236}">
                <a16:creationId xmlns:a16="http://schemas.microsoft.com/office/drawing/2014/main" id="{0B3FE0BF-512D-DF5A-B42F-FF0DE112A916}"/>
              </a:ext>
            </a:extLst>
          </p:cNvPr>
          <p:cNvSpPr txBox="1"/>
          <p:nvPr/>
        </p:nvSpPr>
        <p:spPr>
          <a:xfrm>
            <a:off x="609600" y="666750"/>
            <a:ext cx="10972800" cy="457200"/>
          </a:xfrm>
          <a:prstGeom prst="rect">
            <a:avLst/>
          </a:prstGeom>
          <a:noFill/>
        </p:spPr>
        <p:txBody>
          <a:bodyPr wrap="square" lIns="0" tIns="0" rIns="0" bIns="0" anchor="t">
            <a:noAutofit/>
          </a:bodyPr>
          <a:lstStyle>
            <a:defPPr>
              <a:defRPr lang="en-US"/>
            </a:defPPr>
            <a:lvl1pPr>
              <a:defRPr sz="2400" b="1" i="0" u="none">
                <a:solidFill>
                  <a:srgbClr val="0F172A"/>
                </a:solidFill>
                <a:latin typeface="Aptos Narrow" panose="020B0004020202020204" pitchFamily="34" charset="0"/>
              </a:defRPr>
            </a:lvl1pPr>
          </a:lstStyle>
          <a:p>
            <a:r>
              <a:rPr dirty="0"/>
              <a:t>Four Algorithms, One Selection Rule: Cross-Validated F2</a:t>
            </a:r>
          </a:p>
        </p:txBody>
      </p:sp>
      <p:sp>
        <p:nvSpPr>
          <p:cNvPr id="5" name="Footer Placeholder 4">
            <a:extLst>
              <a:ext uri="{FF2B5EF4-FFF2-40B4-BE49-F238E27FC236}">
                <a16:creationId xmlns:a16="http://schemas.microsoft.com/office/drawing/2014/main" id="{5009FBBA-3894-78D3-7C10-FBF1D2955AC4}"/>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7" name="Slide Number Placeholder 6">
            <a:extLst>
              <a:ext uri="{FF2B5EF4-FFF2-40B4-BE49-F238E27FC236}">
                <a16:creationId xmlns:a16="http://schemas.microsoft.com/office/drawing/2014/main" id="{646504EC-8502-72AF-7157-3AE00C0945AB}"/>
              </a:ext>
            </a:extLst>
          </p:cNvPr>
          <p:cNvSpPr>
            <a:spLocks noGrp="1"/>
          </p:cNvSpPr>
          <p:nvPr>
            <p:ph type="sldNum" sz="quarter" idx="11"/>
          </p:nvPr>
        </p:nvSpPr>
        <p:spPr/>
        <p:txBody>
          <a:bodyPr/>
          <a:lstStyle/>
          <a:p>
            <a:fld id="{B67B645E-C5E5-4727-B977-D372A0AA71D9}" type="slidenum">
              <a:rPr lang="en-US" smtClean="0"/>
              <a:pPr/>
              <a:t>7</a:t>
            </a:fld>
            <a:endParaRPr lang="en-US" dirty="0"/>
          </a:p>
        </p:txBody>
      </p:sp>
      <p:sp>
        <p:nvSpPr>
          <p:cNvPr id="17" name="Rounded Rectangle 16"/>
          <p:cNvSpPr/>
          <p:nvPr/>
        </p:nvSpPr>
        <p:spPr>
          <a:xfrm>
            <a:off x="612648" y="1554480"/>
            <a:ext cx="6675120" cy="292608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8" name="Table 17"/>
          <p:cNvGraphicFramePr>
            <a:graphicFrameLocks noGrp="1"/>
          </p:cNvGraphicFramePr>
          <p:nvPr/>
        </p:nvGraphicFramePr>
        <p:xfrm>
          <a:off x="749808" y="1691640"/>
          <a:ext cx="6400800" cy="2286000"/>
        </p:xfrm>
        <a:graphic>
          <a:graphicData uri="http://schemas.openxmlformats.org/drawingml/2006/table">
            <a:tbl>
              <a:tblPr firstRow="0" bandRow="0">
                <a:tableStyleId>{5C22544A-7EE6-4342-B048-85BDC9FD1C3A}</a:tableStyleId>
              </a:tblPr>
              <a:tblGrid>
                <a:gridCol w="2011680"/>
                <a:gridCol w="822960"/>
                <a:gridCol w="868680"/>
                <a:gridCol w="960120"/>
                <a:gridCol w="777240"/>
                <a:gridCol w="960120"/>
              </a:tblGrid>
              <a:tr h="457200">
                <a:tc>
                  <a:txBody>
                    <a:bodyPr wrap="square"/>
                    <a:lstStyle/>
                    <a:p>
                      <a:pPr algn="l"/>
                      <a:r>
                        <a:rPr sz="1100" b="1">
                          <a:solidFill>
                            <a:srgbClr val="FFFFFF"/>
                          </a:solidFill>
                          <a:latin typeface="Aptos Narrow"/>
                        </a:rPr>
                        <a:t>Algorithm</a:t>
                      </a:r>
                    </a:p>
                  </a:txBody>
                  <a:tcPr marL="73152" marR="73152" marT="27432" marB="27432" anchor="ctr">
                    <a:solidFill>
                      <a:srgbClr val="0F172A"/>
                    </a:solidFill>
                  </a:tcPr>
                </a:tc>
                <a:tc>
                  <a:txBody>
                    <a:bodyPr wrap="square"/>
                    <a:lstStyle/>
                    <a:p>
                      <a:pPr algn="ctr"/>
                      <a:r>
                        <a:rPr sz="1100" b="1">
                          <a:solidFill>
                            <a:srgbClr val="FFFFFF"/>
                          </a:solidFill>
                          <a:latin typeface="Aptos Narrow"/>
                        </a:rPr>
                        <a:t>CV F2</a:t>
                      </a:r>
                    </a:p>
                  </a:txBody>
                  <a:tcPr marL="73152" marR="73152" marT="27432" marB="27432" anchor="ctr">
                    <a:solidFill>
                      <a:srgbClr val="0F172A"/>
                    </a:solidFill>
                  </a:tcPr>
                </a:tc>
                <a:tc>
                  <a:txBody>
                    <a:bodyPr wrap="square"/>
                    <a:lstStyle/>
                    <a:p>
                      <a:pPr algn="ctr"/>
                      <a:r>
                        <a:rPr sz="1100" b="1">
                          <a:solidFill>
                            <a:srgbClr val="FFFFFF"/>
                          </a:solidFill>
                          <a:latin typeface="Aptos Narrow"/>
                        </a:rPr>
                        <a:t>Recall</a:t>
                      </a:r>
                    </a:p>
                  </a:txBody>
                  <a:tcPr marL="73152" marR="73152" marT="27432" marB="27432" anchor="ctr">
                    <a:solidFill>
                      <a:srgbClr val="0F172A"/>
                    </a:solidFill>
                  </a:tcPr>
                </a:tc>
                <a:tc>
                  <a:txBody>
                    <a:bodyPr wrap="square"/>
                    <a:lstStyle/>
                    <a:p>
                      <a:pPr algn="ctr"/>
                      <a:r>
                        <a:rPr sz="1100" b="1">
                          <a:solidFill>
                            <a:srgbClr val="FFFFFF"/>
                          </a:solidFill>
                          <a:latin typeface="Aptos Narrow"/>
                        </a:rPr>
                        <a:t>Precision</a:t>
                      </a:r>
                    </a:p>
                  </a:txBody>
                  <a:tcPr marL="73152" marR="73152" marT="27432" marB="27432" anchor="ctr">
                    <a:solidFill>
                      <a:srgbClr val="0F172A"/>
                    </a:solidFill>
                  </a:tcPr>
                </a:tc>
                <a:tc>
                  <a:txBody>
                    <a:bodyPr wrap="square"/>
                    <a:lstStyle/>
                    <a:p>
                      <a:pPr algn="ctr"/>
                      <a:r>
                        <a:rPr sz="1100" b="1">
                          <a:solidFill>
                            <a:srgbClr val="FFFFFF"/>
                          </a:solidFill>
                          <a:latin typeface="Aptos Narrow"/>
                        </a:rPr>
                        <a:t>F2</a:t>
                      </a:r>
                    </a:p>
                  </a:txBody>
                  <a:tcPr marL="73152" marR="73152" marT="27432" marB="27432" anchor="ctr">
                    <a:solidFill>
                      <a:srgbClr val="0F172A"/>
                    </a:solidFill>
                  </a:tcPr>
                </a:tc>
                <a:tc>
                  <a:txBody>
                    <a:bodyPr wrap="square"/>
                    <a:lstStyle/>
                    <a:p>
                      <a:pPr algn="ctr"/>
                      <a:r>
                        <a:rPr sz="1100" b="1">
                          <a:solidFill>
                            <a:srgbClr val="FFFFFF"/>
                          </a:solidFill>
                          <a:latin typeface="Aptos Narrow"/>
                        </a:rPr>
                        <a:t>ROC-AUC</a:t>
                      </a:r>
                    </a:p>
                  </a:txBody>
                  <a:tcPr marL="73152" marR="73152" marT="27432" marB="27432" anchor="ctr">
                    <a:solidFill>
                      <a:srgbClr val="0F172A"/>
                    </a:solidFill>
                  </a:tcPr>
                </a:tc>
              </a:tr>
              <a:tr h="457200">
                <a:tc>
                  <a:txBody>
                    <a:bodyPr wrap="square"/>
                    <a:lstStyle/>
                    <a:p>
                      <a:pPr algn="l"/>
                      <a:r>
                        <a:rPr sz="1100" b="1">
                          <a:solidFill>
                            <a:srgbClr val="0284C7"/>
                          </a:solidFill>
                          <a:latin typeface="Aptos Narrow"/>
                        </a:rPr>
                        <a:t>XGBoost (Selected)</a:t>
                      </a:r>
                    </a:p>
                  </a:txBody>
                  <a:tcPr marL="73152" marR="73152" marT="27432" marB="27432" anchor="ctr">
                    <a:solidFill>
                      <a:srgbClr val="E0F2FE"/>
                    </a:solidFill>
                  </a:tcPr>
                </a:tc>
                <a:tc>
                  <a:txBody>
                    <a:bodyPr wrap="square"/>
                    <a:lstStyle/>
                    <a:p>
                      <a:pPr algn="ctr"/>
                      <a:r>
                        <a:rPr sz="1100" b="1">
                          <a:solidFill>
                            <a:srgbClr val="0284C7"/>
                          </a:solidFill>
                          <a:latin typeface="Aptos Narrow"/>
                        </a:rPr>
                        <a:t>0.825</a:t>
                      </a:r>
                    </a:p>
                  </a:txBody>
                  <a:tcPr marL="73152" marR="73152" marT="27432" marB="27432" anchor="ctr">
                    <a:solidFill>
                      <a:srgbClr val="E0F2FE"/>
                    </a:solidFill>
                  </a:tcPr>
                </a:tc>
                <a:tc>
                  <a:txBody>
                    <a:bodyPr wrap="square"/>
                    <a:lstStyle/>
                    <a:p>
                      <a:pPr algn="ctr"/>
                      <a:r>
                        <a:rPr sz="1100" b="1">
                          <a:solidFill>
                            <a:srgbClr val="0284C7"/>
                          </a:solidFill>
                          <a:latin typeface="Aptos Narrow"/>
                        </a:rPr>
                        <a:t>0.912</a:t>
                      </a:r>
                    </a:p>
                  </a:txBody>
                  <a:tcPr marL="73152" marR="73152" marT="27432" marB="27432" anchor="ctr">
                    <a:solidFill>
                      <a:srgbClr val="E0F2FE"/>
                    </a:solidFill>
                  </a:tcPr>
                </a:tc>
                <a:tc>
                  <a:txBody>
                    <a:bodyPr wrap="square"/>
                    <a:lstStyle/>
                    <a:p>
                      <a:pPr algn="ctr"/>
                      <a:r>
                        <a:rPr sz="1100" b="1">
                          <a:solidFill>
                            <a:srgbClr val="0284C7"/>
                          </a:solidFill>
                          <a:latin typeface="Aptos Narrow"/>
                        </a:rPr>
                        <a:t>0.685</a:t>
                      </a:r>
                    </a:p>
                  </a:txBody>
                  <a:tcPr marL="73152" marR="73152" marT="27432" marB="27432" anchor="ctr">
                    <a:solidFill>
                      <a:srgbClr val="E0F2FE"/>
                    </a:solidFill>
                  </a:tcPr>
                </a:tc>
                <a:tc>
                  <a:txBody>
                    <a:bodyPr wrap="square"/>
                    <a:lstStyle/>
                    <a:p>
                      <a:pPr algn="ctr"/>
                      <a:r>
                        <a:rPr sz="1100" b="1">
                          <a:solidFill>
                            <a:srgbClr val="0284C7"/>
                          </a:solidFill>
                          <a:latin typeface="Aptos Narrow"/>
                        </a:rPr>
                        <a:t>0.855</a:t>
                      </a:r>
                    </a:p>
                  </a:txBody>
                  <a:tcPr marL="73152" marR="73152" marT="27432" marB="27432" anchor="ctr">
                    <a:solidFill>
                      <a:srgbClr val="E0F2FE"/>
                    </a:solidFill>
                  </a:tcPr>
                </a:tc>
                <a:tc>
                  <a:txBody>
                    <a:bodyPr wrap="square"/>
                    <a:lstStyle/>
                    <a:p>
                      <a:pPr algn="ctr"/>
                      <a:r>
                        <a:rPr sz="1100" b="1">
                          <a:solidFill>
                            <a:srgbClr val="0284C7"/>
                          </a:solidFill>
                          <a:latin typeface="Aptos Narrow"/>
                        </a:rPr>
                        <a:t>0.937</a:t>
                      </a:r>
                    </a:p>
                  </a:txBody>
                  <a:tcPr marL="73152" marR="73152" marT="27432" marB="27432" anchor="ctr">
                    <a:solidFill>
                      <a:srgbClr val="E0F2FE"/>
                    </a:solidFill>
                  </a:tcPr>
                </a:tc>
              </a:tr>
              <a:tr h="457200">
                <a:tc>
                  <a:txBody>
                    <a:bodyPr wrap="square"/>
                    <a:lstStyle/>
                    <a:p>
                      <a:pPr algn="l"/>
                      <a:r>
                        <a:rPr sz="1100" b="1">
                          <a:solidFill>
                            <a:srgbClr val="0F172A"/>
                          </a:solidFill>
                          <a:latin typeface="Aptos Narrow"/>
                        </a:rPr>
                        <a:t>Logistic Regression</a:t>
                      </a:r>
                    </a:p>
                  </a:txBody>
                  <a:tcPr marL="73152" marR="73152" marT="27432" marB="27432" anchor="ctr">
                    <a:solidFill>
                      <a:srgbClr val="FFFFFF"/>
                    </a:solidFill>
                  </a:tcPr>
                </a:tc>
                <a:tc>
                  <a:txBody>
                    <a:bodyPr wrap="square"/>
                    <a:lstStyle/>
                    <a:p>
                      <a:pPr algn="ctr"/>
                      <a:r>
                        <a:rPr sz="1100" b="0">
                          <a:solidFill>
                            <a:srgbClr val="0F172A"/>
                          </a:solidFill>
                          <a:latin typeface="Aptos Narrow"/>
                        </a:rPr>
                        <a:t>0.806</a:t>
                      </a:r>
                    </a:p>
                  </a:txBody>
                  <a:tcPr marL="73152" marR="73152" marT="27432" marB="27432" anchor="ctr">
                    <a:solidFill>
                      <a:srgbClr val="FFFFFF"/>
                    </a:solidFill>
                  </a:tcPr>
                </a:tc>
                <a:tc>
                  <a:txBody>
                    <a:bodyPr wrap="square"/>
                    <a:lstStyle/>
                    <a:p>
                      <a:pPr algn="ctr"/>
                      <a:r>
                        <a:rPr sz="1100" b="0">
                          <a:solidFill>
                            <a:srgbClr val="0F172A"/>
                          </a:solidFill>
                          <a:latin typeface="Aptos Narrow"/>
                        </a:rPr>
                        <a:t>0.835</a:t>
                      </a:r>
                    </a:p>
                  </a:txBody>
                  <a:tcPr marL="73152" marR="73152" marT="27432" marB="27432" anchor="ctr">
                    <a:solidFill>
                      <a:srgbClr val="FFFFFF"/>
                    </a:solidFill>
                  </a:tcPr>
                </a:tc>
                <a:tc>
                  <a:txBody>
                    <a:bodyPr wrap="square"/>
                    <a:lstStyle/>
                    <a:p>
                      <a:pPr algn="ctr"/>
                      <a:r>
                        <a:rPr sz="1100" b="0">
                          <a:solidFill>
                            <a:srgbClr val="0F172A"/>
                          </a:solidFill>
                          <a:latin typeface="Aptos Narrow"/>
                        </a:rPr>
                        <a:t>0.780</a:t>
                      </a:r>
                    </a:p>
                  </a:txBody>
                  <a:tcPr marL="73152" marR="73152" marT="27432" marB="27432" anchor="ctr">
                    <a:solidFill>
                      <a:srgbClr val="FFFFFF"/>
                    </a:solidFill>
                  </a:tcPr>
                </a:tc>
                <a:tc>
                  <a:txBody>
                    <a:bodyPr wrap="square"/>
                    <a:lstStyle/>
                    <a:p>
                      <a:pPr algn="ctr"/>
                      <a:r>
                        <a:rPr sz="1100" b="0">
                          <a:solidFill>
                            <a:srgbClr val="0F172A"/>
                          </a:solidFill>
                          <a:latin typeface="Aptos Narrow"/>
                        </a:rPr>
                        <a:t>0.823</a:t>
                      </a:r>
                    </a:p>
                  </a:txBody>
                  <a:tcPr marL="73152" marR="73152" marT="27432" marB="27432" anchor="ctr">
                    <a:solidFill>
                      <a:srgbClr val="FFFFFF"/>
                    </a:solidFill>
                  </a:tcPr>
                </a:tc>
                <a:tc>
                  <a:txBody>
                    <a:bodyPr wrap="square"/>
                    <a:lstStyle/>
                    <a:p>
                      <a:pPr algn="ctr"/>
                      <a:r>
                        <a:rPr sz="1100" b="0">
                          <a:solidFill>
                            <a:srgbClr val="0F172A"/>
                          </a:solidFill>
                          <a:latin typeface="Aptos Narrow"/>
                        </a:rPr>
                        <a:t>0.928</a:t>
                      </a:r>
                    </a:p>
                  </a:txBody>
                  <a:tcPr marL="73152" marR="73152" marT="27432" marB="27432" anchor="ctr">
                    <a:solidFill>
                      <a:srgbClr val="FFFFFF"/>
                    </a:solidFill>
                  </a:tcPr>
                </a:tc>
              </a:tr>
              <a:tr h="457200">
                <a:tc>
                  <a:txBody>
                    <a:bodyPr wrap="square"/>
                    <a:lstStyle/>
                    <a:p>
                      <a:pPr algn="l"/>
                      <a:r>
                        <a:rPr sz="1100" b="1">
                          <a:solidFill>
                            <a:srgbClr val="0F172A"/>
                          </a:solidFill>
                          <a:latin typeface="Aptos Narrow"/>
                        </a:rPr>
                        <a:t>LightGBM</a:t>
                      </a:r>
                    </a:p>
                  </a:txBody>
                  <a:tcPr marL="73152" marR="73152" marT="27432" marB="27432" anchor="ctr">
                    <a:solidFill>
                      <a:srgbClr val="FFFFFF"/>
                    </a:solidFill>
                  </a:tcPr>
                </a:tc>
                <a:tc>
                  <a:txBody>
                    <a:bodyPr wrap="square"/>
                    <a:lstStyle/>
                    <a:p>
                      <a:pPr algn="ctr"/>
                      <a:r>
                        <a:rPr sz="1100" b="0">
                          <a:solidFill>
                            <a:srgbClr val="0F172A"/>
                          </a:solidFill>
                          <a:latin typeface="Aptos Narrow"/>
                        </a:rPr>
                        <a:t>0.803</a:t>
                      </a:r>
                    </a:p>
                  </a:txBody>
                  <a:tcPr marL="73152" marR="73152" marT="27432" marB="27432" anchor="ctr">
                    <a:solidFill>
                      <a:srgbClr val="FFFFFF"/>
                    </a:solidFill>
                  </a:tcPr>
                </a:tc>
                <a:tc>
                  <a:txBody>
                    <a:bodyPr wrap="square"/>
                    <a:lstStyle/>
                    <a:p>
                      <a:pPr algn="ctr"/>
                      <a:r>
                        <a:rPr sz="1100" b="0">
                          <a:solidFill>
                            <a:srgbClr val="0F172A"/>
                          </a:solidFill>
                          <a:latin typeface="Aptos Narrow"/>
                        </a:rPr>
                        <a:t>0.852</a:t>
                      </a:r>
                    </a:p>
                  </a:txBody>
                  <a:tcPr marL="73152" marR="73152" marT="27432" marB="27432" anchor="ctr">
                    <a:solidFill>
                      <a:srgbClr val="FFFFFF"/>
                    </a:solidFill>
                  </a:tcPr>
                </a:tc>
                <a:tc>
                  <a:txBody>
                    <a:bodyPr wrap="square"/>
                    <a:lstStyle/>
                    <a:p>
                      <a:pPr algn="ctr"/>
                      <a:r>
                        <a:rPr sz="1100" b="0">
                          <a:solidFill>
                            <a:srgbClr val="0F172A"/>
                          </a:solidFill>
                          <a:latin typeface="Aptos Narrow"/>
                        </a:rPr>
                        <a:t>0.783</a:t>
                      </a:r>
                    </a:p>
                  </a:txBody>
                  <a:tcPr marL="73152" marR="73152" marT="27432" marB="27432" anchor="ctr">
                    <a:solidFill>
                      <a:srgbClr val="FFFFFF"/>
                    </a:solidFill>
                  </a:tcPr>
                </a:tc>
                <a:tc>
                  <a:txBody>
                    <a:bodyPr wrap="square"/>
                    <a:lstStyle/>
                    <a:p>
                      <a:pPr algn="ctr"/>
                      <a:r>
                        <a:rPr sz="1100" b="0">
                          <a:solidFill>
                            <a:srgbClr val="0F172A"/>
                          </a:solidFill>
                          <a:latin typeface="Aptos Narrow"/>
                        </a:rPr>
                        <a:t>0.837</a:t>
                      </a:r>
                    </a:p>
                  </a:txBody>
                  <a:tcPr marL="73152" marR="73152" marT="27432" marB="27432" anchor="ctr">
                    <a:solidFill>
                      <a:srgbClr val="FFFFFF"/>
                    </a:solidFill>
                  </a:tcPr>
                </a:tc>
                <a:tc>
                  <a:txBody>
                    <a:bodyPr wrap="square"/>
                    <a:lstStyle/>
                    <a:p>
                      <a:pPr algn="ctr"/>
                      <a:r>
                        <a:rPr sz="1100" b="0">
                          <a:solidFill>
                            <a:srgbClr val="0F172A"/>
                          </a:solidFill>
                          <a:latin typeface="Aptos Narrow"/>
                        </a:rPr>
                        <a:t>0.935</a:t>
                      </a:r>
                    </a:p>
                  </a:txBody>
                  <a:tcPr marL="73152" marR="73152" marT="27432" marB="27432" anchor="ctr">
                    <a:solidFill>
                      <a:srgbClr val="FFFFFF"/>
                    </a:solidFill>
                  </a:tcPr>
                </a:tc>
              </a:tr>
              <a:tr h="457200">
                <a:tc>
                  <a:txBody>
                    <a:bodyPr wrap="square"/>
                    <a:lstStyle/>
                    <a:p>
                      <a:pPr algn="l"/>
                      <a:r>
                        <a:rPr sz="1100" b="1">
                          <a:solidFill>
                            <a:srgbClr val="0F172A"/>
                          </a:solidFill>
                          <a:latin typeface="Aptos Narrow"/>
                        </a:rPr>
                        <a:t>Random Forest</a:t>
                      </a:r>
                    </a:p>
                  </a:txBody>
                  <a:tcPr marL="73152" marR="73152" marT="27432" marB="27432" anchor="ctr">
                    <a:solidFill>
                      <a:srgbClr val="FFFFFF"/>
                    </a:solidFill>
                  </a:tcPr>
                </a:tc>
                <a:tc>
                  <a:txBody>
                    <a:bodyPr wrap="square"/>
                    <a:lstStyle/>
                    <a:p>
                      <a:pPr algn="ctr"/>
                      <a:r>
                        <a:rPr sz="1100" b="0">
                          <a:solidFill>
                            <a:srgbClr val="0F172A"/>
                          </a:solidFill>
                          <a:latin typeface="Aptos Narrow"/>
                        </a:rPr>
                        <a:t>0.793</a:t>
                      </a:r>
                    </a:p>
                  </a:txBody>
                  <a:tcPr marL="73152" marR="73152" marT="27432" marB="27432" anchor="ctr">
                    <a:solidFill>
                      <a:srgbClr val="FFFFFF"/>
                    </a:solidFill>
                  </a:tcPr>
                </a:tc>
                <a:tc>
                  <a:txBody>
                    <a:bodyPr wrap="square"/>
                    <a:lstStyle/>
                    <a:p>
                      <a:pPr algn="ctr"/>
                      <a:r>
                        <a:rPr sz="1100" b="0">
                          <a:solidFill>
                            <a:srgbClr val="0F172A"/>
                          </a:solidFill>
                          <a:latin typeface="Aptos Narrow"/>
                        </a:rPr>
                        <a:t>0.835</a:t>
                      </a:r>
                    </a:p>
                  </a:txBody>
                  <a:tcPr marL="73152" marR="73152" marT="27432" marB="27432" anchor="ctr">
                    <a:solidFill>
                      <a:srgbClr val="FFFFFF"/>
                    </a:solidFill>
                  </a:tcPr>
                </a:tc>
                <a:tc>
                  <a:txBody>
                    <a:bodyPr wrap="square"/>
                    <a:lstStyle/>
                    <a:p>
                      <a:pPr algn="ctr"/>
                      <a:r>
                        <a:rPr sz="1100" b="0">
                          <a:solidFill>
                            <a:srgbClr val="0F172A"/>
                          </a:solidFill>
                          <a:latin typeface="Aptos Narrow"/>
                        </a:rPr>
                        <a:t>0.785</a:t>
                      </a:r>
                    </a:p>
                  </a:txBody>
                  <a:tcPr marL="73152" marR="73152" marT="27432" marB="27432" anchor="ctr">
                    <a:solidFill>
                      <a:srgbClr val="FFFFFF"/>
                    </a:solidFill>
                  </a:tcPr>
                </a:tc>
                <a:tc>
                  <a:txBody>
                    <a:bodyPr wrap="square"/>
                    <a:lstStyle/>
                    <a:p>
                      <a:pPr algn="ctr"/>
                      <a:r>
                        <a:rPr sz="1100" b="0">
                          <a:solidFill>
                            <a:srgbClr val="0F172A"/>
                          </a:solidFill>
                          <a:latin typeface="Aptos Narrow"/>
                        </a:rPr>
                        <a:t>0.824</a:t>
                      </a:r>
                    </a:p>
                  </a:txBody>
                  <a:tcPr marL="73152" marR="73152" marT="27432" marB="27432" anchor="ctr">
                    <a:solidFill>
                      <a:srgbClr val="FFFFFF"/>
                    </a:solidFill>
                  </a:tcPr>
                </a:tc>
                <a:tc>
                  <a:txBody>
                    <a:bodyPr wrap="square"/>
                    <a:lstStyle/>
                    <a:p>
                      <a:pPr algn="ctr"/>
                      <a:r>
                        <a:rPr sz="1100" b="0">
                          <a:solidFill>
                            <a:srgbClr val="0F172A"/>
                          </a:solidFill>
                          <a:latin typeface="Aptos Narrow"/>
                        </a:rPr>
                        <a:t>0.929</a:t>
                      </a:r>
                    </a:p>
                  </a:txBody>
                  <a:tcPr marL="73152" marR="73152" marT="27432" marB="27432" anchor="ctr">
                    <a:solidFill>
                      <a:srgbClr val="FFFFFF"/>
                    </a:solidFill>
                  </a:tcPr>
                </a:tc>
              </a:tr>
            </a:tbl>
          </a:graphicData>
        </a:graphic>
      </p:graphicFrame>
      <p:sp>
        <p:nvSpPr>
          <p:cNvPr id="19" name="TextBox 18"/>
          <p:cNvSpPr txBox="1"/>
          <p:nvPr/>
        </p:nvSpPr>
        <p:spPr>
          <a:xfrm>
            <a:off x="777240" y="4069080"/>
            <a:ext cx="6400800" cy="365760"/>
          </a:xfrm>
          <a:prstGeom prst="rect">
            <a:avLst/>
          </a:prstGeom>
          <a:noFill/>
        </p:spPr>
        <p:txBody>
          <a:bodyPr wrap="square" lIns="0" rIns="0" tIns="0" bIns="0" anchor="t">
            <a:noAutofit/>
          </a:bodyPr>
          <a:lstStyle/>
          <a:p>
            <a:pPr algn="l"/>
            <a:r>
              <a:rPr sz="1050" b="0">
                <a:solidFill>
                  <a:srgbClr val="64748B"/>
                </a:solidFill>
                <a:latin typeface="Aptos Narrow"/>
              </a:rPr>
              <a:t>Ranked by 5-fold cross-validated F2 on the training set. Recall, precision, F2 and ROC-AUC are hold-out results (885 students) at threshold 0.50.</a:t>
            </a:r>
          </a:p>
        </p:txBody>
      </p:sp>
      <p:sp>
        <p:nvSpPr>
          <p:cNvPr id="20" name="Rounded Rectangle 19"/>
          <p:cNvSpPr/>
          <p:nvPr/>
        </p:nvSpPr>
        <p:spPr>
          <a:xfrm>
            <a:off x="7498079" y="1554480"/>
            <a:ext cx="4087368" cy="292608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26679" y="1691640"/>
            <a:ext cx="3657600" cy="2651760"/>
          </a:xfrm>
          <a:prstGeom prst="rect">
            <a:avLst/>
          </a:prstGeom>
          <a:noFill/>
        </p:spPr>
        <p:txBody>
          <a:bodyPr wrap="square" lIns="0" rIns="0" tIns="0" bIns="0" anchor="t">
            <a:noAutofit/>
          </a:bodyPr>
          <a:lstStyle/>
          <a:p>
            <a:pPr algn="l">
              <a:spcAft>
                <a:spcPts val="200"/>
              </a:spcAft>
            </a:pPr>
            <a:r>
              <a:rPr sz="900" b="1">
                <a:solidFill>
                  <a:srgbClr val="0F172A"/>
                </a:solidFill>
                <a:latin typeface="Aptos Narrow"/>
              </a:rPr>
              <a:t>SELECTION RULE</a:t>
            </a:r>
          </a:p>
          <a:p>
            <a:pPr algn="l">
              <a:spcAft>
                <a:spcPts val="600"/>
              </a:spcAft>
            </a:pPr>
            <a:r>
              <a:rPr sz="1800" b="1">
                <a:solidFill>
                  <a:srgbClr val="0F172A"/>
                </a:solidFill>
                <a:latin typeface="Aptos Narrow"/>
              </a:rPr>
              <a:t>Why XGBoost Leads</a:t>
            </a:r>
          </a:p>
          <a:p>
            <a:pPr algn="l">
              <a:spcAft>
                <a:spcPts val="800"/>
              </a:spcAft>
            </a:pPr>
            <a:r>
              <a:rPr sz="1100" b="0">
                <a:solidFill>
                  <a:srgbClr val="475569"/>
                </a:solidFill>
                <a:latin typeface="Aptos Narrow"/>
              </a:rPr>
              <a:t>It ranks first on cross-validated F2 (0.825) and has the highest hold-out recall (91.2%). Its margin over the runner-up is within one fold standard deviation (0.020), so the choice is a judgement call. The others trade 6 to 8 points of recall for about 10 points of precision.</a:t>
            </a:r>
          </a:p>
          <a:p>
            <a:pPr algn="l"/>
            <a:r>
              <a:rPr sz="1150" b="1">
                <a:solidFill>
                  <a:srgbClr val="64748B"/>
                </a:solidFill>
                <a:latin typeface="Aptos Narrow"/>
              </a:rPr>
              <a:t>Target recall ≥ 85%:  </a:t>
            </a:r>
            <a:r>
              <a:rPr sz="1150" b="1">
                <a:solidFill>
                  <a:srgbClr val="10B981"/>
                </a:solidFill>
                <a:latin typeface="Aptos Narrow"/>
              </a:rPr>
              <a:t>PASSED (91.2%)</a:t>
            </a:r>
          </a:p>
        </p:txBody>
      </p:sp>
      <p:sp>
        <p:nvSpPr>
          <p:cNvPr id="22" name="Rounded Rectangle 21"/>
          <p:cNvSpPr/>
          <p:nvPr/>
        </p:nvSpPr>
        <p:spPr>
          <a:xfrm>
            <a:off x="612648" y="4663440"/>
            <a:ext cx="10972800" cy="1371600"/>
          </a:xfrm>
          <a:prstGeom prst="roundRect">
            <a:avLst>
              <a:gd name="adj" fmla="val 6000"/>
            </a:avLst>
          </a:prstGeom>
          <a:solidFill>
            <a:srgbClr val="0F172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 y="4754880"/>
            <a:ext cx="7315200" cy="228600"/>
          </a:xfrm>
          <a:prstGeom prst="rect">
            <a:avLst/>
          </a:prstGeom>
          <a:noFill/>
        </p:spPr>
        <p:txBody>
          <a:bodyPr wrap="square" lIns="0" rIns="0" tIns="0" bIns="0" anchor="t">
            <a:noAutofit/>
          </a:bodyPr>
          <a:lstStyle/>
          <a:p>
            <a:pPr algn="l"/>
            <a:r>
              <a:rPr sz="975" b="1">
                <a:solidFill>
                  <a:srgbClr val="F59E0B"/>
                </a:solidFill>
                <a:latin typeface="Aptos Narrow"/>
              </a:rPr>
              <a:t>HOLD-OUT RESULT: 885 STUDENTS, 284 ACTUAL DROPOUTS (XGBOOST, THRESHOLD 0.50)</a:t>
            </a:r>
          </a:p>
        </p:txBody>
      </p:sp>
      <p:sp>
        <p:nvSpPr>
          <p:cNvPr id="24" name="TextBox 23"/>
          <p:cNvSpPr txBox="1"/>
          <p:nvPr/>
        </p:nvSpPr>
        <p:spPr>
          <a:xfrm>
            <a:off x="868680" y="5074920"/>
            <a:ext cx="2560320" cy="502920"/>
          </a:xfrm>
          <a:prstGeom prst="rect">
            <a:avLst/>
          </a:prstGeom>
          <a:noFill/>
        </p:spPr>
        <p:txBody>
          <a:bodyPr wrap="square" lIns="0" rIns="0" tIns="0" bIns="0" anchor="t">
            <a:noAutofit/>
          </a:bodyPr>
          <a:lstStyle/>
          <a:p>
            <a:pPr algn="l"/>
            <a:r>
              <a:rPr sz="2800" b="1">
                <a:solidFill>
                  <a:srgbClr val="38BDF8"/>
                </a:solidFill>
                <a:latin typeface="Aptos Narrow"/>
              </a:rPr>
              <a:t>259</a:t>
            </a:r>
          </a:p>
        </p:txBody>
      </p:sp>
      <p:sp>
        <p:nvSpPr>
          <p:cNvPr id="25" name="TextBox 24"/>
          <p:cNvSpPr txBox="1"/>
          <p:nvPr/>
        </p:nvSpPr>
        <p:spPr>
          <a:xfrm>
            <a:off x="868680" y="5596128"/>
            <a:ext cx="2560320" cy="274320"/>
          </a:xfrm>
          <a:prstGeom prst="rect">
            <a:avLst/>
          </a:prstGeom>
          <a:noFill/>
        </p:spPr>
        <p:txBody>
          <a:bodyPr wrap="square" lIns="0" rIns="0" tIns="0" bIns="0" anchor="t">
            <a:noAutofit/>
          </a:bodyPr>
          <a:lstStyle/>
          <a:p>
            <a:pPr algn="l"/>
            <a:r>
              <a:rPr sz="1100" b="0">
                <a:solidFill>
                  <a:srgbClr val="CBD5E1"/>
                </a:solidFill>
                <a:latin typeface="Aptos Narrow"/>
              </a:rPr>
              <a:t>dropouts caught</a:t>
            </a:r>
          </a:p>
        </p:txBody>
      </p:sp>
      <p:sp>
        <p:nvSpPr>
          <p:cNvPr id="26" name="TextBox 25"/>
          <p:cNvSpPr txBox="1"/>
          <p:nvPr/>
        </p:nvSpPr>
        <p:spPr>
          <a:xfrm>
            <a:off x="3566160" y="5074920"/>
            <a:ext cx="2560320" cy="502920"/>
          </a:xfrm>
          <a:prstGeom prst="rect">
            <a:avLst/>
          </a:prstGeom>
          <a:noFill/>
        </p:spPr>
        <p:txBody>
          <a:bodyPr wrap="square" lIns="0" rIns="0" tIns="0" bIns="0" anchor="t">
            <a:noAutofit/>
          </a:bodyPr>
          <a:lstStyle/>
          <a:p>
            <a:pPr algn="l"/>
            <a:r>
              <a:rPr sz="2800" b="1">
                <a:solidFill>
                  <a:srgbClr val="F87171"/>
                </a:solidFill>
                <a:latin typeface="Aptos Narrow"/>
              </a:rPr>
              <a:t>25</a:t>
            </a:r>
          </a:p>
        </p:txBody>
      </p:sp>
      <p:sp>
        <p:nvSpPr>
          <p:cNvPr id="27" name="TextBox 26"/>
          <p:cNvSpPr txBox="1"/>
          <p:nvPr/>
        </p:nvSpPr>
        <p:spPr>
          <a:xfrm>
            <a:off x="3566160" y="5596128"/>
            <a:ext cx="2560320" cy="274320"/>
          </a:xfrm>
          <a:prstGeom prst="rect">
            <a:avLst/>
          </a:prstGeom>
          <a:noFill/>
        </p:spPr>
        <p:txBody>
          <a:bodyPr wrap="square" lIns="0" rIns="0" tIns="0" bIns="0" anchor="t">
            <a:noAutofit/>
          </a:bodyPr>
          <a:lstStyle/>
          <a:p>
            <a:pPr algn="l"/>
            <a:r>
              <a:rPr sz="1100" b="0">
                <a:solidFill>
                  <a:srgbClr val="CBD5E1"/>
                </a:solidFill>
                <a:latin typeface="Aptos Narrow"/>
              </a:rPr>
              <a:t>dropouts missed</a:t>
            </a:r>
          </a:p>
        </p:txBody>
      </p:sp>
      <p:sp>
        <p:nvSpPr>
          <p:cNvPr id="28" name="TextBox 27"/>
          <p:cNvSpPr txBox="1"/>
          <p:nvPr/>
        </p:nvSpPr>
        <p:spPr>
          <a:xfrm>
            <a:off x="6263640" y="5074920"/>
            <a:ext cx="2560320" cy="502920"/>
          </a:xfrm>
          <a:prstGeom prst="rect">
            <a:avLst/>
          </a:prstGeom>
          <a:noFill/>
        </p:spPr>
        <p:txBody>
          <a:bodyPr wrap="square" lIns="0" rIns="0" tIns="0" bIns="0" anchor="t">
            <a:noAutofit/>
          </a:bodyPr>
          <a:lstStyle/>
          <a:p>
            <a:pPr algn="l"/>
            <a:r>
              <a:rPr sz="2800" b="1">
                <a:solidFill>
                  <a:srgbClr val="FFFFFF"/>
                </a:solidFill>
                <a:latin typeface="Aptos Narrow"/>
              </a:rPr>
              <a:t>119</a:t>
            </a:r>
          </a:p>
        </p:txBody>
      </p:sp>
      <p:sp>
        <p:nvSpPr>
          <p:cNvPr id="29" name="TextBox 28"/>
          <p:cNvSpPr txBox="1"/>
          <p:nvPr/>
        </p:nvSpPr>
        <p:spPr>
          <a:xfrm>
            <a:off x="6263640" y="5596128"/>
            <a:ext cx="2560320" cy="274320"/>
          </a:xfrm>
          <a:prstGeom prst="rect">
            <a:avLst/>
          </a:prstGeom>
          <a:noFill/>
        </p:spPr>
        <p:txBody>
          <a:bodyPr wrap="square" lIns="0" rIns="0" tIns="0" bIns="0" anchor="t">
            <a:noAutofit/>
          </a:bodyPr>
          <a:lstStyle/>
          <a:p>
            <a:pPr algn="l"/>
            <a:r>
              <a:rPr sz="1100" b="0">
                <a:solidFill>
                  <a:srgbClr val="CBD5E1"/>
                </a:solidFill>
                <a:latin typeface="Aptos Narrow"/>
              </a:rPr>
              <a:t>unnecessary check-ins</a:t>
            </a:r>
          </a:p>
        </p:txBody>
      </p:sp>
      <p:sp>
        <p:nvSpPr>
          <p:cNvPr id="30" name="TextBox 29"/>
          <p:cNvSpPr txBox="1"/>
          <p:nvPr/>
        </p:nvSpPr>
        <p:spPr>
          <a:xfrm>
            <a:off x="8961120" y="5074920"/>
            <a:ext cx="2560320" cy="502920"/>
          </a:xfrm>
          <a:prstGeom prst="rect">
            <a:avLst/>
          </a:prstGeom>
          <a:noFill/>
        </p:spPr>
        <p:txBody>
          <a:bodyPr wrap="square" lIns="0" rIns="0" tIns="0" bIns="0" anchor="t">
            <a:noAutofit/>
          </a:bodyPr>
          <a:lstStyle/>
          <a:p>
            <a:pPr algn="l"/>
            <a:r>
              <a:rPr sz="2800" b="1">
                <a:solidFill>
                  <a:srgbClr val="FFFFFF"/>
                </a:solidFill>
                <a:latin typeface="Aptos Narrow"/>
              </a:rPr>
              <a:t>42.7%</a:t>
            </a:r>
          </a:p>
        </p:txBody>
      </p:sp>
      <p:sp>
        <p:nvSpPr>
          <p:cNvPr id="31" name="TextBox 30"/>
          <p:cNvSpPr txBox="1"/>
          <p:nvPr/>
        </p:nvSpPr>
        <p:spPr>
          <a:xfrm>
            <a:off x="8961120" y="5596128"/>
            <a:ext cx="2560320" cy="274320"/>
          </a:xfrm>
          <a:prstGeom prst="rect">
            <a:avLst/>
          </a:prstGeom>
          <a:noFill/>
        </p:spPr>
        <p:txBody>
          <a:bodyPr wrap="square" lIns="0" rIns="0" tIns="0" bIns="0" anchor="t">
            <a:noAutofit/>
          </a:bodyPr>
          <a:lstStyle/>
          <a:p>
            <a:pPr algn="l"/>
            <a:r>
              <a:rPr sz="1100" b="0">
                <a:solidFill>
                  <a:srgbClr val="CBD5E1"/>
                </a:solidFill>
                <a:latin typeface="Aptos Narrow"/>
              </a:rPr>
              <a:t>of students flagged</a:t>
            </a:r>
          </a:p>
        </p:txBody>
      </p:sp>
    </p:spTree>
    <p:extLst>
      <p:ext uri="{BB962C8B-B14F-4D97-AF65-F5344CB8AC3E}">
        <p14:creationId xmlns:p14="http://schemas.microsoft.com/office/powerpoint/2010/main" val="3532973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3CB34E57-567A-6982-F5C3-111FD2A4AF44}"/>
              </a:ext>
            </a:extLst>
          </p:cNvPr>
          <p:cNvSpPr txBox="1"/>
          <p:nvPr/>
        </p:nvSpPr>
        <p:spPr>
          <a:xfrm>
            <a:off x="609600" y="457200"/>
            <a:ext cx="5486400" cy="182880"/>
          </a:xfrm>
          <a:prstGeom prst="rect">
            <a:avLst/>
          </a:prstGeom>
          <a:noFill/>
        </p:spPr>
        <p:txBody>
          <a:bodyPr wrap="square" lIns="0" tIns="0" rIns="0" bIns="0" anchor="t">
            <a:noAutofit/>
          </a:bodyPr>
          <a:lstStyle>
            <a:defPPr>
              <a:defRPr lang="en-US"/>
            </a:defPPr>
            <a:lvl1pPr>
              <a:defRPr sz="1000" b="1" i="0" u="none">
                <a:solidFill>
                  <a:srgbClr val="0284C7"/>
                </a:solidFill>
                <a:latin typeface="+mj-lt"/>
              </a:defRPr>
            </a:lvl1pPr>
          </a:lstStyle>
          <a:p>
            <a:r>
              <a:rPr dirty="0"/>
              <a:t>MODEL EXPLAINABILITY</a:t>
            </a:r>
          </a:p>
        </p:txBody>
      </p:sp>
      <p:sp>
        <p:nvSpPr>
          <p:cNvPr id="28" name="TextBox 27">
            <a:extLst>
              <a:ext uri="{FF2B5EF4-FFF2-40B4-BE49-F238E27FC236}">
                <a16:creationId xmlns:a16="http://schemas.microsoft.com/office/drawing/2014/main" id="{7C156D70-A966-A440-FE4B-8560FF078AC2}"/>
              </a:ext>
            </a:extLst>
          </p:cNvPr>
          <p:cNvSpPr txBox="1"/>
          <p:nvPr/>
        </p:nvSpPr>
        <p:spPr>
          <a:xfrm>
            <a:off x="609600" y="666750"/>
            <a:ext cx="10972800" cy="457200"/>
          </a:xfrm>
          <a:prstGeom prst="rect">
            <a:avLst/>
          </a:prstGeom>
          <a:noFill/>
        </p:spPr>
        <p:txBody>
          <a:bodyPr wrap="square" lIns="0" tIns="0" rIns="0" bIns="0" anchor="t">
            <a:noAutofit/>
          </a:bodyPr>
          <a:lstStyle>
            <a:defPPr>
              <a:defRPr lang="en-US"/>
            </a:defPPr>
            <a:lvl1pPr>
              <a:defRPr sz="2400" b="1" i="0" u="none">
                <a:solidFill>
                  <a:srgbClr val="0F172A"/>
                </a:solidFill>
                <a:latin typeface="Aptos Narrow" panose="020B0004020202020204" pitchFamily="34" charset="0"/>
              </a:defRPr>
            </a:lvl1pPr>
          </a:lstStyle>
          <a:p>
            <a:r>
              <a:rPr dirty="0"/>
              <a:t>What Drives Risk, and Why Wait for Semester 2</a:t>
            </a:r>
          </a:p>
        </p:txBody>
      </p:sp>
      <p:sp>
        <p:nvSpPr>
          <p:cNvPr id="5" name="Footer Placeholder 4">
            <a:extLst>
              <a:ext uri="{FF2B5EF4-FFF2-40B4-BE49-F238E27FC236}">
                <a16:creationId xmlns:a16="http://schemas.microsoft.com/office/drawing/2014/main" id="{BD5FD0E1-AB33-2C5B-6E7E-3260D8656BB6}"/>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7" name="Slide Number Placeholder 6">
            <a:extLst>
              <a:ext uri="{FF2B5EF4-FFF2-40B4-BE49-F238E27FC236}">
                <a16:creationId xmlns:a16="http://schemas.microsoft.com/office/drawing/2014/main" id="{0A853C79-7955-8264-BF54-2EA0881C4E25}"/>
              </a:ext>
            </a:extLst>
          </p:cNvPr>
          <p:cNvSpPr>
            <a:spLocks noGrp="1"/>
          </p:cNvSpPr>
          <p:nvPr>
            <p:ph type="sldNum" sz="quarter" idx="11"/>
          </p:nvPr>
        </p:nvSpPr>
        <p:spPr/>
        <p:txBody>
          <a:bodyPr/>
          <a:lstStyle/>
          <a:p>
            <a:fld id="{B67B645E-C5E5-4727-B977-D372A0AA71D9}" type="slidenum">
              <a:rPr lang="en-US" smtClean="0"/>
              <a:pPr/>
              <a:t>8</a:t>
            </a:fld>
            <a:endParaRPr lang="en-US" dirty="0"/>
          </a:p>
        </p:txBody>
      </p:sp>
      <p:sp>
        <p:nvSpPr>
          <p:cNvPr id="29" name="Rounded Rectangle 28"/>
          <p:cNvSpPr/>
          <p:nvPr/>
        </p:nvSpPr>
        <p:spPr>
          <a:xfrm>
            <a:off x="612648" y="1554480"/>
            <a:ext cx="6766560" cy="44348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30" name="Chart 29"/>
          <p:cNvGraphicFramePr>
            <a:graphicFrameLocks noGrp="1"/>
          </p:cNvGraphicFramePr>
          <p:nvPr/>
        </p:nvGraphicFramePr>
        <p:xfrm>
          <a:off x="731520" y="1645920"/>
          <a:ext cx="6537960" cy="4251960"/>
        </p:xfrm>
        <a:graphic>
          <a:graphicData uri="http://schemas.openxmlformats.org/drawingml/2006/chart">
            <c:chart xmlns:c="http://schemas.openxmlformats.org/drawingml/2006/chart" r:id="rId5"/>
          </a:graphicData>
        </a:graphic>
      </p:graphicFrame>
      <p:sp>
        <p:nvSpPr>
          <p:cNvPr id="31" name="Rounded Rectangle 30"/>
          <p:cNvSpPr/>
          <p:nvPr/>
        </p:nvSpPr>
        <p:spPr>
          <a:xfrm>
            <a:off x="7589520" y="1554480"/>
            <a:ext cx="3995928" cy="44348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818120" y="1691640"/>
            <a:ext cx="3566160" cy="4206240"/>
          </a:xfrm>
          <a:prstGeom prst="rect">
            <a:avLst/>
          </a:prstGeom>
          <a:noFill/>
        </p:spPr>
        <p:txBody>
          <a:bodyPr wrap="square" lIns="0" rIns="0" tIns="0" bIns="0" anchor="t">
            <a:noAutofit/>
          </a:bodyPr>
          <a:lstStyle/>
          <a:p>
            <a:pPr algn="l">
              <a:spcAft>
                <a:spcPts val="600"/>
              </a:spcAft>
            </a:pPr>
            <a:r>
              <a:rPr sz="1000" b="1">
                <a:solidFill>
                  <a:srgbClr val="0284C7"/>
                </a:solidFill>
                <a:latin typeface="Aptos Narrow"/>
              </a:rPr>
              <a:t>WHY WAIT FOR SEMESTER 2?</a:t>
            </a:r>
          </a:p>
          <a:p>
            <a:pPr algn="l"/>
            <a:r>
              <a:rPr sz="1050" b="1">
                <a:solidFill>
                  <a:srgbClr val="64748B"/>
                </a:solidFill>
                <a:latin typeface="Aptos Narrow"/>
              </a:rPr>
              <a:t>ROC-AUC</a:t>
            </a:r>
          </a:p>
          <a:p>
            <a:pPr algn="l">
              <a:spcAft>
                <a:spcPts val="400"/>
              </a:spcAft>
            </a:pPr>
            <a:r>
              <a:rPr sz="2600" b="1">
                <a:solidFill>
                  <a:srgbClr val="0F172A"/>
                </a:solidFill>
                <a:latin typeface="Aptos Narrow"/>
              </a:rPr>
              <a:t>0.912 → 0.937</a:t>
            </a:r>
          </a:p>
          <a:p>
            <a:pPr algn="l"/>
            <a:r>
              <a:rPr sz="1050" b="1">
                <a:solidFill>
                  <a:srgbClr val="64748B"/>
                </a:solidFill>
                <a:latin typeface="Aptos Narrow"/>
              </a:rPr>
              <a:t>Recall</a:t>
            </a:r>
          </a:p>
          <a:p>
            <a:pPr algn="l">
              <a:spcAft>
                <a:spcPts val="600"/>
              </a:spcAft>
            </a:pPr>
            <a:r>
              <a:rPr sz="2600" b="1">
                <a:solidFill>
                  <a:srgbClr val="0F172A"/>
                </a:solidFill>
                <a:latin typeface="Aptos Narrow"/>
              </a:rPr>
              <a:t>88.0% → 91.2%</a:t>
            </a:r>
          </a:p>
          <a:p>
            <a:pPr algn="l">
              <a:spcAft>
                <a:spcPts val="1000"/>
              </a:spcAft>
            </a:pPr>
            <a:r>
              <a:rPr sz="1050" b="0">
                <a:solidFill>
                  <a:srgbClr val="475569"/>
                </a:solidFill>
                <a:latin typeface="Aptos Narrow"/>
              </a:rPr>
              <a:t>Same model with Semester 1 data only versus Semesters 1 and 2. The second semester adds detection while later semesters remain for intervention.</a:t>
            </a:r>
          </a:p>
          <a:p>
            <a:pPr algn="l">
              <a:spcAft>
                <a:spcPts val="400"/>
              </a:spcAft>
            </a:pPr>
            <a:r>
              <a:rPr sz="1000" b="1">
                <a:solidFill>
                  <a:srgbClr val="0284C7"/>
                </a:solidFill>
                <a:latin typeface="Aptos Narrow"/>
              </a:rPr>
              <a:t>WHAT ADVISORS WILL SEE</a:t>
            </a:r>
          </a:p>
          <a:p>
            <a:pPr algn="l"/>
            <a:r>
              <a:rPr sz="1050" b="0">
                <a:solidFill>
                  <a:srgbClr val="475569"/>
                </a:solidFill>
                <a:latin typeface="Aptos Narrow"/>
              </a:rPr>
              <a:t>Higher approval rates and up-to-date tuition lower risk. Each flagged student gets a reason card: for one flagged student (97% risk) a Semester 2 approval rate of 0.40 or less was the largest factor.</a:t>
            </a:r>
          </a:p>
        </p:txBody>
      </p:sp>
    </p:spTree>
    <p:extLst>
      <p:ext uri="{BB962C8B-B14F-4D97-AF65-F5344CB8AC3E}">
        <p14:creationId xmlns:p14="http://schemas.microsoft.com/office/powerpoint/2010/main" val="165899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09600" y="457200"/>
            <a:ext cx="5486400" cy="182880"/>
          </a:xfrm>
          <a:prstGeom prst="rect">
            <a:avLst/>
          </a:prstGeom>
          <a:noFill/>
        </p:spPr>
        <p:txBody>
          <a:bodyPr wrap="square" lIns="0" tIns="0" rIns="0" bIns="0" anchor="t">
            <a:noAutofit/>
          </a:bodyPr>
          <a:lstStyle>
            <a:defPPr>
              <a:defRPr lang="en-US"/>
            </a:defPPr>
            <a:lvl1pPr>
              <a:defRPr sz="1000" b="1" i="0" u="none">
                <a:solidFill>
                  <a:srgbClr val="0284C7"/>
                </a:solidFill>
                <a:latin typeface="+mj-lt"/>
              </a:defRPr>
            </a:lvl1pPr>
          </a:lstStyle>
          <a:p>
            <a:r>
              <a:rPr dirty="0"/>
              <a:t>BUSINESS CASE &amp; ECONOMICS</a:t>
            </a:r>
          </a:p>
        </p:txBody>
      </p:sp>
      <p:sp>
        <p:nvSpPr>
          <p:cNvPr id="8" name="TextBox 7"/>
          <p:cNvSpPr txBox="1"/>
          <p:nvPr/>
        </p:nvSpPr>
        <p:spPr>
          <a:xfrm>
            <a:off x="609600" y="666750"/>
            <a:ext cx="10972800" cy="457200"/>
          </a:xfrm>
          <a:prstGeom prst="rect">
            <a:avLst/>
          </a:prstGeom>
          <a:noFill/>
        </p:spPr>
        <p:txBody>
          <a:bodyPr wrap="square" lIns="0" tIns="0" rIns="0" bIns="0" anchor="t">
            <a:noAutofit/>
          </a:bodyPr>
          <a:lstStyle>
            <a:defPPr>
              <a:defRPr lang="en-US"/>
            </a:defPPr>
            <a:lvl1pPr>
              <a:defRPr sz="2400" b="1" i="0" u="none">
                <a:solidFill>
                  <a:srgbClr val="0F172A"/>
                </a:solidFill>
                <a:latin typeface="Aptos Narrow" panose="020B0004020202020204" pitchFamily="34" charset="0"/>
              </a:defRPr>
            </a:lvl1pPr>
          </a:lstStyle>
          <a:p>
            <a:r>
              <a:rPr dirty="0"/>
              <a:t>Preserved Revenue &amp; Net ROI (Illustrative Scenario)</a:t>
            </a:r>
          </a:p>
        </p:txBody>
      </p:sp>
      <p:sp>
        <p:nvSpPr>
          <p:cNvPr id="22" name="Footer Placeholder 21">
            <a:extLst>
              <a:ext uri="{FF2B5EF4-FFF2-40B4-BE49-F238E27FC236}">
                <a16:creationId xmlns:a16="http://schemas.microsoft.com/office/drawing/2014/main" id="{232EF2CF-EDBF-BBDD-3F93-C1260C9E7678}"/>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23" name="Slide Number Placeholder 22">
            <a:extLst>
              <a:ext uri="{FF2B5EF4-FFF2-40B4-BE49-F238E27FC236}">
                <a16:creationId xmlns:a16="http://schemas.microsoft.com/office/drawing/2014/main" id="{FCC68750-B07A-D7AF-D4CA-16CBA55BC17B}"/>
              </a:ext>
            </a:extLst>
          </p:cNvPr>
          <p:cNvSpPr>
            <a:spLocks noGrp="1"/>
          </p:cNvSpPr>
          <p:nvPr>
            <p:ph type="sldNum" sz="quarter" idx="11"/>
          </p:nvPr>
        </p:nvSpPr>
        <p:spPr/>
        <p:txBody>
          <a:bodyPr/>
          <a:lstStyle/>
          <a:p>
            <a:fld id="{B67B645E-C5E5-4727-B977-D372A0AA71D9}" type="slidenum">
              <a:rPr lang="en-US" smtClean="0"/>
              <a:pPr/>
              <a:t>9</a:t>
            </a:fld>
            <a:endParaRPr lang="en-US" dirty="0"/>
          </a:p>
        </p:txBody>
      </p:sp>
      <p:sp>
        <p:nvSpPr>
          <p:cNvPr id="24" name="Rounded Rectangle 23"/>
          <p:cNvSpPr/>
          <p:nvPr/>
        </p:nvSpPr>
        <p:spPr>
          <a:xfrm>
            <a:off x="612648" y="1508760"/>
            <a:ext cx="3520440" cy="14630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9808" y="1627632"/>
            <a:ext cx="3246120" cy="228600"/>
          </a:xfrm>
          <a:prstGeom prst="rect">
            <a:avLst/>
          </a:prstGeom>
          <a:noFill/>
        </p:spPr>
        <p:txBody>
          <a:bodyPr wrap="square" lIns="0" rIns="0" tIns="0" bIns="0" anchor="t">
            <a:noAutofit/>
          </a:bodyPr>
          <a:lstStyle/>
          <a:p>
            <a:pPr algn="ctr"/>
            <a:r>
              <a:rPr sz="1050" b="1">
                <a:solidFill>
                  <a:srgbClr val="64748B"/>
                </a:solidFill>
                <a:latin typeface="Aptos Narrow"/>
              </a:rPr>
              <a:t>FLAGGED FOR ADVISOR CONTACT</a:t>
            </a:r>
          </a:p>
        </p:txBody>
      </p:sp>
      <p:sp>
        <p:nvSpPr>
          <p:cNvPr id="26" name="TextBox 25"/>
          <p:cNvSpPr txBox="1"/>
          <p:nvPr/>
        </p:nvSpPr>
        <p:spPr>
          <a:xfrm>
            <a:off x="749808" y="1874519"/>
            <a:ext cx="3246120" cy="548640"/>
          </a:xfrm>
          <a:prstGeom prst="rect">
            <a:avLst/>
          </a:prstGeom>
          <a:noFill/>
        </p:spPr>
        <p:txBody>
          <a:bodyPr wrap="square" lIns="0" rIns="0" tIns="0" bIns="0" anchor="t">
            <a:noAutofit/>
          </a:bodyPr>
          <a:lstStyle/>
          <a:p>
            <a:pPr algn="ctr"/>
            <a:r>
              <a:rPr sz="3400" b="1">
                <a:solidFill>
                  <a:srgbClr val="0F172A"/>
                </a:solidFill>
                <a:latin typeface="Aptos Narrow"/>
              </a:rPr>
              <a:t>2,078</a:t>
            </a:r>
          </a:p>
        </p:txBody>
      </p:sp>
      <p:sp>
        <p:nvSpPr>
          <p:cNvPr id="27" name="TextBox 26"/>
          <p:cNvSpPr txBox="1"/>
          <p:nvPr/>
        </p:nvSpPr>
        <p:spPr>
          <a:xfrm>
            <a:off x="795528" y="2487168"/>
            <a:ext cx="3154680" cy="411480"/>
          </a:xfrm>
          <a:prstGeom prst="rect">
            <a:avLst/>
          </a:prstGeom>
          <a:noFill/>
        </p:spPr>
        <p:txBody>
          <a:bodyPr wrap="square" lIns="0" rIns="0" tIns="0" bIns="0" anchor="t">
            <a:noAutofit/>
          </a:bodyPr>
          <a:lstStyle/>
          <a:p>
            <a:pPr algn="ctr"/>
            <a:r>
              <a:rPr sz="1000" b="0">
                <a:solidFill>
                  <a:srgbClr val="475569"/>
                </a:solidFill>
                <a:latin typeface="Aptos Narrow"/>
              </a:rPr>
              <a:t>47% of 4,424 students: about 1,276 at risk, 802 unnecessary</a:t>
            </a:r>
          </a:p>
        </p:txBody>
      </p:sp>
      <p:sp>
        <p:nvSpPr>
          <p:cNvPr id="28" name="Rounded Rectangle 27"/>
          <p:cNvSpPr/>
          <p:nvPr/>
        </p:nvSpPr>
        <p:spPr>
          <a:xfrm>
            <a:off x="4334256" y="1508760"/>
            <a:ext cx="3520440" cy="14630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471416" y="1627632"/>
            <a:ext cx="3246120" cy="228600"/>
          </a:xfrm>
          <a:prstGeom prst="rect">
            <a:avLst/>
          </a:prstGeom>
          <a:noFill/>
        </p:spPr>
        <p:txBody>
          <a:bodyPr wrap="square" lIns="0" rIns="0" tIns="0" bIns="0" anchor="t">
            <a:noAutofit/>
          </a:bodyPr>
          <a:lstStyle/>
          <a:p>
            <a:pPr algn="ctr"/>
            <a:r>
              <a:rPr sz="1050" b="1">
                <a:solidFill>
                  <a:srgbClr val="64748B"/>
                </a:solidFill>
                <a:latin typeface="Aptos Narrow"/>
              </a:rPr>
              <a:t>RETAINED VIA INTERVENTION</a:t>
            </a:r>
          </a:p>
        </p:txBody>
      </p:sp>
      <p:sp>
        <p:nvSpPr>
          <p:cNvPr id="30" name="TextBox 29"/>
          <p:cNvSpPr txBox="1"/>
          <p:nvPr/>
        </p:nvSpPr>
        <p:spPr>
          <a:xfrm>
            <a:off x="4471416" y="1874519"/>
            <a:ext cx="3246120" cy="548640"/>
          </a:xfrm>
          <a:prstGeom prst="rect">
            <a:avLst/>
          </a:prstGeom>
          <a:noFill/>
        </p:spPr>
        <p:txBody>
          <a:bodyPr wrap="square" lIns="0" rIns="0" tIns="0" bIns="0" anchor="t">
            <a:noAutofit/>
          </a:bodyPr>
          <a:lstStyle/>
          <a:p>
            <a:pPr algn="ctr"/>
            <a:r>
              <a:rPr sz="3400" b="1">
                <a:solidFill>
                  <a:srgbClr val="0284C7"/>
                </a:solidFill>
                <a:latin typeface="Aptos Narrow"/>
              </a:rPr>
              <a:t>319</a:t>
            </a:r>
          </a:p>
        </p:txBody>
      </p:sp>
      <p:sp>
        <p:nvSpPr>
          <p:cNvPr id="31" name="TextBox 30"/>
          <p:cNvSpPr txBox="1"/>
          <p:nvPr/>
        </p:nvSpPr>
        <p:spPr>
          <a:xfrm>
            <a:off x="4517136" y="2487168"/>
            <a:ext cx="3154680" cy="411480"/>
          </a:xfrm>
          <a:prstGeom prst="rect">
            <a:avLst/>
          </a:prstGeom>
          <a:noFill/>
        </p:spPr>
        <p:txBody>
          <a:bodyPr wrap="square" lIns="0" rIns="0" tIns="0" bIns="0" anchor="t">
            <a:noAutofit/>
          </a:bodyPr>
          <a:lstStyle/>
          <a:p>
            <a:pPr algn="ctr"/>
            <a:r>
              <a:rPr sz="1000" b="0">
                <a:solidFill>
                  <a:srgbClr val="475569"/>
                </a:solidFill>
                <a:latin typeface="Aptos Narrow"/>
              </a:rPr>
              <a:t>25% of the 1,276 caught dropouts (planning assumption)</a:t>
            </a:r>
          </a:p>
        </p:txBody>
      </p:sp>
      <p:sp>
        <p:nvSpPr>
          <p:cNvPr id="32" name="Rounded Rectangle 31"/>
          <p:cNvSpPr/>
          <p:nvPr/>
        </p:nvSpPr>
        <p:spPr>
          <a:xfrm>
            <a:off x="8065008" y="1508760"/>
            <a:ext cx="3520440" cy="146304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02168" y="1627632"/>
            <a:ext cx="3246120" cy="228600"/>
          </a:xfrm>
          <a:prstGeom prst="rect">
            <a:avLst/>
          </a:prstGeom>
          <a:noFill/>
        </p:spPr>
        <p:txBody>
          <a:bodyPr wrap="square" lIns="0" rIns="0" tIns="0" bIns="0" anchor="t">
            <a:noAutofit/>
          </a:bodyPr>
          <a:lstStyle/>
          <a:p>
            <a:pPr algn="ctr"/>
            <a:r>
              <a:rPr sz="1050" b="1">
                <a:solidFill>
                  <a:srgbClr val="64748B"/>
                </a:solidFill>
                <a:latin typeface="Aptos Narrow"/>
              </a:rPr>
              <a:t>GROSS PRESERVED REVENUE</a:t>
            </a:r>
          </a:p>
        </p:txBody>
      </p:sp>
      <p:sp>
        <p:nvSpPr>
          <p:cNvPr id="34" name="TextBox 33"/>
          <p:cNvSpPr txBox="1"/>
          <p:nvPr/>
        </p:nvSpPr>
        <p:spPr>
          <a:xfrm>
            <a:off x="8202168" y="1874519"/>
            <a:ext cx="3246120" cy="548640"/>
          </a:xfrm>
          <a:prstGeom prst="rect">
            <a:avLst/>
          </a:prstGeom>
          <a:noFill/>
        </p:spPr>
        <p:txBody>
          <a:bodyPr wrap="square" lIns="0" rIns="0" tIns="0" bIns="0" anchor="t">
            <a:noAutofit/>
          </a:bodyPr>
          <a:lstStyle/>
          <a:p>
            <a:pPr algn="ctr"/>
            <a:r>
              <a:rPr sz="3400" b="1">
                <a:solidFill>
                  <a:srgbClr val="0F172A"/>
                </a:solidFill>
                <a:latin typeface="Aptos Narrow"/>
              </a:rPr>
              <a:t>$7.66M</a:t>
            </a:r>
          </a:p>
        </p:txBody>
      </p:sp>
      <p:sp>
        <p:nvSpPr>
          <p:cNvPr id="35" name="TextBox 34"/>
          <p:cNvSpPr txBox="1"/>
          <p:nvPr/>
        </p:nvSpPr>
        <p:spPr>
          <a:xfrm>
            <a:off x="8247888" y="2487168"/>
            <a:ext cx="3154680" cy="411480"/>
          </a:xfrm>
          <a:prstGeom prst="rect">
            <a:avLst/>
          </a:prstGeom>
          <a:noFill/>
        </p:spPr>
        <p:txBody>
          <a:bodyPr wrap="square" lIns="0" rIns="0" tIns="0" bIns="0" anchor="t">
            <a:noAutofit/>
          </a:bodyPr>
          <a:lstStyle/>
          <a:p>
            <a:pPr algn="ctr"/>
            <a:r>
              <a:rPr sz="1000" b="0">
                <a:solidFill>
                  <a:srgbClr val="475569"/>
                </a:solidFill>
                <a:latin typeface="Aptos Narrow"/>
              </a:rPr>
              <a:t>Multi-year tuition at $24,000 per student (illustrative)</a:t>
            </a:r>
          </a:p>
        </p:txBody>
      </p:sp>
      <p:sp>
        <p:nvSpPr>
          <p:cNvPr id="36" name="Rounded Rectangle 35"/>
          <p:cNvSpPr/>
          <p:nvPr/>
        </p:nvSpPr>
        <p:spPr>
          <a:xfrm>
            <a:off x="612648" y="3108960"/>
            <a:ext cx="10972800" cy="1280160"/>
          </a:xfrm>
          <a:prstGeom prst="roundRect">
            <a:avLst>
              <a:gd name="adj" fmla="val 6000"/>
            </a:avLst>
          </a:prstGeom>
          <a:solidFill>
            <a:srgbClr val="0F172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68680" y="3218688"/>
            <a:ext cx="2743200" cy="182880"/>
          </a:xfrm>
          <a:prstGeom prst="rect">
            <a:avLst/>
          </a:prstGeom>
          <a:noFill/>
        </p:spPr>
        <p:txBody>
          <a:bodyPr wrap="square" lIns="0" rIns="0" tIns="0" bIns="0" anchor="t">
            <a:noAutofit/>
          </a:bodyPr>
          <a:lstStyle/>
          <a:p>
            <a:pPr algn="l"/>
            <a:r>
              <a:rPr sz="975" b="1">
                <a:solidFill>
                  <a:srgbClr val="F59E0B"/>
                </a:solidFill>
                <a:latin typeface="Aptos Narrow"/>
              </a:rPr>
              <a:t>COST VS REVENUE</a:t>
            </a:r>
          </a:p>
        </p:txBody>
      </p:sp>
      <p:sp>
        <p:nvSpPr>
          <p:cNvPr id="38" name="TextBox 37"/>
          <p:cNvSpPr txBox="1"/>
          <p:nvPr/>
        </p:nvSpPr>
        <p:spPr>
          <a:xfrm>
            <a:off x="868680" y="3438144"/>
            <a:ext cx="8229600" cy="457200"/>
          </a:xfrm>
          <a:prstGeom prst="rect">
            <a:avLst/>
          </a:prstGeom>
          <a:noFill/>
        </p:spPr>
        <p:txBody>
          <a:bodyPr wrap="square" lIns="0" rIns="0" tIns="0" bIns="0" anchor="t">
            <a:noAutofit/>
          </a:bodyPr>
          <a:lstStyle/>
          <a:p>
            <a:pPr algn="l"/>
            <a:r>
              <a:rPr sz="1300" b="0">
                <a:solidFill>
                  <a:srgbClr val="E2E8F0"/>
                </a:solidFill>
                <a:latin typeface="Aptos Narrow"/>
              </a:rPr>
              <a:t>Programme cost ≈ $256K (≈ $123 per flagged student) against $7.66M of preserved tuition: net $7.40M, ROI 28.9x, about $801 per student retained.</a:t>
            </a:r>
          </a:p>
        </p:txBody>
      </p:sp>
      <p:sp>
        <p:nvSpPr>
          <p:cNvPr id="39" name="TextBox 38"/>
          <p:cNvSpPr txBox="1"/>
          <p:nvPr/>
        </p:nvSpPr>
        <p:spPr>
          <a:xfrm>
            <a:off x="868680" y="3931920"/>
            <a:ext cx="8229600" cy="411480"/>
          </a:xfrm>
          <a:prstGeom prst="rect">
            <a:avLst/>
          </a:prstGeom>
          <a:noFill/>
        </p:spPr>
        <p:txBody>
          <a:bodyPr wrap="square" lIns="0" rIns="0" tIns="0" bIns="0" anchor="t">
            <a:noAutofit/>
          </a:bodyPr>
          <a:lstStyle/>
          <a:p>
            <a:pPr algn="l"/>
            <a:r>
              <a:rPr sz="1000" b="0">
                <a:solidFill>
                  <a:srgbClr val="94A3B8"/>
                </a:solidFill>
                <a:latin typeface="Aptos Narrow"/>
              </a:rPr>
              <a:t>Break-even needs only 0.8% of caught dropouts retained. Tuition value, success rate and unit cost are planning assumptions, not dataset facts; costs scale with the number of flags.</a:t>
            </a:r>
          </a:p>
        </p:txBody>
      </p:sp>
      <p:sp>
        <p:nvSpPr>
          <p:cNvPr id="40" name="Rounded Rectangle 39"/>
          <p:cNvSpPr/>
          <p:nvPr/>
        </p:nvSpPr>
        <p:spPr>
          <a:xfrm>
            <a:off x="9601200" y="3383280"/>
            <a:ext cx="1737360" cy="731520"/>
          </a:xfrm>
          <a:prstGeom prst="roundRect">
            <a:avLst>
              <a:gd name="adj" fmla="val 6000"/>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601200" y="3456432"/>
            <a:ext cx="1737360" cy="365760"/>
          </a:xfrm>
          <a:prstGeom prst="rect">
            <a:avLst/>
          </a:prstGeom>
          <a:noFill/>
        </p:spPr>
        <p:txBody>
          <a:bodyPr wrap="square" lIns="0" rIns="0" tIns="0" bIns="0" anchor="t">
            <a:noAutofit/>
          </a:bodyPr>
          <a:lstStyle/>
          <a:p>
            <a:pPr algn="ctr"/>
            <a:r>
              <a:rPr sz="2200" b="1">
                <a:solidFill>
                  <a:srgbClr val="10B981"/>
                </a:solidFill>
                <a:latin typeface="Aptos Narrow"/>
              </a:rPr>
              <a:t>28.9x</a:t>
            </a:r>
          </a:p>
        </p:txBody>
      </p:sp>
      <p:sp>
        <p:nvSpPr>
          <p:cNvPr id="42" name="TextBox 41"/>
          <p:cNvSpPr txBox="1"/>
          <p:nvPr/>
        </p:nvSpPr>
        <p:spPr>
          <a:xfrm>
            <a:off x="9601200" y="3822191"/>
            <a:ext cx="1737360" cy="228600"/>
          </a:xfrm>
          <a:prstGeom prst="rect">
            <a:avLst/>
          </a:prstGeom>
          <a:noFill/>
        </p:spPr>
        <p:txBody>
          <a:bodyPr wrap="square" lIns="0" rIns="0" tIns="0" bIns="0" anchor="t">
            <a:noAutofit/>
          </a:bodyPr>
          <a:lstStyle/>
          <a:p>
            <a:pPr algn="ctr"/>
            <a:r>
              <a:rPr sz="900" b="1">
                <a:solidFill>
                  <a:srgbClr val="94A3B8"/>
                </a:solidFill>
                <a:latin typeface="Aptos Narrow"/>
              </a:rPr>
              <a:t>ROI (net / cost)</a:t>
            </a:r>
          </a:p>
        </p:txBody>
      </p:sp>
      <p:sp>
        <p:nvSpPr>
          <p:cNvPr id="43" name="TextBox 42"/>
          <p:cNvSpPr txBox="1"/>
          <p:nvPr/>
        </p:nvSpPr>
        <p:spPr>
          <a:xfrm>
            <a:off x="612648" y="4553712"/>
            <a:ext cx="8229600" cy="228600"/>
          </a:xfrm>
          <a:prstGeom prst="rect">
            <a:avLst/>
          </a:prstGeom>
          <a:noFill/>
        </p:spPr>
        <p:txBody>
          <a:bodyPr wrap="square" lIns="0" rIns="0" tIns="0" bIns="0" anchor="t">
            <a:noAutofit/>
          </a:bodyPr>
          <a:lstStyle/>
          <a:p>
            <a:pPr algn="l"/>
            <a:r>
              <a:rPr sz="1000" b="1">
                <a:solidFill>
                  <a:srgbClr val="0F172A"/>
                </a:solidFill>
                <a:latin typeface="Aptos Narrow"/>
              </a:rPr>
              <a:t>ROI SENSITIVITY: net return per $1 of programme cost, by tuition value and share of caught dropouts retained</a:t>
            </a:r>
          </a:p>
        </p:txBody>
      </p:sp>
      <p:graphicFrame>
        <p:nvGraphicFramePr>
          <p:cNvPr id="44" name="Table 43"/>
          <p:cNvGraphicFramePr>
            <a:graphicFrameLocks noGrp="1"/>
          </p:cNvGraphicFramePr>
          <p:nvPr/>
        </p:nvGraphicFramePr>
        <p:xfrm>
          <a:off x="612648" y="4828032"/>
          <a:ext cx="8595360" cy="1243584"/>
        </p:xfrm>
        <a:graphic>
          <a:graphicData uri="http://schemas.openxmlformats.org/drawingml/2006/table">
            <a:tbl>
              <a:tblPr firstRow="0" bandRow="0">
                <a:tableStyleId>{5C22544A-7EE6-4342-B048-85BDC9FD1C3A}</a:tableStyleId>
              </a:tblPr>
              <a:tblGrid>
                <a:gridCol w="2743200"/>
                <a:gridCol w="1828800"/>
                <a:gridCol w="1828800"/>
                <a:gridCol w="2194560"/>
              </a:tblGrid>
              <a:tr h="310896">
                <a:tc>
                  <a:txBody>
                    <a:bodyPr wrap="square"/>
                    <a:lstStyle/>
                    <a:p>
                      <a:pPr algn="l"/>
                      <a:r>
                        <a:rPr sz="1050" b="1">
                          <a:solidFill>
                            <a:srgbClr val="FFFFFF"/>
                          </a:solidFill>
                          <a:latin typeface="Aptos Narrow"/>
                        </a:rPr>
                        <a:t>Tuition value per student</a:t>
                      </a:r>
                    </a:p>
                  </a:txBody>
                  <a:tcPr marL="73152" marR="73152" marT="27432" marB="27432" anchor="ctr">
                    <a:solidFill>
                      <a:srgbClr val="0F172A"/>
                    </a:solidFill>
                  </a:tcPr>
                </a:tc>
                <a:tc>
                  <a:txBody>
                    <a:bodyPr wrap="square"/>
                    <a:lstStyle/>
                    <a:p>
                      <a:pPr algn="ctr"/>
                      <a:r>
                        <a:rPr sz="1050" b="1">
                          <a:solidFill>
                            <a:srgbClr val="FFFFFF"/>
                          </a:solidFill>
                          <a:latin typeface="Aptos Narrow"/>
                        </a:rPr>
                        <a:t>5% retained</a:t>
                      </a:r>
                    </a:p>
                  </a:txBody>
                  <a:tcPr marL="73152" marR="73152" marT="27432" marB="27432" anchor="ctr">
                    <a:solidFill>
                      <a:srgbClr val="0F172A"/>
                    </a:solidFill>
                  </a:tcPr>
                </a:tc>
                <a:tc>
                  <a:txBody>
                    <a:bodyPr wrap="square"/>
                    <a:lstStyle/>
                    <a:p>
                      <a:pPr algn="ctr"/>
                      <a:r>
                        <a:rPr sz="1050" b="1">
                          <a:solidFill>
                            <a:srgbClr val="FFFFFF"/>
                          </a:solidFill>
                          <a:latin typeface="Aptos Narrow"/>
                        </a:rPr>
                        <a:t>10% retained</a:t>
                      </a:r>
                    </a:p>
                  </a:txBody>
                  <a:tcPr marL="73152" marR="73152" marT="27432" marB="27432" anchor="ctr">
                    <a:solidFill>
                      <a:srgbClr val="0F172A"/>
                    </a:solidFill>
                  </a:tcPr>
                </a:tc>
                <a:tc>
                  <a:txBody>
                    <a:bodyPr wrap="square"/>
                    <a:lstStyle/>
                    <a:p>
                      <a:pPr algn="ctr"/>
                      <a:r>
                        <a:rPr sz="1050" b="1">
                          <a:solidFill>
                            <a:srgbClr val="FFFFFF"/>
                          </a:solidFill>
                          <a:latin typeface="Aptos Narrow"/>
                        </a:rPr>
                        <a:t>25% retained (base)</a:t>
                      </a:r>
                    </a:p>
                  </a:txBody>
                  <a:tcPr marL="73152" marR="73152" marT="27432" marB="27432" anchor="ctr">
                    <a:solidFill>
                      <a:srgbClr val="0F172A"/>
                    </a:solidFill>
                  </a:tcPr>
                </a:tc>
              </a:tr>
              <a:tr h="310896">
                <a:tc>
                  <a:txBody>
                    <a:bodyPr wrap="square"/>
                    <a:lstStyle/>
                    <a:p>
                      <a:pPr algn="l"/>
                      <a:r>
                        <a:rPr sz="1100" b="1">
                          <a:solidFill>
                            <a:srgbClr val="0F172A"/>
                          </a:solidFill>
                          <a:latin typeface="Aptos Narrow"/>
                        </a:rPr>
                        <a:t>$24,000 (base)</a:t>
                      </a:r>
                    </a:p>
                  </a:txBody>
                  <a:tcPr marL="73152" marR="73152" marT="27432" marB="27432" anchor="ctr">
                    <a:solidFill>
                      <a:srgbClr val="FFFFFF"/>
                    </a:solidFill>
                  </a:tcPr>
                </a:tc>
                <a:tc>
                  <a:txBody>
                    <a:bodyPr wrap="square"/>
                    <a:lstStyle/>
                    <a:p>
                      <a:pPr algn="ctr"/>
                      <a:r>
                        <a:rPr sz="1100" b="0">
                          <a:solidFill>
                            <a:srgbClr val="0F172A"/>
                          </a:solidFill>
                          <a:latin typeface="Aptos Narrow"/>
                        </a:rPr>
                        <a:t>5.0x</a:t>
                      </a:r>
                    </a:p>
                  </a:txBody>
                  <a:tcPr marL="73152" marR="73152" marT="27432" marB="27432" anchor="ctr">
                    <a:solidFill>
                      <a:srgbClr val="FFFFFF"/>
                    </a:solidFill>
                  </a:tcPr>
                </a:tc>
                <a:tc>
                  <a:txBody>
                    <a:bodyPr wrap="square"/>
                    <a:lstStyle/>
                    <a:p>
                      <a:pPr algn="ctr"/>
                      <a:r>
                        <a:rPr sz="1100" b="0">
                          <a:solidFill>
                            <a:srgbClr val="0F172A"/>
                          </a:solidFill>
                          <a:latin typeface="Aptos Narrow"/>
                        </a:rPr>
                        <a:t>11.0x</a:t>
                      </a:r>
                    </a:p>
                  </a:txBody>
                  <a:tcPr marL="73152" marR="73152" marT="27432" marB="27432" anchor="ctr">
                    <a:solidFill>
                      <a:srgbClr val="FFFFFF"/>
                    </a:solidFill>
                  </a:tcPr>
                </a:tc>
                <a:tc>
                  <a:txBody>
                    <a:bodyPr wrap="square"/>
                    <a:lstStyle/>
                    <a:p>
                      <a:pPr algn="ctr"/>
                      <a:r>
                        <a:rPr sz="1100" b="1">
                          <a:solidFill>
                            <a:srgbClr val="10B981"/>
                          </a:solidFill>
                          <a:latin typeface="Aptos Narrow"/>
                        </a:rPr>
                        <a:t>28.9x</a:t>
                      </a:r>
                    </a:p>
                  </a:txBody>
                  <a:tcPr marL="73152" marR="73152" marT="27432" marB="27432" anchor="ctr">
                    <a:solidFill>
                      <a:srgbClr val="FFFFFF"/>
                    </a:solidFill>
                  </a:tcPr>
                </a:tc>
              </a:tr>
              <a:tr h="310896">
                <a:tc>
                  <a:txBody>
                    <a:bodyPr wrap="square"/>
                    <a:lstStyle/>
                    <a:p>
                      <a:pPr algn="l"/>
                      <a:r>
                        <a:rPr sz="1100" b="1">
                          <a:solidFill>
                            <a:srgbClr val="0F172A"/>
                          </a:solidFill>
                          <a:latin typeface="Aptos Narrow"/>
                        </a:rPr>
                        <a:t>$12,000</a:t>
                      </a:r>
                    </a:p>
                  </a:txBody>
                  <a:tcPr marL="73152" marR="73152" marT="27432" marB="27432" anchor="ctr">
                    <a:solidFill>
                      <a:srgbClr val="FFFFFF"/>
                    </a:solidFill>
                  </a:tcPr>
                </a:tc>
                <a:tc>
                  <a:txBody>
                    <a:bodyPr wrap="square"/>
                    <a:lstStyle/>
                    <a:p>
                      <a:pPr algn="ctr"/>
                      <a:r>
                        <a:rPr sz="1100" b="0">
                          <a:solidFill>
                            <a:srgbClr val="0F172A"/>
                          </a:solidFill>
                          <a:latin typeface="Aptos Narrow"/>
                        </a:rPr>
                        <a:t>2.0x</a:t>
                      </a:r>
                    </a:p>
                  </a:txBody>
                  <a:tcPr marL="73152" marR="73152" marT="27432" marB="27432" anchor="ctr">
                    <a:solidFill>
                      <a:srgbClr val="FFFFFF"/>
                    </a:solidFill>
                  </a:tcPr>
                </a:tc>
                <a:tc>
                  <a:txBody>
                    <a:bodyPr wrap="square"/>
                    <a:lstStyle/>
                    <a:p>
                      <a:pPr algn="ctr"/>
                      <a:r>
                        <a:rPr sz="1100" b="0">
                          <a:solidFill>
                            <a:srgbClr val="0F172A"/>
                          </a:solidFill>
                          <a:latin typeface="Aptos Narrow"/>
                        </a:rPr>
                        <a:t>5.0x</a:t>
                      </a:r>
                    </a:p>
                  </a:txBody>
                  <a:tcPr marL="73152" marR="73152" marT="27432" marB="27432" anchor="ctr">
                    <a:solidFill>
                      <a:srgbClr val="FFFFFF"/>
                    </a:solidFill>
                  </a:tcPr>
                </a:tc>
                <a:tc>
                  <a:txBody>
                    <a:bodyPr wrap="square"/>
                    <a:lstStyle/>
                    <a:p>
                      <a:pPr algn="ctr"/>
                      <a:r>
                        <a:rPr sz="1100" b="0">
                          <a:solidFill>
                            <a:srgbClr val="0F172A"/>
                          </a:solidFill>
                          <a:latin typeface="Aptos Narrow"/>
                        </a:rPr>
                        <a:t>14.0x</a:t>
                      </a:r>
                    </a:p>
                  </a:txBody>
                  <a:tcPr marL="73152" marR="73152" marT="27432" marB="27432" anchor="ctr">
                    <a:solidFill>
                      <a:srgbClr val="FFFFFF"/>
                    </a:solidFill>
                  </a:tcPr>
                </a:tc>
              </a:tr>
              <a:tr h="310896">
                <a:tc>
                  <a:txBody>
                    <a:bodyPr wrap="square"/>
                    <a:lstStyle/>
                    <a:p>
                      <a:pPr algn="l"/>
                      <a:r>
                        <a:rPr sz="1100" b="1">
                          <a:solidFill>
                            <a:srgbClr val="0F172A"/>
                          </a:solidFill>
                          <a:latin typeface="Aptos Narrow"/>
                        </a:rPr>
                        <a:t>$6,000</a:t>
                      </a:r>
                    </a:p>
                  </a:txBody>
                  <a:tcPr marL="73152" marR="73152" marT="27432" marB="27432" anchor="ctr">
                    <a:solidFill>
                      <a:srgbClr val="FFFFFF"/>
                    </a:solidFill>
                  </a:tcPr>
                </a:tc>
                <a:tc>
                  <a:txBody>
                    <a:bodyPr wrap="square"/>
                    <a:lstStyle/>
                    <a:p>
                      <a:pPr algn="ctr"/>
                      <a:r>
                        <a:rPr sz="1100" b="0">
                          <a:solidFill>
                            <a:srgbClr val="0F172A"/>
                          </a:solidFill>
                          <a:latin typeface="Aptos Narrow"/>
                        </a:rPr>
                        <a:t>0.5x</a:t>
                      </a:r>
                    </a:p>
                  </a:txBody>
                  <a:tcPr marL="73152" marR="73152" marT="27432" marB="27432" anchor="ctr">
                    <a:solidFill>
                      <a:srgbClr val="FFFFFF"/>
                    </a:solidFill>
                  </a:tcPr>
                </a:tc>
                <a:tc>
                  <a:txBody>
                    <a:bodyPr wrap="square"/>
                    <a:lstStyle/>
                    <a:p>
                      <a:pPr algn="ctr"/>
                      <a:r>
                        <a:rPr sz="1100" b="0">
                          <a:solidFill>
                            <a:srgbClr val="0F172A"/>
                          </a:solidFill>
                          <a:latin typeface="Aptos Narrow"/>
                        </a:rPr>
                        <a:t>2.0x</a:t>
                      </a:r>
                    </a:p>
                  </a:txBody>
                  <a:tcPr marL="73152" marR="73152" marT="27432" marB="27432" anchor="ctr">
                    <a:solidFill>
                      <a:srgbClr val="FFFFFF"/>
                    </a:solidFill>
                  </a:tcPr>
                </a:tc>
                <a:tc>
                  <a:txBody>
                    <a:bodyPr wrap="square"/>
                    <a:lstStyle/>
                    <a:p>
                      <a:pPr algn="ctr"/>
                      <a:r>
                        <a:rPr sz="1100" b="0">
                          <a:solidFill>
                            <a:srgbClr val="0F172A"/>
                          </a:solidFill>
                          <a:latin typeface="Aptos Narrow"/>
                        </a:rPr>
                        <a:t>6.5x</a:t>
                      </a:r>
                    </a:p>
                  </a:txBody>
                  <a:tcPr marL="73152" marR="73152" marT="27432" marB="27432" anchor="ctr">
                    <a:solidFill>
                      <a:srgbClr val="FFFFFF"/>
                    </a:solidFill>
                  </a:tcPr>
                </a:tc>
              </a:tr>
            </a:tbl>
          </a:graphicData>
        </a:graphic>
      </p:graphicFrame>
      <p:sp>
        <p:nvSpPr>
          <p:cNvPr id="45" name="TextBox 44"/>
          <p:cNvSpPr txBox="1"/>
          <p:nvPr/>
        </p:nvSpPr>
        <p:spPr>
          <a:xfrm>
            <a:off x="9418320" y="4828032"/>
            <a:ext cx="2148840" cy="1188720"/>
          </a:xfrm>
          <a:prstGeom prst="rect">
            <a:avLst/>
          </a:prstGeom>
          <a:noFill/>
        </p:spPr>
        <p:txBody>
          <a:bodyPr wrap="square" lIns="0" rIns="0" tIns="0" bIns="0" anchor="t">
            <a:noAutofit/>
          </a:bodyPr>
          <a:lstStyle/>
          <a:p>
            <a:pPr algn="l"/>
            <a:r>
              <a:rPr sz="1000" b="0">
                <a:solidFill>
                  <a:srgbClr val="64748B"/>
                </a:solidFill>
                <a:latin typeface="Aptos Narrow"/>
              </a:rPr>
              <a:t>Every cell is above break-even; the result depends on what retention a pilot actually achieves.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2105025"/>
            <a:ext cx="5829300" cy="1104900"/>
          </a:xfrm>
          <a:prstGeom prst="rect">
            <a:avLst/>
          </a:prstGeom>
          <a:solidFill>
            <a:srgbClr val="F8FAFC"/>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2105025"/>
            <a:ext cx="38100" cy="11049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8650" y="3358737"/>
            <a:ext cx="5829300" cy="952500"/>
          </a:xfrm>
          <a:prstGeom prst="rect">
            <a:avLst/>
          </a:prstGeom>
          <a:solidFill>
            <a:srgbClr val="F8FAFC"/>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3362325"/>
            <a:ext cx="38100" cy="952500"/>
          </a:xfrm>
          <a:prstGeom prst="rect">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9600" y="4467225"/>
            <a:ext cx="5829300" cy="1104900"/>
          </a:xfrm>
          <a:prstGeom prst="rect">
            <a:avLst/>
          </a:prstGeom>
          <a:solidFill>
            <a:srgbClr val="F8FAFC"/>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600" y="4467225"/>
            <a:ext cx="38100" cy="11049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6705600" y="2028825"/>
            <a:ext cx="4876800" cy="3619500"/>
          </a:xfrm>
          <a:prstGeom prst="rect">
            <a:avLst/>
          </a:prstGeom>
        </p:spPr>
      </p:pic>
      <p:pic>
        <p:nvPicPr>
          <p:cNvPr id="9" name="Picture 8" descr="image.png"/>
          <p:cNvPicPr>
            <a:picLocks noChangeAspect="1"/>
          </p:cNvPicPr>
          <p:nvPr/>
        </p:nvPicPr>
        <p:blipFill>
          <a:blip r:embed="rId4"/>
          <a:stretch>
            <a:fillRect/>
          </a:stretch>
        </p:blipFill>
        <p:spPr>
          <a:xfrm>
            <a:off x="6715125" y="2038350"/>
            <a:ext cx="4857750" cy="3600450"/>
          </a:xfrm>
          <a:prstGeom prst="rect">
            <a:avLst/>
          </a:prstGeom>
          <a:effectLst>
            <a:outerShdw blurRad="50800" dist="38100" dir="2700000" algn="tl" rotWithShape="0">
              <a:prstClr val="black">
                <a:alpha val="40000"/>
              </a:prstClr>
            </a:outerShdw>
          </a:effectLst>
        </p:spPr>
      </p:pic>
      <p:sp>
        <p:nvSpPr>
          <p:cNvPr id="10" name="TextBox 9"/>
          <p:cNvSpPr txBox="1"/>
          <p:nvPr/>
        </p:nvSpPr>
        <p:spPr>
          <a:xfrm>
            <a:off x="609600" y="457200"/>
            <a:ext cx="5486400" cy="182880"/>
          </a:xfrm>
          <a:prstGeom prst="rect">
            <a:avLst/>
          </a:prstGeom>
          <a:noFill/>
        </p:spPr>
        <p:txBody>
          <a:bodyPr wrap="square" lIns="0" tIns="0" rIns="0" bIns="0" anchor="t">
            <a:noAutofit/>
          </a:bodyPr>
          <a:lstStyle>
            <a:defPPr>
              <a:defRPr lang="en-US"/>
            </a:defPPr>
            <a:lvl1pPr>
              <a:defRPr sz="1000" b="1" i="0" u="none">
                <a:solidFill>
                  <a:srgbClr val="0284C7"/>
                </a:solidFill>
                <a:latin typeface="+mj-lt"/>
              </a:defRPr>
            </a:lvl1pPr>
          </a:lstStyle>
          <a:p>
            <a:r>
              <a:rPr dirty="0"/>
              <a:t>OPERATIONAL ALIGNMENT</a:t>
            </a:r>
          </a:p>
        </p:txBody>
      </p:sp>
      <p:sp>
        <p:nvSpPr>
          <p:cNvPr id="11" name="TextBox 10"/>
          <p:cNvSpPr txBox="1"/>
          <p:nvPr/>
        </p:nvSpPr>
        <p:spPr>
          <a:xfrm>
            <a:off x="609600" y="666750"/>
            <a:ext cx="10972800" cy="457200"/>
          </a:xfrm>
          <a:prstGeom prst="rect">
            <a:avLst/>
          </a:prstGeom>
          <a:noFill/>
        </p:spPr>
        <p:txBody>
          <a:bodyPr wrap="square" lIns="0" tIns="0" rIns="0" bIns="0" anchor="t">
            <a:noAutofit/>
          </a:bodyPr>
          <a:lstStyle>
            <a:defPPr>
              <a:defRPr lang="en-US"/>
            </a:defPPr>
            <a:lvl1pPr>
              <a:defRPr sz="2400" b="1" i="0" u="none">
                <a:solidFill>
                  <a:srgbClr val="0F172A"/>
                </a:solidFill>
                <a:latin typeface="Aptos Narrow" panose="020B0004020202020204" pitchFamily="34" charset="0"/>
              </a:defRPr>
            </a:lvl1pPr>
          </a:lstStyle>
          <a:p>
            <a:r>
              <a:rPr dirty="0"/>
              <a:t>Actionable Advisory Intervention Paths</a:t>
            </a:r>
          </a:p>
        </p:txBody>
      </p:sp>
      <p:sp>
        <p:nvSpPr>
          <p:cNvPr id="17" name="TextBox 16"/>
          <p:cNvSpPr txBox="1"/>
          <p:nvPr/>
        </p:nvSpPr>
        <p:spPr>
          <a:xfrm>
            <a:off x="838200" y="3514725"/>
            <a:ext cx="4983480" cy="960120"/>
          </a:xfrm>
          <a:prstGeom prst="rect">
            <a:avLst/>
          </a:prstGeom>
          <a:noFill/>
        </p:spPr>
        <p:txBody>
          <a:bodyPr wrap="square" lIns="0" tIns="0" rIns="0" bIns="0" anchor="t">
            <a:noAutofit/>
          </a:bodyPr>
          <a:lstStyle/>
          <a:p>
            <a:pPr algn="l"/>
            <a:r>
              <a:rPr sz="1400" b="1" dirty="0">
                <a:solidFill>
                  <a:srgbClr val="0F172A"/>
                </a:solidFill>
                <a:latin typeface="Aptos Narrow" panose="020B0004020202020204" pitchFamily="34" charset="0"/>
              </a:rPr>
              <a:t>Academic</a:t>
            </a:r>
            <a:r>
              <a:rPr sz="1400" b="1" i="0" u="none" dirty="0">
                <a:solidFill>
                  <a:srgbClr val="0F172A"/>
                </a:solidFill>
                <a:latin typeface="Aptos Narrow" panose="020B0004020202020204" pitchFamily="34" charset="0"/>
              </a:rPr>
              <a:t> Support Playbook</a:t>
            </a:r>
            <a:endParaRPr lang="en-US" sz="1400" b="1" i="0" u="none" dirty="0">
              <a:solidFill>
                <a:srgbClr val="0F172A"/>
              </a:solidFill>
              <a:latin typeface="Aptos Narrow"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0B981"/>
                </a:solidFill>
                <a:effectLst/>
                <a:uLnTx/>
                <a:uFillTx/>
                <a:latin typeface="Aptos Narrow" panose="020B0004020202020204" pitchFamily="34" charset="0"/>
                <a:ea typeface="+mn-ea"/>
                <a:cs typeface="+mn-cs"/>
              </a:rPr>
              <a:t>Planning target: 25% retained (validate in pilot)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75569"/>
                </a:solidFill>
                <a:effectLst/>
                <a:uLnTx/>
                <a:uFillTx/>
                <a:latin typeface="Aptos Narrow" panose="020B0004020202020204" pitchFamily="34" charset="0"/>
                <a:ea typeface="+mn-ea"/>
                <a:cs typeface="+mn-cs"/>
              </a:rPr>
              <a:t>Trigger: low Semester 1 and 2 approval rate. Peer tutoring, academic advising and a credit-load audit for failing units.</a:t>
            </a:r>
          </a:p>
        </p:txBody>
      </p:sp>
      <p:sp>
        <p:nvSpPr>
          <p:cNvPr id="15" name="TextBox 14"/>
          <p:cNvSpPr txBox="1"/>
          <p:nvPr/>
        </p:nvSpPr>
        <p:spPr>
          <a:xfrm>
            <a:off x="838200" y="2257425"/>
            <a:ext cx="4983480" cy="960120"/>
          </a:xfrm>
          <a:prstGeom prst="rect">
            <a:avLst/>
          </a:prstGeom>
          <a:noFill/>
        </p:spPr>
        <p:txBody>
          <a:bodyPr wrap="square" lIns="0" tIns="0" rIns="0" bIns="0" anchor="t">
            <a:noAutofit/>
          </a:bodyPr>
          <a:lstStyle>
            <a:defPPr>
              <a:defRPr lang="en-US"/>
            </a:defPPr>
            <a:lvl1pPr>
              <a:defRPr sz="1400" b="1">
                <a:solidFill>
                  <a:srgbClr val="0F172A"/>
                </a:solidFill>
                <a:latin typeface="Aptos Narrow" panose="020B0004020202020204" pitchFamily="34" charset="0"/>
              </a:defRPr>
            </a:lvl1pPr>
          </a:lstStyle>
          <a:p>
            <a:r>
              <a:rPr dirty="0"/>
              <a:t>Financial Restructuring Playbook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284C7"/>
                </a:solidFill>
                <a:effectLst/>
                <a:uLnTx/>
                <a:uFillTx/>
                <a:latin typeface="Aptos Narrow" panose="020B0004020202020204" pitchFamily="34" charset="0"/>
                <a:ea typeface="+mn-ea"/>
                <a:cs typeface="+mn-cs"/>
              </a:rPr>
              <a:t>Planning target: 30% retained (validate in pilot)</a:t>
            </a:r>
          </a:p>
          <a:p>
            <a:pPr>
              <a:defRPr/>
            </a:pPr>
            <a:r>
              <a:rPr lang="en-US" sz="1000" b="0" dirty="0">
                <a:solidFill>
                  <a:srgbClr val="475569"/>
                </a:solidFill>
              </a:rPr>
              <a:t>Trigger: tuition not up to date or debtor. Financial-aid and emergency-grant review and deferred instalment plans; micro-grants of $500 to $1,200 are a planning range.</a:t>
            </a:r>
          </a:p>
        </p:txBody>
      </p:sp>
      <p:sp>
        <p:nvSpPr>
          <p:cNvPr id="19" name="TextBox 18"/>
          <p:cNvSpPr txBox="1"/>
          <p:nvPr/>
        </p:nvSpPr>
        <p:spPr>
          <a:xfrm>
            <a:off x="838197" y="4619625"/>
            <a:ext cx="4983480" cy="960120"/>
          </a:xfrm>
          <a:prstGeom prst="rect">
            <a:avLst/>
          </a:prstGeom>
          <a:noFill/>
        </p:spPr>
        <p:txBody>
          <a:bodyPr wrap="square" lIns="0" tIns="0" rIns="0" bIns="0" anchor="t">
            <a:noAutofit/>
          </a:bodyPr>
          <a:lstStyle>
            <a:defPPr>
              <a:defRPr lang="en-US"/>
            </a:defPPr>
            <a:lvl1pPr>
              <a:defRPr sz="1400" b="1">
                <a:solidFill>
                  <a:srgbClr val="0F172A"/>
                </a:solidFill>
                <a:latin typeface="Aptos Narrow" panose="020B0004020202020204" pitchFamily="34" charset="0"/>
              </a:defRPr>
            </a:lvl1pPr>
          </a:lstStyle>
          <a:p>
            <a:r>
              <a:rPr dirty="0"/>
              <a:t>Holistic Counseling Playbook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D97706"/>
                </a:solidFill>
                <a:effectLst/>
                <a:uLnTx/>
                <a:uFillTx/>
                <a:latin typeface="Aptos Narrow" panose="020B0004020202020204" pitchFamily="34" charset="0"/>
                <a:ea typeface="+mn-ea"/>
                <a:cs typeface="+mn-cs"/>
              </a:rPr>
              <a:t>Planning target: 20% retained (validate in pilot)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75569"/>
                </a:solidFill>
                <a:effectLst/>
                <a:uLnTx/>
                <a:uFillTx/>
                <a:latin typeface="Aptos Narrow" panose="020B0004020202020204" pitchFamily="34" charset="0"/>
                <a:ea typeface="+mn-ea"/>
                <a:cs typeface="+mn-cs"/>
              </a:rPr>
              <a:t>Trigger: mature students (over 25) or moderate risk (0.4 to 0.6). Non-traditional-student support, work-study mentoring and an automated check-in survey.</a:t>
            </a:r>
            <a:endParaRPr dirty="0"/>
          </a:p>
        </p:txBody>
      </p:sp>
      <p:sp>
        <p:nvSpPr>
          <p:cNvPr id="12" name="Footer Placeholder 11">
            <a:extLst>
              <a:ext uri="{FF2B5EF4-FFF2-40B4-BE49-F238E27FC236}">
                <a16:creationId xmlns:a16="http://schemas.microsoft.com/office/drawing/2014/main" id="{A2146499-2B2D-F6AB-3E07-861B4BDC985A}"/>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13" name="Slide Number Placeholder 12">
            <a:extLst>
              <a:ext uri="{FF2B5EF4-FFF2-40B4-BE49-F238E27FC236}">
                <a16:creationId xmlns:a16="http://schemas.microsoft.com/office/drawing/2014/main" id="{A302231B-583C-99B8-9153-6218B9D7AA9D}"/>
              </a:ext>
            </a:extLst>
          </p:cNvPr>
          <p:cNvSpPr>
            <a:spLocks noGrp="1"/>
          </p:cNvSpPr>
          <p:nvPr>
            <p:ph type="sldNum" sz="quarter" idx="11"/>
          </p:nvPr>
        </p:nvSpPr>
        <p:spPr/>
        <p:txBody>
          <a:bodyPr/>
          <a:lstStyle/>
          <a:p>
            <a:fld id="{B67B645E-C5E5-4727-B977-D372A0AA71D9}" type="slidenum">
              <a:rPr lang="en-US" smtClean="0"/>
              <a:pPr/>
              <a:t>11</a:t>
            </a:fld>
            <a:endParaRPr lang="en-US" dirty="0"/>
          </a:p>
        </p:txBody>
      </p:sp>
      <p:sp>
        <p:nvSpPr>
          <p:cNvPr id="20" name="TextBox 19"/>
          <p:cNvSpPr txBox="1"/>
          <p:nvPr/>
        </p:nvSpPr>
        <p:spPr>
          <a:xfrm>
            <a:off x="6702552" y="5687568"/>
            <a:ext cx="4846320" cy="182880"/>
          </a:xfrm>
          <a:prstGeom prst="rect">
            <a:avLst/>
          </a:prstGeom>
          <a:noFill/>
        </p:spPr>
        <p:txBody>
          <a:bodyPr wrap="square" lIns="0" rIns="0" tIns="0" bIns="0" anchor="t">
            <a:noAutofit/>
          </a:bodyPr>
          <a:lstStyle/>
          <a:p>
            <a:pPr algn="l"/>
            <a:r>
              <a:rPr sz="800" b="0">
                <a:solidFill>
                  <a:srgbClr val="64748B"/>
                </a:solidFill>
                <a:latin typeface="Aptos Narrow"/>
              </a:rPr>
              <a:t>Photo: prepscholar.com</a:t>
            </a:r>
          </a:p>
        </p:txBody>
      </p:sp>
      <p:sp>
        <p:nvSpPr>
          <p:cNvPr id="21" name="TextBox 20"/>
          <p:cNvSpPr txBox="1"/>
          <p:nvPr/>
        </p:nvSpPr>
        <p:spPr>
          <a:xfrm>
            <a:off x="612648" y="5760720"/>
            <a:ext cx="5852160" cy="457200"/>
          </a:xfrm>
          <a:prstGeom prst="rect">
            <a:avLst/>
          </a:prstGeom>
          <a:noFill/>
        </p:spPr>
        <p:txBody>
          <a:bodyPr wrap="square" lIns="0" rIns="0" tIns="0" bIns="0" anchor="t">
            <a:noAutofit/>
          </a:bodyPr>
          <a:lstStyle/>
          <a:p>
            <a:pPr algn="l"/>
            <a:r>
              <a:rPr sz="1100" b="1">
                <a:solidFill>
                  <a:srgbClr val="0F172A"/>
                </a:solidFill>
                <a:latin typeface="Aptos Narrow"/>
              </a:rPr>
              <a:t>Capacity check: about 47% of students are flagged, so triage by risk score and size advisor hours before launch.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09600" y="457200"/>
            <a:ext cx="5486400" cy="182880"/>
          </a:xfrm>
          <a:prstGeom prst="rect">
            <a:avLst/>
          </a:prstGeom>
          <a:noFill/>
        </p:spPr>
        <p:txBody>
          <a:bodyPr wrap="square" lIns="0" tIns="0" rIns="0" bIns="0" anchor="t">
            <a:noAutofit/>
          </a:bodyPr>
          <a:lstStyle>
            <a:defPPr>
              <a:defRPr lang="en-US"/>
            </a:defPPr>
            <a:lvl1pPr>
              <a:defRPr sz="1000" b="1" i="0" u="none">
                <a:solidFill>
                  <a:srgbClr val="0284C7"/>
                </a:solidFill>
                <a:latin typeface="+mj-lt"/>
              </a:defRPr>
            </a:lvl1pPr>
          </a:lstStyle>
          <a:p>
            <a:r>
              <a:rPr dirty="0"/>
              <a:t>GOVERNANCE &amp; ETHICS</a:t>
            </a:r>
          </a:p>
        </p:txBody>
      </p:sp>
      <p:sp>
        <p:nvSpPr>
          <p:cNvPr id="8" name="TextBox 7"/>
          <p:cNvSpPr txBox="1"/>
          <p:nvPr/>
        </p:nvSpPr>
        <p:spPr>
          <a:xfrm>
            <a:off x="609600" y="666750"/>
            <a:ext cx="10972800" cy="457200"/>
          </a:xfrm>
          <a:prstGeom prst="rect">
            <a:avLst/>
          </a:prstGeom>
          <a:noFill/>
        </p:spPr>
        <p:txBody>
          <a:bodyPr wrap="square" lIns="0" tIns="0" rIns="0" bIns="0" anchor="t">
            <a:noAutofit/>
          </a:bodyPr>
          <a:lstStyle>
            <a:defPPr>
              <a:defRPr lang="en-US"/>
            </a:defPPr>
            <a:lvl1pPr>
              <a:defRPr sz="2400" b="1" i="0" u="none">
                <a:solidFill>
                  <a:srgbClr val="0F172A"/>
                </a:solidFill>
                <a:latin typeface="Aptos Narrow" panose="020B0004020202020204" pitchFamily="34" charset="0"/>
              </a:defRPr>
            </a:lvl1pPr>
          </a:lstStyle>
          <a:p>
            <a:r>
              <a:rPr dirty="0"/>
              <a:t>Ethical AI: Fairness Audit and Mitigation</a:t>
            </a:r>
          </a:p>
        </p:txBody>
      </p:sp>
      <p:sp>
        <p:nvSpPr>
          <p:cNvPr id="23" name="Footer Placeholder 22">
            <a:extLst>
              <a:ext uri="{FF2B5EF4-FFF2-40B4-BE49-F238E27FC236}">
                <a16:creationId xmlns:a16="http://schemas.microsoft.com/office/drawing/2014/main" id="{C15D044C-2CAF-C5AC-DF18-5C46D625561A}"/>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24" name="Slide Number Placeholder 23">
            <a:extLst>
              <a:ext uri="{FF2B5EF4-FFF2-40B4-BE49-F238E27FC236}">
                <a16:creationId xmlns:a16="http://schemas.microsoft.com/office/drawing/2014/main" id="{229B76BD-36DA-CF78-E351-CAA46EDA0456}"/>
              </a:ext>
            </a:extLst>
          </p:cNvPr>
          <p:cNvSpPr>
            <a:spLocks noGrp="1"/>
          </p:cNvSpPr>
          <p:nvPr>
            <p:ph type="sldNum" sz="quarter" idx="11"/>
          </p:nvPr>
        </p:nvSpPr>
        <p:spPr/>
        <p:txBody>
          <a:bodyPr/>
          <a:lstStyle/>
          <a:p>
            <a:fld id="{B67B645E-C5E5-4727-B977-D372A0AA71D9}" type="slidenum">
              <a:rPr lang="en-US" smtClean="0"/>
              <a:pPr/>
              <a:t>12</a:t>
            </a:fld>
            <a:endParaRPr lang="en-US" dirty="0"/>
          </a:p>
        </p:txBody>
      </p:sp>
      <p:sp>
        <p:nvSpPr>
          <p:cNvPr id="25" name="Rounded Rectangle 24"/>
          <p:cNvSpPr/>
          <p:nvPr/>
        </p:nvSpPr>
        <p:spPr>
          <a:xfrm>
            <a:off x="612648" y="1508760"/>
            <a:ext cx="4480560" cy="274320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8" y="1627632"/>
            <a:ext cx="4069080" cy="2514600"/>
          </a:xfrm>
          <a:prstGeom prst="rect">
            <a:avLst/>
          </a:prstGeom>
          <a:noFill/>
        </p:spPr>
        <p:txBody>
          <a:bodyPr wrap="square" lIns="0" rIns="0" tIns="0" bIns="0" anchor="t">
            <a:noAutofit/>
          </a:bodyPr>
          <a:lstStyle/>
          <a:p>
            <a:pPr algn="l">
              <a:spcAft>
                <a:spcPts val="200"/>
              </a:spcAft>
            </a:pPr>
            <a:r>
              <a:rPr sz="1000" b="1">
                <a:solidFill>
                  <a:srgbClr val="0284C7"/>
                </a:solidFill>
                <a:latin typeface="Aptos Narrow"/>
              </a:rPr>
              <a:t>AUDIT RESULT</a:t>
            </a:r>
          </a:p>
          <a:p>
            <a:pPr algn="l">
              <a:spcAft>
                <a:spcPts val="0"/>
              </a:spcAft>
            </a:pPr>
            <a:r>
              <a:rPr sz="3800" b="1">
                <a:solidFill>
                  <a:srgbClr val="EF4444"/>
                </a:solidFill>
                <a:latin typeface="Aptos Narrow"/>
              </a:rPr>
              <a:t>2 of 5</a:t>
            </a:r>
          </a:p>
          <a:p>
            <a:pPr algn="l">
              <a:spcAft>
                <a:spcPts val="600"/>
              </a:spcAft>
            </a:pPr>
            <a:r>
              <a:rPr sz="1200" b="1">
                <a:solidFill>
                  <a:srgbClr val="0F172A"/>
                </a:solidFill>
                <a:latin typeface="Aptos Narrow"/>
              </a:rPr>
              <a:t>attributes exceed the 0.10 recall-gap limit</a:t>
            </a:r>
          </a:p>
          <a:p>
            <a:pPr algn="l"/>
            <a:r>
              <a:rPr sz="1050" b="0">
                <a:solidFill>
                  <a:srgbClr val="475569"/>
                </a:solidFill>
                <a:latin typeface="Aptos Narrow"/>
              </a:rPr>
              <a:t>Scholarship holders (gap 0.13) and age groups (0.18). Flag-rate ratios fall below 0.80 for all five attributes, mostly because group dropout rates differ (scholarship holders 12.6% vs 39.0%), so recall parity is the primary test.</a:t>
            </a:r>
          </a:p>
        </p:txBody>
      </p:sp>
      <p:graphicFrame>
        <p:nvGraphicFramePr>
          <p:cNvPr id="27" name="Table 26"/>
          <p:cNvGraphicFramePr>
            <a:graphicFrameLocks noGrp="1"/>
          </p:cNvGraphicFramePr>
          <p:nvPr/>
        </p:nvGraphicFramePr>
        <p:xfrm>
          <a:off x="5303520" y="1508760"/>
          <a:ext cx="6281928" cy="2743200"/>
        </p:xfrm>
        <a:graphic>
          <a:graphicData uri="http://schemas.openxmlformats.org/drawingml/2006/table">
            <a:tbl>
              <a:tblPr firstRow="0" bandRow="0">
                <a:tableStyleId>{5C22544A-7EE6-4342-B048-85BDC9FD1C3A}</a:tableStyleId>
              </a:tblPr>
              <a:tblGrid>
                <a:gridCol w="1325880"/>
                <a:gridCol w="2834640"/>
                <a:gridCol w="1005840"/>
                <a:gridCol w="1115568"/>
              </a:tblGrid>
              <a:tr h="457200">
                <a:tc>
                  <a:txBody>
                    <a:bodyPr wrap="square"/>
                    <a:lstStyle/>
                    <a:p>
                      <a:pPr algn="l"/>
                      <a:r>
                        <a:rPr sz="1050" b="1">
                          <a:solidFill>
                            <a:srgbClr val="FFFFFF"/>
                          </a:solidFill>
                          <a:latin typeface="Aptos Narrow"/>
                        </a:rPr>
                        <a:t>Attribute</a:t>
                      </a:r>
                    </a:p>
                  </a:txBody>
                  <a:tcPr marL="73152" marR="73152" marT="27432" marB="27432" anchor="ctr">
                    <a:solidFill>
                      <a:srgbClr val="0F172A"/>
                    </a:solidFill>
                  </a:tcPr>
                </a:tc>
                <a:tc>
                  <a:txBody>
                    <a:bodyPr wrap="square"/>
                    <a:lstStyle/>
                    <a:p>
                      <a:pPr algn="ctr"/>
                      <a:r>
                        <a:rPr sz="1050" b="1">
                          <a:solidFill>
                            <a:srgbClr val="FFFFFF"/>
                          </a:solidFill>
                          <a:latin typeface="Aptos Narrow"/>
                        </a:rPr>
                        <a:t>Lowest-recall group (vs highest)</a:t>
                      </a:r>
                    </a:p>
                  </a:txBody>
                  <a:tcPr marL="73152" marR="73152" marT="27432" marB="27432" anchor="ctr">
                    <a:solidFill>
                      <a:srgbClr val="0F172A"/>
                    </a:solidFill>
                  </a:tcPr>
                </a:tc>
                <a:tc>
                  <a:txBody>
                    <a:bodyPr wrap="square"/>
                    <a:lstStyle/>
                    <a:p>
                      <a:pPr algn="ctr"/>
                      <a:r>
                        <a:rPr sz="1050" b="1">
                          <a:solidFill>
                            <a:srgbClr val="FFFFFF"/>
                          </a:solidFill>
                          <a:latin typeface="Aptos Narrow"/>
                        </a:rPr>
                        <a:t>Recall gap</a:t>
                      </a:r>
                    </a:p>
                  </a:txBody>
                  <a:tcPr marL="73152" marR="73152" marT="27432" marB="27432" anchor="ctr">
                    <a:solidFill>
                      <a:srgbClr val="0F172A"/>
                    </a:solidFill>
                  </a:tcPr>
                </a:tc>
                <a:tc>
                  <a:txBody>
                    <a:bodyPr wrap="square"/>
                    <a:lstStyle/>
                    <a:p>
                      <a:pPr algn="ctr"/>
                      <a:r>
                        <a:rPr sz="1050" b="1">
                          <a:solidFill>
                            <a:srgbClr val="FFFFFF"/>
                          </a:solidFill>
                          <a:latin typeface="Aptos Narrow"/>
                        </a:rPr>
                        <a:t>Flag-rate ratio</a:t>
                      </a:r>
                    </a:p>
                  </a:txBody>
                  <a:tcPr marL="73152" marR="73152" marT="27432" marB="27432" anchor="ctr">
                    <a:solidFill>
                      <a:srgbClr val="0F172A"/>
                    </a:solidFill>
                  </a:tcPr>
                </a:tc>
              </a:tr>
              <a:tr h="457200">
                <a:tc>
                  <a:txBody>
                    <a:bodyPr wrap="square"/>
                    <a:lstStyle/>
                    <a:p>
                      <a:pPr algn="l"/>
                      <a:r>
                        <a:rPr sz="1050" b="1">
                          <a:solidFill>
                            <a:srgbClr val="0F172A"/>
                          </a:solidFill>
                          <a:latin typeface="Aptos Narrow"/>
                        </a:rPr>
                        <a:t>Age group</a:t>
                      </a:r>
                    </a:p>
                  </a:txBody>
                  <a:tcPr marL="73152" marR="73152" marT="27432" marB="27432" anchor="ctr">
                    <a:solidFill>
                      <a:srgbClr val="FFFFFF"/>
                    </a:solidFill>
                  </a:tcPr>
                </a:tc>
                <a:tc>
                  <a:txBody>
                    <a:bodyPr wrap="square"/>
                    <a:lstStyle/>
                    <a:p>
                      <a:pPr algn="ctr"/>
                      <a:r>
                        <a:rPr sz="1050" b="0">
                          <a:solidFill>
                            <a:srgbClr val="0F172A"/>
                          </a:solidFill>
                          <a:latin typeface="Aptos Narrow"/>
                        </a:rPr>
                        <a:t>≤20: 80.4% (&gt;25: 98.4%)</a:t>
                      </a:r>
                    </a:p>
                  </a:txBody>
                  <a:tcPr marL="73152" marR="73152" marT="27432" marB="27432" anchor="ctr">
                    <a:solidFill>
                      <a:srgbClr val="FFFFFF"/>
                    </a:solidFill>
                  </a:tcPr>
                </a:tc>
                <a:tc>
                  <a:txBody>
                    <a:bodyPr wrap="square"/>
                    <a:lstStyle/>
                    <a:p>
                      <a:pPr algn="ctr"/>
                      <a:r>
                        <a:rPr sz="1050" b="1">
                          <a:solidFill>
                            <a:srgbClr val="EF4444"/>
                          </a:solidFill>
                          <a:latin typeface="Aptos Narrow"/>
                        </a:rPr>
                        <a:t>0.18</a:t>
                      </a:r>
                    </a:p>
                  </a:txBody>
                  <a:tcPr marL="73152" marR="73152" marT="27432" marB="27432" anchor="ctr">
                    <a:solidFill>
                      <a:srgbClr val="FFFFFF"/>
                    </a:solidFill>
                  </a:tcPr>
                </a:tc>
                <a:tc>
                  <a:txBody>
                    <a:bodyPr wrap="square"/>
                    <a:lstStyle/>
                    <a:p>
                      <a:pPr algn="ctr"/>
                      <a:r>
                        <a:rPr sz="1050" b="0">
                          <a:solidFill>
                            <a:srgbClr val="0F172A"/>
                          </a:solidFill>
                          <a:latin typeface="Aptos Narrow"/>
                        </a:rPr>
                        <a:t>0.42</a:t>
                      </a:r>
                    </a:p>
                  </a:txBody>
                  <a:tcPr marL="73152" marR="73152" marT="27432" marB="27432" anchor="ctr">
                    <a:solidFill>
                      <a:srgbClr val="FFFFFF"/>
                    </a:solidFill>
                  </a:tcPr>
                </a:tc>
              </a:tr>
              <a:tr h="457200">
                <a:tc>
                  <a:txBody>
                    <a:bodyPr wrap="square"/>
                    <a:lstStyle/>
                    <a:p>
                      <a:pPr algn="l"/>
                      <a:r>
                        <a:rPr sz="1050" b="1">
                          <a:solidFill>
                            <a:srgbClr val="0F172A"/>
                          </a:solidFill>
                          <a:latin typeface="Aptos Narrow"/>
                        </a:rPr>
                        <a:t>Scholarship</a:t>
                      </a:r>
                    </a:p>
                  </a:txBody>
                  <a:tcPr marL="73152" marR="73152" marT="27432" marB="27432" anchor="ctr">
                    <a:solidFill>
                      <a:srgbClr val="FFFFFF"/>
                    </a:solidFill>
                  </a:tcPr>
                </a:tc>
                <a:tc>
                  <a:txBody>
                    <a:bodyPr wrap="square"/>
                    <a:lstStyle/>
                    <a:p>
                      <a:pPr algn="ctr"/>
                      <a:r>
                        <a:rPr sz="1050" b="0">
                          <a:solidFill>
                            <a:srgbClr val="0F172A"/>
                          </a:solidFill>
                          <a:latin typeface="Aptos Narrow"/>
                        </a:rPr>
                        <a:t>Scholarship: 79.3% (none: 92.5%)</a:t>
                      </a:r>
                    </a:p>
                  </a:txBody>
                  <a:tcPr marL="73152" marR="73152" marT="27432" marB="27432" anchor="ctr">
                    <a:solidFill>
                      <a:srgbClr val="FFFFFF"/>
                    </a:solidFill>
                  </a:tcPr>
                </a:tc>
                <a:tc>
                  <a:txBody>
                    <a:bodyPr wrap="square"/>
                    <a:lstStyle/>
                    <a:p>
                      <a:pPr algn="ctr"/>
                      <a:r>
                        <a:rPr sz="1050" b="1">
                          <a:solidFill>
                            <a:srgbClr val="EF4444"/>
                          </a:solidFill>
                          <a:latin typeface="Aptos Narrow"/>
                        </a:rPr>
                        <a:t>0.13</a:t>
                      </a:r>
                    </a:p>
                  </a:txBody>
                  <a:tcPr marL="73152" marR="73152" marT="27432" marB="27432" anchor="ctr">
                    <a:solidFill>
                      <a:srgbClr val="FFFFFF"/>
                    </a:solidFill>
                  </a:tcPr>
                </a:tc>
                <a:tc>
                  <a:txBody>
                    <a:bodyPr wrap="square"/>
                    <a:lstStyle/>
                    <a:p>
                      <a:pPr algn="ctr"/>
                      <a:r>
                        <a:rPr sz="1050" b="0">
                          <a:solidFill>
                            <a:srgbClr val="0F172A"/>
                          </a:solidFill>
                          <a:latin typeface="Aptos Narrow"/>
                        </a:rPr>
                        <a:t>0.32</a:t>
                      </a:r>
                    </a:p>
                  </a:txBody>
                  <a:tcPr marL="73152" marR="73152" marT="27432" marB="27432" anchor="ctr">
                    <a:solidFill>
                      <a:srgbClr val="FFFFFF"/>
                    </a:solidFill>
                  </a:tcPr>
                </a:tc>
              </a:tr>
              <a:tr h="457200">
                <a:tc>
                  <a:txBody>
                    <a:bodyPr wrap="square"/>
                    <a:lstStyle/>
                    <a:p>
                      <a:pPr algn="l"/>
                      <a:r>
                        <a:rPr sz="1050" b="1">
                          <a:solidFill>
                            <a:srgbClr val="0F172A"/>
                          </a:solidFill>
                          <a:latin typeface="Aptos Narrow"/>
                        </a:rPr>
                        <a:t>Debtor</a:t>
                      </a:r>
                    </a:p>
                  </a:txBody>
                  <a:tcPr marL="73152" marR="73152" marT="27432" marB="27432" anchor="ctr">
                    <a:solidFill>
                      <a:srgbClr val="FFFFFF"/>
                    </a:solidFill>
                  </a:tcPr>
                </a:tc>
                <a:tc>
                  <a:txBody>
                    <a:bodyPr wrap="square"/>
                    <a:lstStyle/>
                    <a:p>
                      <a:pPr algn="ctr"/>
                      <a:r>
                        <a:rPr sz="1050" b="0">
                          <a:solidFill>
                            <a:srgbClr val="0F172A"/>
                          </a:solidFill>
                          <a:latin typeface="Aptos Narrow"/>
                        </a:rPr>
                        <a:t>Not debtor: 89.7% (debtor: 98.1%)</a:t>
                      </a:r>
                    </a:p>
                  </a:txBody>
                  <a:tcPr marL="73152" marR="73152" marT="27432" marB="27432" anchor="ctr">
                    <a:solidFill>
                      <a:srgbClr val="FFFFFF"/>
                    </a:solidFill>
                  </a:tcPr>
                </a:tc>
                <a:tc>
                  <a:txBody>
                    <a:bodyPr wrap="square"/>
                    <a:lstStyle/>
                    <a:p>
                      <a:pPr algn="ctr"/>
                      <a:r>
                        <a:rPr sz="1050" b="1">
                          <a:solidFill>
                            <a:srgbClr val="10B981"/>
                          </a:solidFill>
                          <a:latin typeface="Aptos Narrow"/>
                        </a:rPr>
                        <a:t>0.08</a:t>
                      </a:r>
                    </a:p>
                  </a:txBody>
                  <a:tcPr marL="73152" marR="73152" marT="27432" marB="27432" anchor="ctr">
                    <a:solidFill>
                      <a:srgbClr val="FFFFFF"/>
                    </a:solidFill>
                  </a:tcPr>
                </a:tc>
                <a:tc>
                  <a:txBody>
                    <a:bodyPr wrap="square"/>
                    <a:lstStyle/>
                    <a:p>
                      <a:pPr algn="ctr"/>
                      <a:r>
                        <a:rPr sz="1050" b="0">
                          <a:solidFill>
                            <a:srgbClr val="0F172A"/>
                          </a:solidFill>
                          <a:latin typeface="Aptos Narrow"/>
                        </a:rPr>
                        <a:t>0.52</a:t>
                      </a:r>
                    </a:p>
                  </a:txBody>
                  <a:tcPr marL="73152" marR="73152" marT="27432" marB="27432" anchor="ctr">
                    <a:solidFill>
                      <a:srgbClr val="FFFFFF"/>
                    </a:solidFill>
                  </a:tcPr>
                </a:tc>
              </a:tr>
              <a:tr h="457200">
                <a:tc>
                  <a:txBody>
                    <a:bodyPr wrap="square"/>
                    <a:lstStyle/>
                    <a:p>
                      <a:pPr algn="l"/>
                      <a:r>
                        <a:rPr sz="1050" b="1">
                          <a:solidFill>
                            <a:srgbClr val="0F172A"/>
                          </a:solidFill>
                          <a:latin typeface="Aptos Narrow"/>
                        </a:rPr>
                        <a:t>Marital status</a:t>
                      </a:r>
                    </a:p>
                  </a:txBody>
                  <a:tcPr marL="73152" marR="73152" marT="27432" marB="27432" anchor="ctr">
                    <a:solidFill>
                      <a:srgbClr val="FFFFFF"/>
                    </a:solidFill>
                  </a:tcPr>
                </a:tc>
                <a:tc>
                  <a:txBody>
                    <a:bodyPr wrap="square"/>
                    <a:lstStyle/>
                    <a:p>
                      <a:pPr algn="ctr"/>
                      <a:r>
                        <a:rPr sz="1050" b="0">
                          <a:solidFill>
                            <a:srgbClr val="0F172A"/>
                          </a:solidFill>
                          <a:latin typeface="Aptos Narrow"/>
                        </a:rPr>
                        <a:t>Single: 90.3% (not single: 94.8%)</a:t>
                      </a:r>
                    </a:p>
                  </a:txBody>
                  <a:tcPr marL="73152" marR="73152" marT="27432" marB="27432" anchor="ctr">
                    <a:solidFill>
                      <a:srgbClr val="FFFFFF"/>
                    </a:solidFill>
                  </a:tcPr>
                </a:tc>
                <a:tc>
                  <a:txBody>
                    <a:bodyPr wrap="square"/>
                    <a:lstStyle/>
                    <a:p>
                      <a:pPr algn="ctr"/>
                      <a:r>
                        <a:rPr sz="1050" b="1">
                          <a:solidFill>
                            <a:srgbClr val="10B981"/>
                          </a:solidFill>
                          <a:latin typeface="Aptos Narrow"/>
                        </a:rPr>
                        <a:t>0.05</a:t>
                      </a:r>
                    </a:p>
                  </a:txBody>
                  <a:tcPr marL="73152" marR="73152" marT="27432" marB="27432" anchor="ctr">
                    <a:solidFill>
                      <a:srgbClr val="FFFFFF"/>
                    </a:solidFill>
                  </a:tcPr>
                </a:tc>
                <a:tc>
                  <a:txBody>
                    <a:bodyPr wrap="square"/>
                    <a:lstStyle/>
                    <a:p>
                      <a:pPr algn="ctr"/>
                      <a:r>
                        <a:rPr sz="1050" b="0">
                          <a:solidFill>
                            <a:srgbClr val="0F172A"/>
                          </a:solidFill>
                          <a:latin typeface="Aptos Narrow"/>
                        </a:rPr>
                        <a:t>0.64</a:t>
                      </a:r>
                    </a:p>
                  </a:txBody>
                  <a:tcPr marL="73152" marR="73152" marT="27432" marB="27432" anchor="ctr">
                    <a:solidFill>
                      <a:srgbClr val="FFFFFF"/>
                    </a:solidFill>
                  </a:tcPr>
                </a:tc>
              </a:tr>
              <a:tr h="457200">
                <a:tc>
                  <a:txBody>
                    <a:bodyPr wrap="square"/>
                    <a:lstStyle/>
                    <a:p>
                      <a:pPr algn="l"/>
                      <a:r>
                        <a:rPr sz="1050" b="1">
                          <a:solidFill>
                            <a:srgbClr val="0F172A"/>
                          </a:solidFill>
                          <a:latin typeface="Aptos Narrow"/>
                        </a:rPr>
                        <a:t>Gender</a:t>
                      </a:r>
                    </a:p>
                  </a:txBody>
                  <a:tcPr marL="73152" marR="73152" marT="27432" marB="27432" anchor="ctr">
                    <a:solidFill>
                      <a:srgbClr val="FFFFFF"/>
                    </a:solidFill>
                  </a:tcPr>
                </a:tc>
                <a:tc>
                  <a:txBody>
                    <a:bodyPr wrap="square"/>
                    <a:lstStyle/>
                    <a:p>
                      <a:pPr algn="ctr"/>
                      <a:r>
                        <a:rPr sz="1050" b="0">
                          <a:solidFill>
                            <a:srgbClr val="0F172A"/>
                          </a:solidFill>
                          <a:latin typeface="Aptos Narrow"/>
                        </a:rPr>
                        <a:t>Female: 90.6% (male: 91.8%)</a:t>
                      </a:r>
                    </a:p>
                  </a:txBody>
                  <a:tcPr marL="73152" marR="73152" marT="27432" marB="27432" anchor="ctr">
                    <a:solidFill>
                      <a:srgbClr val="FFFFFF"/>
                    </a:solidFill>
                  </a:tcPr>
                </a:tc>
                <a:tc>
                  <a:txBody>
                    <a:bodyPr wrap="square"/>
                    <a:lstStyle/>
                    <a:p>
                      <a:pPr algn="ctr"/>
                      <a:r>
                        <a:rPr sz="1050" b="1">
                          <a:solidFill>
                            <a:srgbClr val="10B981"/>
                          </a:solidFill>
                          <a:latin typeface="Aptos Narrow"/>
                        </a:rPr>
                        <a:t>0.01</a:t>
                      </a:r>
                    </a:p>
                  </a:txBody>
                  <a:tcPr marL="73152" marR="73152" marT="27432" marB="27432" anchor="ctr">
                    <a:solidFill>
                      <a:srgbClr val="FFFFFF"/>
                    </a:solidFill>
                  </a:tcPr>
                </a:tc>
                <a:tc>
                  <a:txBody>
                    <a:bodyPr wrap="square"/>
                    <a:lstStyle/>
                    <a:p>
                      <a:pPr algn="ctr"/>
                      <a:r>
                        <a:rPr sz="1050" b="0">
                          <a:solidFill>
                            <a:srgbClr val="0F172A"/>
                          </a:solidFill>
                          <a:latin typeface="Aptos Narrow"/>
                        </a:rPr>
                        <a:t>0.59</a:t>
                      </a:r>
                    </a:p>
                  </a:txBody>
                  <a:tcPr marL="73152" marR="73152" marT="27432" marB="27432" anchor="ctr">
                    <a:solidFill>
                      <a:srgbClr val="FFFFFF"/>
                    </a:solidFill>
                  </a:tcPr>
                </a:tc>
              </a:tr>
            </a:tbl>
          </a:graphicData>
        </a:graphic>
      </p:graphicFrame>
      <p:sp>
        <p:nvSpPr>
          <p:cNvPr id="28" name="Rounded Rectangle 27"/>
          <p:cNvSpPr/>
          <p:nvPr/>
        </p:nvSpPr>
        <p:spPr>
          <a:xfrm>
            <a:off x="612648" y="4434840"/>
            <a:ext cx="5760720" cy="160020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1248" y="4526280"/>
            <a:ext cx="5349240" cy="1463040"/>
          </a:xfrm>
          <a:prstGeom prst="rect">
            <a:avLst/>
          </a:prstGeom>
          <a:noFill/>
        </p:spPr>
        <p:txBody>
          <a:bodyPr wrap="square" lIns="0" rIns="0" tIns="0" bIns="0" anchor="t">
            <a:noAutofit/>
          </a:bodyPr>
          <a:lstStyle/>
          <a:p>
            <a:pPr algn="l">
              <a:spcAft>
                <a:spcPts val="300"/>
              </a:spcAft>
            </a:pPr>
            <a:r>
              <a:rPr sz="950" b="1">
                <a:solidFill>
                  <a:srgbClr val="10B981"/>
                </a:solidFill>
                <a:latin typeface="Aptos Narrow"/>
              </a:rPr>
              <a:t>MITIGATION ADOPTED: GROUP THRESHOLDS FOR AGE GROUP</a:t>
            </a:r>
          </a:p>
          <a:p>
            <a:pPr algn="l"/>
            <a:r>
              <a:rPr sz="1050" b="0">
                <a:solidFill>
                  <a:srgbClr val="475569"/>
                </a:solidFill>
                <a:latin typeface="Aptos Narrow"/>
              </a:rPr>
              <a:t>Recall gap 0.18 → 0.07 and flag-rate ratio 0.42 → 0.74. Cost: recall 91.2% → 89.8%, precision 68.5% → 61.4%, and the false-positive gap widened from 0.13 to 0.21. The 0.13 scholarship gap is not yet addressed.</a:t>
            </a:r>
          </a:p>
        </p:txBody>
      </p:sp>
      <p:sp>
        <p:nvSpPr>
          <p:cNvPr id="30" name="Rounded Rectangle 29"/>
          <p:cNvSpPr/>
          <p:nvPr/>
        </p:nvSpPr>
        <p:spPr>
          <a:xfrm>
            <a:off x="6583680" y="4434840"/>
            <a:ext cx="5001768" cy="1600200"/>
          </a:xfrm>
          <a:prstGeom prst="roundRect">
            <a:avLst>
              <a:gd name="adj" fmla="val 6000"/>
            </a:avLst>
          </a:prstGeom>
          <a:solidFill>
            <a:srgbClr val="0F172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812280" y="4526280"/>
            <a:ext cx="4572000" cy="1463040"/>
          </a:xfrm>
          <a:prstGeom prst="rect">
            <a:avLst/>
          </a:prstGeom>
          <a:noFill/>
        </p:spPr>
        <p:txBody>
          <a:bodyPr wrap="square" lIns="0" rIns="0" tIns="0" bIns="0" anchor="t">
            <a:noAutofit/>
          </a:bodyPr>
          <a:lstStyle/>
          <a:p>
            <a:pPr algn="l">
              <a:spcAft>
                <a:spcPts val="300"/>
              </a:spcAft>
            </a:pPr>
            <a:r>
              <a:rPr sz="950" b="1">
                <a:solidFill>
                  <a:srgbClr val="F59E0B"/>
                </a:solidFill>
                <a:latin typeface="Aptos Narrow"/>
              </a:rPr>
              <a:t>SENSITIVE ATTRIBUTES</a:t>
            </a:r>
          </a:p>
          <a:p>
            <a:pPr algn="l">
              <a:spcAft>
                <a:spcPts val="400"/>
              </a:spcAft>
            </a:pPr>
            <a:r>
              <a:rPr sz="1050" b="0">
                <a:solidFill>
                  <a:srgbClr val="E2E8F0"/>
                </a:solidFill>
                <a:latin typeface="Aptos Narrow"/>
              </a:rPr>
              <a:t>Gender and marital status are excluded from the model and used only to audit; adding them gave no accuracy gain (ROC-AUC 0.937 either way). Nationality and international-student status remain model inputs and have not been audited yet: a follow-up item.</a:t>
            </a:r>
          </a:p>
          <a:p>
            <a:pPr algn="l"/>
            <a:r>
              <a:rPr sz="850" b="0">
                <a:solidFill>
                  <a:srgbClr val="94A3B8"/>
                </a:solidFill>
                <a:latin typeface="Aptos Narrow"/>
              </a:rPr>
              <a:t>The 0.80 ratio is a screening heuristic from US employment law, used here as a warning flag, not a legal test.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89657" y="1765369"/>
            <a:ext cx="2443162" cy="1783080"/>
          </a:xfrm>
          <a:prstGeom prst="roundRect">
            <a:avLst>
              <a:gd name="adj" fmla="val 7317"/>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solidFill>
                <a:schemeClr val="dk1"/>
              </a:solidFill>
            </a:endParaRPr>
          </a:p>
        </p:txBody>
      </p:sp>
      <p:sp>
        <p:nvSpPr>
          <p:cNvPr id="3" name="Rounded Rectangle 2"/>
          <p:cNvSpPr/>
          <p:nvPr/>
        </p:nvSpPr>
        <p:spPr>
          <a:xfrm>
            <a:off x="3452812" y="1750695"/>
            <a:ext cx="2443162" cy="1783080"/>
          </a:xfrm>
          <a:prstGeom prst="roundRect">
            <a:avLst>
              <a:gd name="adj" fmla="val 7317"/>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solidFill>
                <a:schemeClr val="dk1"/>
              </a:solidFill>
            </a:endParaRPr>
          </a:p>
        </p:txBody>
      </p:sp>
      <p:sp>
        <p:nvSpPr>
          <p:cNvPr id="4" name="Rounded Rectangle 3"/>
          <p:cNvSpPr/>
          <p:nvPr/>
        </p:nvSpPr>
        <p:spPr>
          <a:xfrm>
            <a:off x="6296025" y="1750695"/>
            <a:ext cx="2443162" cy="1783080"/>
          </a:xfrm>
          <a:prstGeom prst="roundRect">
            <a:avLst>
              <a:gd name="adj" fmla="val 7317"/>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a:solidFill>
                <a:schemeClr val="dk1"/>
              </a:solidFill>
            </a:endParaRPr>
          </a:p>
        </p:txBody>
      </p:sp>
      <p:sp>
        <p:nvSpPr>
          <p:cNvPr id="5" name="Rounded Rectangle 4"/>
          <p:cNvSpPr/>
          <p:nvPr/>
        </p:nvSpPr>
        <p:spPr>
          <a:xfrm>
            <a:off x="9139237" y="1750695"/>
            <a:ext cx="2443162" cy="1783080"/>
          </a:xfrm>
          <a:prstGeom prst="roundRect">
            <a:avLst>
              <a:gd name="adj" fmla="val 7317"/>
            </a:avLst>
          </a:prstGeom>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dk1"/>
              </a:solidFill>
            </a:endParaRPr>
          </a:p>
        </p:txBody>
      </p:sp>
      <p:pic>
        <p:nvPicPr>
          <p:cNvPr id="6" name="Picture 5" descr="image.png"/>
          <p:cNvPicPr>
            <a:picLocks noChangeAspect="1"/>
          </p:cNvPicPr>
          <p:nvPr/>
        </p:nvPicPr>
        <p:blipFill>
          <a:blip r:embed="rId3"/>
          <a:stretch>
            <a:fillRect/>
          </a:stretch>
        </p:blipFill>
        <p:spPr>
          <a:xfrm>
            <a:off x="3205162" y="2455545"/>
            <a:ext cx="95250" cy="152400"/>
          </a:xfrm>
          <a:prstGeom prst="rect">
            <a:avLst/>
          </a:prstGeom>
        </p:spPr>
      </p:pic>
      <p:pic>
        <p:nvPicPr>
          <p:cNvPr id="7" name="Picture 6" descr="image.png"/>
          <p:cNvPicPr>
            <a:picLocks noChangeAspect="1"/>
          </p:cNvPicPr>
          <p:nvPr/>
        </p:nvPicPr>
        <p:blipFill>
          <a:blip r:embed="rId4"/>
          <a:stretch>
            <a:fillRect/>
          </a:stretch>
        </p:blipFill>
        <p:spPr>
          <a:xfrm>
            <a:off x="6048375" y="2455545"/>
            <a:ext cx="95250" cy="152400"/>
          </a:xfrm>
          <a:prstGeom prst="rect">
            <a:avLst/>
          </a:prstGeom>
        </p:spPr>
      </p:pic>
      <p:pic>
        <p:nvPicPr>
          <p:cNvPr id="8" name="Picture 7" descr="image.png"/>
          <p:cNvPicPr>
            <a:picLocks noChangeAspect="1"/>
          </p:cNvPicPr>
          <p:nvPr/>
        </p:nvPicPr>
        <p:blipFill>
          <a:blip r:embed="rId3"/>
          <a:stretch>
            <a:fillRect/>
          </a:stretch>
        </p:blipFill>
        <p:spPr>
          <a:xfrm>
            <a:off x="8891587" y="2455545"/>
            <a:ext cx="95250" cy="152400"/>
          </a:xfrm>
          <a:prstGeom prst="rect">
            <a:avLst/>
          </a:prstGeom>
        </p:spPr>
      </p:pic>
      <p:pic>
        <p:nvPicPr>
          <p:cNvPr id="9" name="Picture 8" descr="image.png"/>
          <p:cNvPicPr>
            <a:picLocks noChangeAspect="1"/>
          </p:cNvPicPr>
          <p:nvPr/>
        </p:nvPicPr>
        <p:blipFill>
          <a:blip r:embed="rId5"/>
          <a:stretch>
            <a:fillRect/>
          </a:stretch>
        </p:blipFill>
        <p:spPr>
          <a:xfrm>
            <a:off x="1659731" y="1950720"/>
            <a:ext cx="342900" cy="342900"/>
          </a:xfrm>
          <a:prstGeom prst="rect">
            <a:avLst/>
          </a:prstGeom>
        </p:spPr>
      </p:pic>
      <p:pic>
        <p:nvPicPr>
          <p:cNvPr id="10" name="Picture 9" descr="image.png"/>
          <p:cNvPicPr>
            <a:picLocks noChangeAspect="1"/>
          </p:cNvPicPr>
          <p:nvPr/>
        </p:nvPicPr>
        <p:blipFill>
          <a:blip r:embed="rId5"/>
          <a:stretch>
            <a:fillRect/>
          </a:stretch>
        </p:blipFill>
        <p:spPr>
          <a:xfrm>
            <a:off x="4502943" y="1950720"/>
            <a:ext cx="342900" cy="342900"/>
          </a:xfrm>
          <a:prstGeom prst="rect">
            <a:avLst/>
          </a:prstGeom>
        </p:spPr>
      </p:pic>
      <p:pic>
        <p:nvPicPr>
          <p:cNvPr id="11" name="Picture 10" descr="image.png"/>
          <p:cNvPicPr>
            <a:picLocks noChangeAspect="1"/>
          </p:cNvPicPr>
          <p:nvPr/>
        </p:nvPicPr>
        <p:blipFill>
          <a:blip r:embed="rId5"/>
          <a:stretch>
            <a:fillRect/>
          </a:stretch>
        </p:blipFill>
        <p:spPr>
          <a:xfrm>
            <a:off x="7346156" y="1950720"/>
            <a:ext cx="342900" cy="342900"/>
          </a:xfrm>
          <a:prstGeom prst="rect">
            <a:avLst/>
          </a:prstGeom>
        </p:spPr>
      </p:pic>
      <p:pic>
        <p:nvPicPr>
          <p:cNvPr id="12" name="Picture 11" descr="image.png"/>
          <p:cNvPicPr>
            <a:picLocks noChangeAspect="1"/>
          </p:cNvPicPr>
          <p:nvPr/>
        </p:nvPicPr>
        <p:blipFill>
          <a:blip r:embed="rId5"/>
          <a:stretch>
            <a:fillRect/>
          </a:stretch>
        </p:blipFill>
        <p:spPr>
          <a:xfrm>
            <a:off x="10189368" y="1950720"/>
            <a:ext cx="342900" cy="342900"/>
          </a:xfrm>
          <a:prstGeom prst="rect">
            <a:avLst/>
          </a:prstGeom>
        </p:spPr>
      </p:pic>
      <p:pic>
        <p:nvPicPr>
          <p:cNvPr id="13" name="Picture 12" descr="image.png"/>
          <p:cNvPicPr>
            <a:picLocks noChangeAspect="1"/>
          </p:cNvPicPr>
          <p:nvPr/>
        </p:nvPicPr>
        <p:blipFill>
          <a:blip r:embed="rId6"/>
          <a:stretch>
            <a:fillRect/>
          </a:stretch>
        </p:blipFill>
        <p:spPr>
          <a:xfrm>
            <a:off x="1754981" y="2045970"/>
            <a:ext cx="152400" cy="152400"/>
          </a:xfrm>
          <a:prstGeom prst="rect">
            <a:avLst/>
          </a:prstGeom>
        </p:spPr>
      </p:pic>
      <p:pic>
        <p:nvPicPr>
          <p:cNvPr id="14" name="Picture 13" descr="image.png"/>
          <p:cNvPicPr>
            <a:picLocks noChangeAspect="1"/>
          </p:cNvPicPr>
          <p:nvPr/>
        </p:nvPicPr>
        <p:blipFill>
          <a:blip r:embed="rId7"/>
          <a:stretch>
            <a:fillRect/>
          </a:stretch>
        </p:blipFill>
        <p:spPr>
          <a:xfrm>
            <a:off x="4598193" y="2045970"/>
            <a:ext cx="152400" cy="152400"/>
          </a:xfrm>
          <a:prstGeom prst="rect">
            <a:avLst/>
          </a:prstGeom>
        </p:spPr>
      </p:pic>
      <p:pic>
        <p:nvPicPr>
          <p:cNvPr id="15" name="Picture 14" descr="image.png"/>
          <p:cNvPicPr>
            <a:picLocks noChangeAspect="1"/>
          </p:cNvPicPr>
          <p:nvPr/>
        </p:nvPicPr>
        <p:blipFill>
          <a:blip r:embed="rId8"/>
          <a:stretch>
            <a:fillRect/>
          </a:stretch>
        </p:blipFill>
        <p:spPr>
          <a:xfrm>
            <a:off x="7441406" y="2045970"/>
            <a:ext cx="152400" cy="152400"/>
          </a:xfrm>
          <a:prstGeom prst="rect">
            <a:avLst/>
          </a:prstGeom>
        </p:spPr>
      </p:pic>
      <p:pic>
        <p:nvPicPr>
          <p:cNvPr id="16" name="Picture 15" descr="image.png"/>
          <p:cNvPicPr>
            <a:picLocks noChangeAspect="1"/>
          </p:cNvPicPr>
          <p:nvPr/>
        </p:nvPicPr>
        <p:blipFill>
          <a:blip r:embed="rId9"/>
          <a:stretch>
            <a:fillRect/>
          </a:stretch>
        </p:blipFill>
        <p:spPr>
          <a:xfrm>
            <a:off x="10284618" y="2045970"/>
            <a:ext cx="152400" cy="152400"/>
          </a:xfrm>
          <a:prstGeom prst="rect">
            <a:avLst/>
          </a:prstGeom>
        </p:spPr>
      </p:pic>
      <p:sp>
        <p:nvSpPr>
          <p:cNvPr id="17" name="TextBox 16"/>
          <p:cNvSpPr txBox="1"/>
          <p:nvPr/>
        </p:nvSpPr>
        <p:spPr>
          <a:xfrm>
            <a:off x="609600" y="457200"/>
            <a:ext cx="5486400" cy="182880"/>
          </a:xfrm>
          <a:prstGeom prst="rect">
            <a:avLst/>
          </a:prstGeom>
          <a:noFill/>
        </p:spPr>
        <p:txBody>
          <a:bodyPr wrap="square" lIns="0" tIns="0" rIns="0" bIns="0" anchor="t">
            <a:noAutofit/>
          </a:bodyPr>
          <a:lstStyle>
            <a:defPPr>
              <a:defRPr lang="en-US"/>
            </a:defPPr>
            <a:lvl1pPr>
              <a:defRPr sz="1000" b="1" i="0" u="none">
                <a:solidFill>
                  <a:srgbClr val="0284C7"/>
                </a:solidFill>
                <a:latin typeface="+mj-lt"/>
              </a:defRPr>
            </a:lvl1pPr>
          </a:lstStyle>
          <a:p>
            <a:r>
              <a:rPr dirty="0"/>
              <a:t>DEPLOYMENT &amp; RISK</a:t>
            </a:r>
          </a:p>
        </p:txBody>
      </p:sp>
      <p:sp>
        <p:nvSpPr>
          <p:cNvPr id="18" name="TextBox 17"/>
          <p:cNvSpPr txBox="1"/>
          <p:nvPr/>
        </p:nvSpPr>
        <p:spPr>
          <a:xfrm>
            <a:off x="609600" y="666750"/>
            <a:ext cx="10972800" cy="457200"/>
          </a:xfrm>
          <a:prstGeom prst="rect">
            <a:avLst/>
          </a:prstGeom>
          <a:noFill/>
        </p:spPr>
        <p:txBody>
          <a:bodyPr wrap="square" lIns="0" tIns="0" rIns="0" bIns="0" anchor="t">
            <a:noAutofit/>
          </a:bodyPr>
          <a:lstStyle>
            <a:defPPr>
              <a:defRPr lang="en-US"/>
            </a:defPPr>
            <a:lvl1pPr>
              <a:defRPr sz="2400" b="1" i="0" u="none">
                <a:solidFill>
                  <a:srgbClr val="0F172A"/>
                </a:solidFill>
                <a:latin typeface="Aptos Narrow" panose="020B0004020202020204" pitchFamily="34" charset="0"/>
              </a:defRPr>
            </a:lvl1pPr>
          </a:lstStyle>
          <a:p>
            <a:r>
              <a:rPr dirty="0" err="1"/>
              <a:t>Proposed Deployment Architecture &amp; Key Risks</a:t>
            </a:r>
          </a:p>
        </p:txBody>
      </p:sp>
      <p:sp>
        <p:nvSpPr>
          <p:cNvPr id="19" name="TextBox 18"/>
          <p:cNvSpPr txBox="1"/>
          <p:nvPr/>
        </p:nvSpPr>
        <p:spPr>
          <a:xfrm>
            <a:off x="701040" y="2407920"/>
            <a:ext cx="2240280" cy="1188720"/>
          </a:xfrm>
          <a:prstGeom prst="rect">
            <a:avLst/>
          </a:prstGeom>
          <a:noFill/>
        </p:spPr>
        <p:txBody>
          <a:bodyPr wrap="square" lIns="0" tIns="0" rIns="0" bIns="0" anchor="t">
            <a:noAutofit/>
          </a:bodyPr>
          <a:lstStyle/>
          <a:p>
            <a:pPr algn="ctr"/>
            <a:r>
              <a:rPr sz="1050" b="1" i="0" u="none" dirty="0">
                <a:solidFill>
                  <a:srgbClr val="0284C7"/>
                </a:solidFill>
                <a:latin typeface="Aptos Narrow" panose="020B0004020202020204" pitchFamily="34" charset="0"/>
              </a:rPr>
              <a:t>01 SERIALIZATION</a:t>
            </a:r>
            <a:endParaRPr lang="en-US" sz="1050" b="1" i="0" u="none" dirty="0">
              <a:solidFill>
                <a:srgbClr val="0284C7"/>
              </a:solidFill>
              <a:latin typeface="Aptos Narrow" panose="020B0004020202020204" pitchFamily="34" charset="0"/>
            </a:endParaRPr>
          </a:p>
          <a:p>
            <a:pPr algn="ctr"/>
            <a:r>
              <a:rPr lang="en-US" sz="1200" b="1" dirty="0" err="1">
                <a:solidFill>
                  <a:srgbClr val="0F172A"/>
                </a:solidFill>
                <a:latin typeface="Aptos Narrow" panose="020B0004020202020204" pitchFamily="34" charset="0"/>
              </a:rPr>
              <a:t>XGBoost Model Artifact</a:t>
            </a:r>
          </a:p>
          <a:p>
            <a:pPr algn="ctr"/>
            <a:r>
              <a:rPr lang="en-US" sz="900" dirty="0">
                <a:solidFill>
                  <a:srgbClr val="64748B"/>
                </a:solidFill>
                <a:latin typeface="Aptos Narrow" panose="020B0004020202020204" pitchFamily="34" charset="0"/>
              </a:rPr>
              <a:t>best_model_xgboost.joblib plus best_model_config.json (parameters, threshold, feature list).</a:t>
            </a:r>
          </a:p>
          <a:p>
            <a:pPr algn="ctr"/>
            <a:endParaRPr lang="en-US" sz="900" b="1" dirty="0">
              <a:solidFill>
                <a:srgbClr val="0F172A"/>
              </a:solidFill>
              <a:latin typeface="Aptos Narrow" panose="020B0004020202020204" pitchFamily="34" charset="0"/>
            </a:endParaRPr>
          </a:p>
          <a:p>
            <a:pPr algn="ctr"/>
            <a:endParaRPr lang="en-US" sz="900" b="1" i="0" u="none" dirty="0">
              <a:solidFill>
                <a:srgbClr val="0284C7"/>
              </a:solidFill>
              <a:latin typeface="Aptos Narrow" panose="020B0004020202020204" pitchFamily="34" charset="0"/>
            </a:endParaRPr>
          </a:p>
          <a:p>
            <a:pPr algn="ctr"/>
            <a:endParaRPr sz="900" b="1" i="0" u="none" dirty="0">
              <a:solidFill>
                <a:srgbClr val="0284C7"/>
              </a:solidFill>
              <a:latin typeface="Aptos Narrow" panose="020B0004020202020204" pitchFamily="34" charset="0"/>
            </a:endParaRPr>
          </a:p>
        </p:txBody>
      </p:sp>
      <p:sp>
        <p:nvSpPr>
          <p:cNvPr id="22" name="TextBox 21"/>
          <p:cNvSpPr txBox="1"/>
          <p:nvPr/>
        </p:nvSpPr>
        <p:spPr>
          <a:xfrm>
            <a:off x="3559265" y="2407920"/>
            <a:ext cx="2240280" cy="1188720"/>
          </a:xfrm>
          <a:prstGeom prst="rect">
            <a:avLst/>
          </a:prstGeom>
          <a:noFill/>
        </p:spPr>
        <p:txBody>
          <a:bodyPr wrap="square" lIns="0" tIns="0" rIns="0" bIns="0" anchor="t">
            <a:noAutofit/>
          </a:bodyPr>
          <a:lstStyle/>
          <a:p>
            <a:pPr algn="ctr"/>
            <a:r>
              <a:rPr sz="1000" b="1" i="0" u="none" dirty="0">
                <a:solidFill>
                  <a:srgbClr val="0284C7"/>
                </a:solidFill>
                <a:latin typeface="Aptos Narrow" panose="020B0004020202020204" pitchFamily="34" charset="0"/>
              </a:rPr>
              <a:t>02 INFERENCE API</a:t>
            </a:r>
            <a:endParaRPr lang="en-US" sz="1000" b="1" i="0" u="none" dirty="0">
              <a:solidFill>
                <a:srgbClr val="0284C7"/>
              </a:solidFill>
              <a:latin typeface="Aptos Narrow"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rgbClr val="0F172A"/>
                </a:solidFill>
                <a:effectLst/>
                <a:uLnTx/>
                <a:uFillTx/>
                <a:latin typeface="Aptos Narrow" panose="020B0004020202020204" pitchFamily="34" charset="0"/>
                <a:ea typeface="+mn-ea"/>
                <a:cs typeface="+mn-cs"/>
              </a:rPr>
              <a:t>FastAPI Endpoint (proposed)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ptos Narrow" panose="020B0004020202020204" pitchFamily="34" charset="0"/>
                <a:ea typeface="+mn-ea"/>
                <a:cs typeface="+mn-cs"/>
              </a:rPr>
              <a:t>Proposed microservice for batch and real-time scoring; not built in this capstone.</a:t>
            </a:r>
            <a:endParaRPr sz="900" b="1" i="0" u="none" dirty="0">
              <a:solidFill>
                <a:srgbClr val="0284C7"/>
              </a:solidFill>
              <a:latin typeface="Aptos Narrow" panose="020B0004020202020204" pitchFamily="34" charset="0"/>
            </a:endParaRPr>
          </a:p>
        </p:txBody>
      </p:sp>
      <p:sp>
        <p:nvSpPr>
          <p:cNvPr id="25" name="TextBox 24"/>
          <p:cNvSpPr txBox="1"/>
          <p:nvPr/>
        </p:nvSpPr>
        <p:spPr>
          <a:xfrm>
            <a:off x="6407406" y="2407920"/>
            <a:ext cx="2240280" cy="1188720"/>
          </a:xfrm>
          <a:prstGeom prst="rect">
            <a:avLst/>
          </a:prstGeom>
          <a:noFill/>
        </p:spPr>
        <p:txBody>
          <a:bodyPr wrap="square" lIns="0" tIns="0" rIns="0" bIns="0" anchor="t">
            <a:noAutofit/>
          </a:bodyPr>
          <a:lstStyle/>
          <a:p>
            <a:pPr algn="ctr"/>
            <a:r>
              <a:rPr sz="1000" b="1" i="0" u="none" dirty="0">
                <a:solidFill>
                  <a:srgbClr val="0284C7"/>
                </a:solidFill>
                <a:latin typeface="Aptos Narrow" panose="020B0004020202020204" pitchFamily="34" charset="0"/>
              </a:rPr>
              <a:t>03 INTEGRATION</a:t>
            </a:r>
            <a:endParaRPr lang="en-US" sz="1000" b="1" i="0" u="none" dirty="0">
              <a:solidFill>
                <a:srgbClr val="0284C7"/>
              </a:solidFill>
              <a:latin typeface="Aptos Narrow" panose="020B0004020202020204" pitchFamily="34" charset="0"/>
            </a:endParaRPr>
          </a:p>
          <a:p>
            <a:pPr algn="ctr"/>
            <a:r>
              <a:rPr lang="en-US" sz="1200" b="1" dirty="0">
                <a:solidFill>
                  <a:srgbClr val="0F172A"/>
                </a:solidFill>
                <a:latin typeface="Aptos Narrow" panose="020B0004020202020204" pitchFamily="34" charset="0"/>
              </a:rPr>
              <a:t>SIS &amp; Advisory CRM</a:t>
            </a:r>
          </a:p>
          <a:p>
            <a:pPr algn="ctr"/>
            <a:r>
              <a:rPr lang="en-US" sz="900" dirty="0">
                <a:solidFill>
                  <a:srgbClr val="64748B"/>
                </a:solidFill>
                <a:latin typeface="Aptos Narrow" panose="020B0004020202020204" pitchFamily="34" charset="0"/>
              </a:rPr>
              <a:t>Proposed integration with student-information and advisory tools to deliver flags and reason cards.</a:t>
            </a:r>
            <a:endParaRPr sz="900" b="1" i="0" u="none" dirty="0">
              <a:solidFill>
                <a:srgbClr val="0284C7"/>
              </a:solidFill>
              <a:latin typeface="Aptos Narrow" panose="020B0004020202020204" pitchFamily="34" charset="0"/>
            </a:endParaRPr>
          </a:p>
        </p:txBody>
      </p:sp>
      <p:sp>
        <p:nvSpPr>
          <p:cNvPr id="28" name="TextBox 27"/>
          <p:cNvSpPr txBox="1"/>
          <p:nvPr/>
        </p:nvSpPr>
        <p:spPr>
          <a:xfrm>
            <a:off x="9230676" y="2407920"/>
            <a:ext cx="2240280" cy="1188720"/>
          </a:xfrm>
          <a:prstGeom prst="rect">
            <a:avLst/>
          </a:prstGeom>
          <a:noFill/>
        </p:spPr>
        <p:txBody>
          <a:bodyPr wrap="square" lIns="0" tIns="0" rIns="0" bIns="0" anchor="t">
            <a:noAutofit/>
          </a:bodyPr>
          <a:lstStyle/>
          <a:p>
            <a:pPr algn="ctr"/>
            <a:r>
              <a:rPr sz="1000" b="1" i="0" u="none" dirty="0">
                <a:solidFill>
                  <a:srgbClr val="0284C7"/>
                </a:solidFill>
                <a:latin typeface="Aptos Narrow" panose="020B0004020202020204" pitchFamily="34" charset="0"/>
              </a:rPr>
              <a:t>04 MONITORING</a:t>
            </a:r>
            <a:endParaRPr lang="en-US" sz="1000" b="1" i="0" u="none" dirty="0">
              <a:solidFill>
                <a:srgbClr val="0284C7"/>
              </a:solidFill>
              <a:latin typeface="Aptos Narrow" panose="020B0004020202020204" pitchFamily="34" charset="0"/>
            </a:endParaRPr>
          </a:p>
          <a:p>
            <a:pPr algn="ctr"/>
            <a:r>
              <a:rPr lang="en-US" sz="1200" b="1" dirty="0">
                <a:solidFill>
                  <a:srgbClr val="0F172A"/>
                </a:solidFill>
                <a:latin typeface="Aptos Narrow" panose="020B0004020202020204" pitchFamily="34" charset="0"/>
              </a:rPr>
              <a:t>Drift &amp; Fairness Tracking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ptos Narrow" panose="020B0004020202020204" pitchFamily="34" charset="0"/>
                <a:ea typeface="+mn-ea"/>
                <a:cs typeface="+mn-cs"/>
              </a:rPr>
              <a:t>Track recall, flag rate and per-group recall gap each cycle; alert when a gap exceeds 0.10.</a:t>
            </a:r>
          </a:p>
          <a:p>
            <a:pPr algn="ctr"/>
            <a:endParaRPr lang="en-US" sz="900" b="1" dirty="0">
              <a:solidFill>
                <a:srgbClr val="0F172A"/>
              </a:solidFill>
              <a:latin typeface="Aptos Narrow" panose="020B0004020202020204" pitchFamily="34" charset="0"/>
            </a:endParaRPr>
          </a:p>
          <a:p>
            <a:pPr algn="ctr"/>
            <a:endParaRPr sz="900" b="1" i="0" u="none" dirty="0">
              <a:solidFill>
                <a:srgbClr val="0284C7"/>
              </a:solidFill>
              <a:latin typeface="Aptos Narrow" panose="020B0004020202020204" pitchFamily="34" charset="0"/>
            </a:endParaRPr>
          </a:p>
        </p:txBody>
      </p:sp>
      <p:sp>
        <p:nvSpPr>
          <p:cNvPr id="20" name="Footer Placeholder 19">
            <a:extLst>
              <a:ext uri="{FF2B5EF4-FFF2-40B4-BE49-F238E27FC236}">
                <a16:creationId xmlns:a16="http://schemas.microsoft.com/office/drawing/2014/main" id="{0A8780B8-566E-F569-DB8E-6628660543D1}"/>
              </a:ext>
            </a:extLst>
          </p:cNvPr>
          <p:cNvSpPr>
            <a:spLocks noGrp="1"/>
          </p:cNvSpPr>
          <p:nvPr>
            <p:ph type="ftr" sz="quarter" idx="10"/>
          </p:nvPr>
        </p:nvSpPr>
        <p:spPr/>
        <p:txBody>
          <a:bodyPr/>
          <a:lstStyle/>
          <a:p>
            <a:r>
              <a:rPr lang="en-US" noProof="0"/>
              <a:t>Capstone Project: PGD in Artificial Intelligence and Machine Learning</a:t>
            </a:r>
            <a:endParaRPr lang="en-US" noProof="0" dirty="0"/>
          </a:p>
        </p:txBody>
      </p:sp>
      <p:sp>
        <p:nvSpPr>
          <p:cNvPr id="21" name="Slide Number Placeholder 20">
            <a:extLst>
              <a:ext uri="{FF2B5EF4-FFF2-40B4-BE49-F238E27FC236}">
                <a16:creationId xmlns:a16="http://schemas.microsoft.com/office/drawing/2014/main" id="{697CE352-88C0-D7AB-B11A-FEB750E311EE}"/>
              </a:ext>
            </a:extLst>
          </p:cNvPr>
          <p:cNvSpPr>
            <a:spLocks noGrp="1"/>
          </p:cNvSpPr>
          <p:nvPr>
            <p:ph type="sldNum" sz="quarter" idx="11"/>
          </p:nvPr>
        </p:nvSpPr>
        <p:spPr/>
        <p:txBody>
          <a:bodyPr/>
          <a:lstStyle/>
          <a:p>
            <a:fld id="{B67B645E-C5E5-4727-B977-D372A0AA71D9}" type="slidenum">
              <a:rPr lang="en-US" smtClean="0"/>
              <a:pPr/>
              <a:t>13</a:t>
            </a:fld>
            <a:endParaRPr lang="en-US" dirty="0"/>
          </a:p>
        </p:txBody>
      </p:sp>
      <p:sp>
        <p:nvSpPr>
          <p:cNvPr id="29" name="TextBox 28"/>
          <p:cNvSpPr txBox="1"/>
          <p:nvPr/>
        </p:nvSpPr>
        <p:spPr>
          <a:xfrm>
            <a:off x="612648" y="3703320"/>
            <a:ext cx="7315200" cy="228600"/>
          </a:xfrm>
          <a:prstGeom prst="rect">
            <a:avLst/>
          </a:prstGeom>
          <a:noFill/>
        </p:spPr>
        <p:txBody>
          <a:bodyPr wrap="square" lIns="0" rIns="0" tIns="0" bIns="0" anchor="t">
            <a:noAutofit/>
          </a:bodyPr>
          <a:lstStyle/>
          <a:p>
            <a:pPr algn="l"/>
            <a:r>
              <a:rPr sz="1000" b="1">
                <a:solidFill>
                  <a:srgbClr val="0284C7"/>
                </a:solidFill>
                <a:latin typeface="Aptos Narrow"/>
              </a:rPr>
              <a:t>KEY RISKS AND PLANNED MITIGATIONS</a:t>
            </a:r>
          </a:p>
        </p:txBody>
      </p:sp>
      <p:sp>
        <p:nvSpPr>
          <p:cNvPr id="30" name="Rounded Rectangle 29"/>
          <p:cNvSpPr/>
          <p:nvPr/>
        </p:nvSpPr>
        <p:spPr>
          <a:xfrm>
            <a:off x="612648" y="4005072"/>
            <a:ext cx="3502152" cy="196596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41248" y="4142232"/>
            <a:ext cx="3063240" cy="1737360"/>
          </a:xfrm>
          <a:prstGeom prst="rect">
            <a:avLst/>
          </a:prstGeom>
          <a:noFill/>
        </p:spPr>
        <p:txBody>
          <a:bodyPr wrap="square" lIns="0" rIns="0" tIns="0" bIns="0" anchor="t">
            <a:noAutofit/>
          </a:bodyPr>
          <a:lstStyle/>
          <a:p>
            <a:pPr algn="l">
              <a:spcAft>
                <a:spcPts val="400"/>
              </a:spcAft>
            </a:pPr>
            <a:r>
              <a:rPr sz="1400" b="1">
                <a:solidFill>
                  <a:srgbClr val="0F172A"/>
                </a:solidFill>
                <a:latin typeface="Aptos Narrow"/>
              </a:rPr>
              <a:t>Advisor Capacity</a:t>
            </a:r>
          </a:p>
          <a:p>
            <a:pPr algn="l">
              <a:spcAft>
                <a:spcPts val="500"/>
              </a:spcAft>
            </a:pPr>
            <a:r>
              <a:rPr sz="1050" b="1">
                <a:solidFill>
                  <a:srgbClr val="EF4444"/>
                </a:solidFill>
                <a:latin typeface="Aptos Narrow"/>
              </a:rPr>
              <a:t>Risk: </a:t>
            </a:r>
            <a:r>
              <a:rPr sz="1050" b="0">
                <a:solidFill>
                  <a:srgbClr val="475569"/>
                </a:solidFill>
                <a:latin typeface="Aptos Narrow"/>
              </a:rPr>
              <a:t>About 47% of students are flagged, which can overwhelm advisors and dilute attention.</a:t>
            </a:r>
          </a:p>
          <a:p>
            <a:pPr algn="l"/>
            <a:r>
              <a:rPr sz="1050" b="1">
                <a:solidFill>
                  <a:srgbClr val="10B981"/>
                </a:solidFill>
                <a:latin typeface="Aptos Narrow"/>
              </a:rPr>
              <a:t>Plan: </a:t>
            </a:r>
            <a:r>
              <a:rPr sz="1050" b="0">
                <a:solidFill>
                  <a:srgbClr val="475569"/>
                </a:solidFill>
                <a:latin typeface="Aptos Narrow"/>
              </a:rPr>
              <a:t>Triage by risk score, use automated check-ins for moderate risk, and size advisor hours before launch.</a:t>
            </a:r>
          </a:p>
        </p:txBody>
      </p:sp>
      <p:sp>
        <p:nvSpPr>
          <p:cNvPr id="32" name="Rounded Rectangle 31"/>
          <p:cNvSpPr/>
          <p:nvPr/>
        </p:nvSpPr>
        <p:spPr>
          <a:xfrm>
            <a:off x="4347972" y="4005072"/>
            <a:ext cx="3502152" cy="196596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6572" y="4142232"/>
            <a:ext cx="3063240" cy="1737360"/>
          </a:xfrm>
          <a:prstGeom prst="rect">
            <a:avLst/>
          </a:prstGeom>
          <a:noFill/>
        </p:spPr>
        <p:txBody>
          <a:bodyPr wrap="square" lIns="0" rIns="0" tIns="0" bIns="0" anchor="t">
            <a:noAutofit/>
          </a:bodyPr>
          <a:lstStyle/>
          <a:p>
            <a:pPr algn="l">
              <a:spcAft>
                <a:spcPts val="400"/>
              </a:spcAft>
            </a:pPr>
            <a:r>
              <a:rPr sz="1400" b="1">
                <a:solidFill>
                  <a:srgbClr val="0F172A"/>
                </a:solidFill>
                <a:latin typeface="Aptos Narrow"/>
              </a:rPr>
              <a:t>Advisor Adoption</a:t>
            </a:r>
          </a:p>
          <a:p>
            <a:pPr algn="l">
              <a:spcAft>
                <a:spcPts val="500"/>
              </a:spcAft>
            </a:pPr>
            <a:r>
              <a:rPr sz="1050" b="1">
                <a:solidFill>
                  <a:srgbClr val="EF4444"/>
                </a:solidFill>
                <a:latin typeface="Aptos Narrow"/>
              </a:rPr>
              <a:t>Risk: </a:t>
            </a:r>
            <a:r>
              <a:rPr sz="1050" b="0">
                <a:solidFill>
                  <a:srgbClr val="475569"/>
                </a:solidFill>
                <a:latin typeface="Aptos Narrow"/>
              </a:rPr>
              <a:t>Staff may distrust algorithmic flags over their own judgement.</a:t>
            </a:r>
          </a:p>
          <a:p>
            <a:pPr algn="l"/>
            <a:r>
              <a:rPr sz="1050" b="1">
                <a:solidFill>
                  <a:srgbClr val="10B981"/>
                </a:solidFill>
                <a:latin typeface="Aptos Narrow"/>
              </a:rPr>
              <a:t>Plan: </a:t>
            </a:r>
            <a:r>
              <a:rPr sz="1050" b="0">
                <a:solidFill>
                  <a:srgbClr val="475569"/>
                </a:solidFill>
                <a:latin typeface="Aptos Narrow"/>
              </a:rPr>
              <a:t>Show reason cards (SHAP and LIME) beside every flag and review flags with advisors during the pilot.</a:t>
            </a:r>
          </a:p>
        </p:txBody>
      </p:sp>
      <p:sp>
        <p:nvSpPr>
          <p:cNvPr id="34" name="Rounded Rectangle 33"/>
          <p:cNvSpPr/>
          <p:nvPr/>
        </p:nvSpPr>
        <p:spPr>
          <a:xfrm>
            <a:off x="8083296" y="4005072"/>
            <a:ext cx="3502152" cy="1965960"/>
          </a:xfrm>
          <a:prstGeom prst="roundRect">
            <a:avLst>
              <a:gd name="adj" fmla="val 6000"/>
            </a:avLst>
          </a:prstGeom>
          <a:solidFill>
            <a:srgbClr val="FFFFFF"/>
          </a:solidFill>
          <a:ln w="12700">
            <a:solidFill>
              <a:srgbClr val="60A2F5"/>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11896" y="4142232"/>
            <a:ext cx="3063240" cy="1737360"/>
          </a:xfrm>
          <a:prstGeom prst="rect">
            <a:avLst/>
          </a:prstGeom>
          <a:noFill/>
        </p:spPr>
        <p:txBody>
          <a:bodyPr wrap="square" lIns="0" rIns="0" tIns="0" bIns="0" anchor="t">
            <a:noAutofit/>
          </a:bodyPr>
          <a:lstStyle/>
          <a:p>
            <a:pPr algn="l">
              <a:spcAft>
                <a:spcPts val="400"/>
              </a:spcAft>
            </a:pPr>
            <a:r>
              <a:rPr sz="1400" b="1">
                <a:solidFill>
                  <a:srgbClr val="0F172A"/>
                </a:solidFill>
                <a:latin typeface="Aptos Narrow"/>
              </a:rPr>
              <a:t>Fairness &amp; Drift</a:t>
            </a:r>
          </a:p>
          <a:p>
            <a:pPr algn="l">
              <a:spcAft>
                <a:spcPts val="500"/>
              </a:spcAft>
            </a:pPr>
            <a:r>
              <a:rPr sz="1050" b="1">
                <a:solidFill>
                  <a:srgbClr val="EF4444"/>
                </a:solidFill>
                <a:latin typeface="Aptos Narrow"/>
              </a:rPr>
              <a:t>Risk: </a:t>
            </a:r>
            <a:r>
              <a:rPr sz="1050" b="0">
                <a:solidFill>
                  <a:srgbClr val="475569"/>
                </a:solidFill>
                <a:latin typeface="Aptos Narrow"/>
              </a:rPr>
              <a:t>Gaps persist (scholarship 0.13) and student mix or grading patterns shift over time.</a:t>
            </a:r>
          </a:p>
          <a:p>
            <a:pPr algn="l"/>
            <a:r>
              <a:rPr sz="1050" b="1">
                <a:solidFill>
                  <a:srgbClr val="10B981"/>
                </a:solidFill>
                <a:latin typeface="Aptos Narrow"/>
              </a:rPr>
              <a:t>Plan: </a:t>
            </a:r>
            <a:r>
              <a:rPr sz="1050" b="0">
                <a:solidFill>
                  <a:srgbClr val="475569"/>
                </a:solidFill>
                <a:latin typeface="Aptos Narrow"/>
              </a:rPr>
              <a:t>Audit recall by group each cycle, revisit thresholds, and retrain when a gap exceeds 0.10.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86D205-E212-A6A4-FCC2-39B632D0C289}"/>
              </a:ext>
            </a:extLst>
          </p:cNvPr>
          <p:cNvSpPr/>
          <p:nvPr/>
        </p:nvSpPr>
        <p:spPr>
          <a:xfrm>
            <a:off x="762000" y="5536108"/>
            <a:ext cx="10668000" cy="7884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3">
            <a:extLst>
              <a:ext uri="{FF2B5EF4-FFF2-40B4-BE49-F238E27FC236}">
                <a16:creationId xmlns:a16="http://schemas.microsoft.com/office/drawing/2014/main" id="{56F3E593-4B1D-3F94-7CCA-D49D005E7059}"/>
              </a:ext>
            </a:extLst>
          </p:cNvPr>
          <p:cNvSpPr/>
          <p:nvPr/>
        </p:nvSpPr>
        <p:spPr>
          <a:xfrm>
            <a:off x="762000" y="2527548"/>
            <a:ext cx="3403550" cy="1585912"/>
          </a:xfrm>
          <a:prstGeom prst="roundRect">
            <a:avLst>
              <a:gd name="adj" fmla="val 7207"/>
            </a:avLst>
          </a:prstGeom>
          <a:solidFill>
            <a:srgbClr val="232B3D"/>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4">
            <a:extLst>
              <a:ext uri="{FF2B5EF4-FFF2-40B4-BE49-F238E27FC236}">
                <a16:creationId xmlns:a16="http://schemas.microsoft.com/office/drawing/2014/main" id="{8D448E19-A6B1-2F91-E0A5-B4C1513820EB}"/>
              </a:ext>
            </a:extLst>
          </p:cNvPr>
          <p:cNvSpPr/>
          <p:nvPr/>
        </p:nvSpPr>
        <p:spPr>
          <a:xfrm>
            <a:off x="4394150" y="2527548"/>
            <a:ext cx="3403550" cy="1585912"/>
          </a:xfrm>
          <a:prstGeom prst="roundRect">
            <a:avLst>
              <a:gd name="adj" fmla="val 7207"/>
            </a:avLst>
          </a:prstGeom>
          <a:solidFill>
            <a:srgbClr val="232B3D"/>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5">
            <a:extLst>
              <a:ext uri="{FF2B5EF4-FFF2-40B4-BE49-F238E27FC236}">
                <a16:creationId xmlns:a16="http://schemas.microsoft.com/office/drawing/2014/main" id="{57EC52DE-CF7B-6979-8066-ED09E092F1D7}"/>
              </a:ext>
            </a:extLst>
          </p:cNvPr>
          <p:cNvSpPr/>
          <p:nvPr/>
        </p:nvSpPr>
        <p:spPr>
          <a:xfrm>
            <a:off x="8026300" y="2527548"/>
            <a:ext cx="3403550" cy="1585912"/>
          </a:xfrm>
          <a:prstGeom prst="roundRect">
            <a:avLst>
              <a:gd name="adj" fmla="val 7207"/>
            </a:avLst>
          </a:prstGeom>
          <a:solidFill>
            <a:srgbClr val="232B3D"/>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B49E5508-9BB5-4CF3-A2FE-5071DF214019}"/>
              </a:ext>
            </a:extLst>
          </p:cNvPr>
          <p:cNvSpPr/>
          <p:nvPr/>
        </p:nvSpPr>
        <p:spPr>
          <a:xfrm>
            <a:off x="762000" y="5536108"/>
            <a:ext cx="10668000" cy="95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png">
            <a:extLst>
              <a:ext uri="{FF2B5EF4-FFF2-40B4-BE49-F238E27FC236}">
                <a16:creationId xmlns:a16="http://schemas.microsoft.com/office/drawing/2014/main" id="{68AD4BB4-43C7-DC5B-5052-7B61C3FED232}"/>
              </a:ext>
            </a:extLst>
          </p:cNvPr>
          <p:cNvPicPr>
            <a:picLocks noChangeAspect="1"/>
          </p:cNvPicPr>
          <p:nvPr/>
        </p:nvPicPr>
        <p:blipFill>
          <a:blip r:embed="rId3"/>
          <a:stretch>
            <a:fillRect/>
          </a:stretch>
        </p:blipFill>
        <p:spPr>
          <a:xfrm>
            <a:off x="8534400" y="5769471"/>
            <a:ext cx="133350" cy="133350"/>
          </a:xfrm>
          <a:prstGeom prst="rect">
            <a:avLst/>
          </a:prstGeom>
        </p:spPr>
      </p:pic>
      <p:sp>
        <p:nvSpPr>
          <p:cNvPr id="19" name="TextBox 18">
            <a:extLst>
              <a:ext uri="{FF2B5EF4-FFF2-40B4-BE49-F238E27FC236}">
                <a16:creationId xmlns:a16="http://schemas.microsoft.com/office/drawing/2014/main" id="{F6B537D5-096D-1EC9-9263-9CF36B378F0F}"/>
              </a:ext>
            </a:extLst>
          </p:cNvPr>
          <p:cNvSpPr txBox="1"/>
          <p:nvPr/>
        </p:nvSpPr>
        <p:spPr>
          <a:xfrm>
            <a:off x="9934575" y="733425"/>
            <a:ext cx="1554480" cy="182880"/>
          </a:xfrm>
          <a:prstGeom prst="rect">
            <a:avLst/>
          </a:prstGeom>
          <a:noFill/>
        </p:spPr>
        <p:txBody>
          <a:bodyPr wrap="square" lIns="0" tIns="0" rIns="0" bIns="0" anchor="t">
            <a:noAutofit/>
          </a:bodyPr>
          <a:lstStyle/>
          <a:p>
            <a:pPr algn="l"/>
            <a:r>
              <a:rPr sz="1050" b="1" i="0" u="none" dirty="0">
                <a:solidFill>
                  <a:srgbClr val="94A3B8"/>
                </a:solidFill>
                <a:latin typeface="Aptos Narrow" panose="020B0004020202020204" pitchFamily="34" charset="0"/>
              </a:rPr>
              <a:t>3-Phase Execution Plan</a:t>
            </a:r>
          </a:p>
        </p:txBody>
      </p:sp>
      <p:sp>
        <p:nvSpPr>
          <p:cNvPr id="21" name="TextBox 20">
            <a:extLst>
              <a:ext uri="{FF2B5EF4-FFF2-40B4-BE49-F238E27FC236}">
                <a16:creationId xmlns:a16="http://schemas.microsoft.com/office/drawing/2014/main" id="{446D2C18-6C63-8A11-6A9D-17DFA7F64DDE}"/>
              </a:ext>
            </a:extLst>
          </p:cNvPr>
          <p:cNvSpPr txBox="1"/>
          <p:nvPr/>
        </p:nvSpPr>
        <p:spPr>
          <a:xfrm>
            <a:off x="990600" y="2756148"/>
            <a:ext cx="3041600" cy="169277"/>
          </a:xfrm>
          <a:prstGeom prst="rect">
            <a:avLst/>
          </a:prstGeom>
          <a:noFill/>
        </p:spPr>
        <p:txBody>
          <a:bodyPr wrap="square" lIns="0" tIns="0" rIns="0" bIns="0" anchor="t">
            <a:spAutoFit/>
          </a:bodyPr>
          <a:lstStyle/>
          <a:p>
            <a:pPr algn="l"/>
            <a:r>
              <a:rPr sz="1100" b="1" i="0" u="none" dirty="0">
                <a:solidFill>
                  <a:srgbClr val="38BDF8"/>
                </a:solidFill>
                <a:latin typeface="Aptos Narrow" panose="020B0004020202020204" pitchFamily="34" charset="0"/>
              </a:rPr>
              <a:t>Phase 01 | M1–M3</a:t>
            </a:r>
          </a:p>
        </p:txBody>
      </p:sp>
      <p:sp>
        <p:nvSpPr>
          <p:cNvPr id="23" name="TextBox 22">
            <a:extLst>
              <a:ext uri="{FF2B5EF4-FFF2-40B4-BE49-F238E27FC236}">
                <a16:creationId xmlns:a16="http://schemas.microsoft.com/office/drawing/2014/main" id="{508281BE-1416-3F7F-2A92-116B119EDB0D}"/>
              </a:ext>
            </a:extLst>
          </p:cNvPr>
          <p:cNvSpPr txBox="1"/>
          <p:nvPr/>
        </p:nvSpPr>
        <p:spPr>
          <a:xfrm>
            <a:off x="4622750" y="2756148"/>
            <a:ext cx="3041600" cy="169277"/>
          </a:xfrm>
          <a:prstGeom prst="rect">
            <a:avLst/>
          </a:prstGeom>
          <a:noFill/>
        </p:spPr>
        <p:txBody>
          <a:bodyPr wrap="square" lIns="0" tIns="0" rIns="0" bIns="0" anchor="t">
            <a:spAutoFit/>
          </a:bodyPr>
          <a:lstStyle/>
          <a:p>
            <a:pPr algn="l"/>
            <a:r>
              <a:rPr sz="1100" b="1" i="0" u="none" dirty="0">
                <a:solidFill>
                  <a:srgbClr val="F59E0B"/>
                </a:solidFill>
                <a:latin typeface="Aptos Narrow" panose="020B0004020202020204" pitchFamily="34" charset="0"/>
              </a:rPr>
              <a:t>Phase 02 | M4–M6</a:t>
            </a:r>
          </a:p>
        </p:txBody>
      </p:sp>
      <p:sp>
        <p:nvSpPr>
          <p:cNvPr id="25" name="TextBox 24">
            <a:extLst>
              <a:ext uri="{FF2B5EF4-FFF2-40B4-BE49-F238E27FC236}">
                <a16:creationId xmlns:a16="http://schemas.microsoft.com/office/drawing/2014/main" id="{9016FCCC-4327-2792-ACB1-492F8CA1CADB}"/>
              </a:ext>
            </a:extLst>
          </p:cNvPr>
          <p:cNvSpPr txBox="1"/>
          <p:nvPr/>
        </p:nvSpPr>
        <p:spPr>
          <a:xfrm>
            <a:off x="8254900" y="2756148"/>
            <a:ext cx="3041600" cy="169277"/>
          </a:xfrm>
          <a:prstGeom prst="rect">
            <a:avLst/>
          </a:prstGeom>
          <a:noFill/>
        </p:spPr>
        <p:txBody>
          <a:bodyPr wrap="square" lIns="0" tIns="0" rIns="0" bIns="0" anchor="t">
            <a:spAutoFit/>
          </a:bodyPr>
          <a:lstStyle/>
          <a:p>
            <a:pPr algn="l"/>
            <a:r>
              <a:rPr sz="1100" b="1" i="0" u="none" dirty="0">
                <a:solidFill>
                  <a:srgbClr val="10B981"/>
                </a:solidFill>
                <a:latin typeface="Aptos Narrow" panose="020B0004020202020204" pitchFamily="34" charset="0"/>
              </a:rPr>
              <a:t>Phase 03 | M7–M12</a:t>
            </a:r>
          </a:p>
        </p:txBody>
      </p:sp>
      <p:sp>
        <p:nvSpPr>
          <p:cNvPr id="27" name="TextBox 26">
            <a:extLst>
              <a:ext uri="{FF2B5EF4-FFF2-40B4-BE49-F238E27FC236}">
                <a16:creationId xmlns:a16="http://schemas.microsoft.com/office/drawing/2014/main" id="{29233DC1-4564-7858-EB68-A02F43D42F9F}"/>
              </a:ext>
            </a:extLst>
          </p:cNvPr>
          <p:cNvSpPr txBox="1"/>
          <p:nvPr/>
        </p:nvSpPr>
        <p:spPr>
          <a:xfrm>
            <a:off x="762000" y="5961888"/>
            <a:ext cx="10607040" cy="320040"/>
          </a:xfrm>
          <a:prstGeom prst="rect">
            <a:avLst/>
          </a:prstGeom>
          <a:noFill/>
        </p:spPr>
        <p:txBody>
          <a:bodyPr wrap="square" lIns="0" tIns="0" rIns="0" bIns="0" anchor="t">
            <a:noAutofit/>
          </a:bodyPr>
          <a:lstStyle/>
          <a:p>
            <a:pPr algn="l">
              <a:lnSpc>
                <a:spcPts val="1155"/>
              </a:lnSpc>
            </a:pPr>
            <a:r>
              <a:rPr sz="825" b="0" i="1" u="none" dirty="0">
                <a:solidFill>
                  <a:schemeClr val="bg1">
                    <a:lumMod val="85000"/>
                  </a:schemeClr>
                </a:solidFill>
                <a:latin typeface="Aptos Narrow" panose="020B0004020202020204" pitchFamily="34" charset="0"/>
              </a:rPr>
              <a:t>Data: UCI Machine Learning Repository, Predict Students' Dropout and Academic Success (Realinho et al., 2022). Model results are from the capstone notebook's hold-out set (885 students). Tuition value, programme cost and success rates are illustrative planning assumptions.</a:t>
            </a:r>
          </a:p>
        </p:txBody>
      </p:sp>
      <p:sp>
        <p:nvSpPr>
          <p:cNvPr id="29" name="TextBox 28">
            <a:extLst>
              <a:ext uri="{FF2B5EF4-FFF2-40B4-BE49-F238E27FC236}">
                <a16:creationId xmlns:a16="http://schemas.microsoft.com/office/drawing/2014/main" id="{4A8A0ED4-4E1D-8D79-E30E-CC387E7C702D}"/>
              </a:ext>
            </a:extLst>
          </p:cNvPr>
          <p:cNvSpPr txBox="1"/>
          <p:nvPr/>
        </p:nvSpPr>
        <p:spPr>
          <a:xfrm>
            <a:off x="762000" y="533400"/>
            <a:ext cx="2743200" cy="182880"/>
          </a:xfrm>
          <a:prstGeom prst="rect">
            <a:avLst/>
          </a:prstGeom>
          <a:noFill/>
        </p:spPr>
        <p:txBody>
          <a:bodyPr wrap="square" lIns="0" tIns="0" rIns="0" bIns="0" anchor="t">
            <a:noAutofit/>
          </a:bodyPr>
          <a:lstStyle/>
          <a:p>
            <a:pPr algn="l"/>
            <a:r>
              <a:rPr sz="975" b="1" i="0" u="none" dirty="0">
                <a:solidFill>
                  <a:srgbClr val="F59E0B"/>
                </a:solidFill>
                <a:latin typeface="Aptos Narrow" panose="020B0004020202020204" pitchFamily="34" charset="0"/>
              </a:rPr>
              <a:t>EXECUTION STRATEGY</a:t>
            </a:r>
          </a:p>
        </p:txBody>
      </p:sp>
      <p:sp>
        <p:nvSpPr>
          <p:cNvPr id="31" name="TextBox 30">
            <a:extLst>
              <a:ext uri="{FF2B5EF4-FFF2-40B4-BE49-F238E27FC236}">
                <a16:creationId xmlns:a16="http://schemas.microsoft.com/office/drawing/2014/main" id="{0D5A2504-D2F5-592D-4CDD-9D1A2A5CA91B}"/>
              </a:ext>
            </a:extLst>
          </p:cNvPr>
          <p:cNvSpPr txBox="1"/>
          <p:nvPr/>
        </p:nvSpPr>
        <p:spPr>
          <a:xfrm>
            <a:off x="762000" y="723900"/>
            <a:ext cx="8961120" cy="411480"/>
          </a:xfrm>
          <a:prstGeom prst="rect">
            <a:avLst/>
          </a:prstGeom>
          <a:noFill/>
        </p:spPr>
        <p:txBody>
          <a:bodyPr wrap="square" lIns="0" tIns="0" rIns="0" bIns="0" anchor="t">
            <a:noAutofit/>
          </a:bodyPr>
          <a:lstStyle/>
          <a:p>
            <a:pPr algn="l"/>
            <a:r>
              <a:rPr sz="2400" b="1" i="0" u="none" dirty="0">
                <a:solidFill>
                  <a:srgbClr val="FFFFFF"/>
                </a:solidFill>
                <a:latin typeface="Aptos Narrow" panose="020B0004020202020204" pitchFamily="34" charset="0"/>
              </a:rPr>
              <a:t>Implementation Roadmap &amp; Call-to-Action</a:t>
            </a:r>
          </a:p>
        </p:txBody>
      </p:sp>
      <p:sp>
        <p:nvSpPr>
          <p:cNvPr id="33" name="TextBox 32">
            <a:extLst>
              <a:ext uri="{FF2B5EF4-FFF2-40B4-BE49-F238E27FC236}">
                <a16:creationId xmlns:a16="http://schemas.microsoft.com/office/drawing/2014/main" id="{75E62802-8FB0-1990-7DAD-3D48E627658D}"/>
              </a:ext>
            </a:extLst>
          </p:cNvPr>
          <p:cNvSpPr txBox="1"/>
          <p:nvPr/>
        </p:nvSpPr>
        <p:spPr>
          <a:xfrm>
            <a:off x="1000125" y="3041898"/>
            <a:ext cx="3017520" cy="274320"/>
          </a:xfrm>
          <a:prstGeom prst="rect">
            <a:avLst/>
          </a:prstGeom>
          <a:noFill/>
        </p:spPr>
        <p:txBody>
          <a:bodyPr wrap="square" lIns="0" tIns="0" rIns="0" bIns="0" anchor="t">
            <a:noAutofit/>
          </a:bodyPr>
          <a:lstStyle/>
          <a:p>
            <a:pPr algn="l"/>
            <a:r>
              <a:rPr sz="1600" b="1" i="0" u="none" dirty="0">
                <a:solidFill>
                  <a:srgbClr val="FFFFFF"/>
                </a:solidFill>
                <a:latin typeface="Aptos Narrow" panose="020B0004020202020204" pitchFamily="34" charset="0"/>
              </a:rPr>
              <a:t>Pilot Deployment</a:t>
            </a:r>
          </a:p>
        </p:txBody>
      </p:sp>
      <p:sp>
        <p:nvSpPr>
          <p:cNvPr id="35" name="TextBox 34">
            <a:extLst>
              <a:ext uri="{FF2B5EF4-FFF2-40B4-BE49-F238E27FC236}">
                <a16:creationId xmlns:a16="http://schemas.microsoft.com/office/drawing/2014/main" id="{163C21C3-1E4B-48B4-BB65-6B5DF45393D4}"/>
              </a:ext>
            </a:extLst>
          </p:cNvPr>
          <p:cNvSpPr txBox="1"/>
          <p:nvPr/>
        </p:nvSpPr>
        <p:spPr>
          <a:xfrm>
            <a:off x="1000125" y="3318123"/>
            <a:ext cx="3017520" cy="777240"/>
          </a:xfrm>
          <a:prstGeom prst="rect">
            <a:avLst/>
          </a:prstGeom>
          <a:noFill/>
        </p:spPr>
        <p:txBody>
          <a:bodyPr wrap="square" lIns="0" tIns="0" rIns="0" bIns="0" anchor="t">
            <a:noAutofit/>
          </a:bodyPr>
          <a:lstStyle/>
          <a:p>
            <a:pPr algn="l">
              <a:lnSpc>
                <a:spcPts val="1462"/>
              </a:lnSpc>
            </a:pPr>
            <a:r>
              <a:rPr sz="1000" b="0" i="0" u="none" dirty="0">
                <a:solidFill>
                  <a:srgbClr val="94A3B8"/>
                </a:solidFill>
                <a:latin typeface="Aptos Narrow" panose="020B0004020202020204" pitchFamily="34" charset="0"/>
              </a:rPr>
              <a:t>Score an incoming cohort at the end of Semester 2, run the playbooks on flagged students, and build the scoring service and advisor dashboard.</a:t>
            </a:r>
          </a:p>
        </p:txBody>
      </p:sp>
      <p:sp>
        <p:nvSpPr>
          <p:cNvPr id="37" name="TextBox 36">
            <a:extLst>
              <a:ext uri="{FF2B5EF4-FFF2-40B4-BE49-F238E27FC236}">
                <a16:creationId xmlns:a16="http://schemas.microsoft.com/office/drawing/2014/main" id="{A9426CAF-8769-18F8-3F24-C213F0E00C25}"/>
              </a:ext>
            </a:extLst>
          </p:cNvPr>
          <p:cNvSpPr txBox="1"/>
          <p:nvPr/>
        </p:nvSpPr>
        <p:spPr>
          <a:xfrm>
            <a:off x="4632275" y="3041898"/>
            <a:ext cx="3017520" cy="274320"/>
          </a:xfrm>
          <a:prstGeom prst="rect">
            <a:avLst/>
          </a:prstGeom>
          <a:noFill/>
        </p:spPr>
        <p:txBody>
          <a:bodyPr wrap="square" lIns="0" tIns="0" rIns="0" bIns="0" anchor="t">
            <a:noAutofit/>
          </a:bodyPr>
          <a:lstStyle/>
          <a:p>
            <a:pPr algn="l"/>
            <a:r>
              <a:rPr sz="1600" b="1" i="0" u="none" dirty="0">
                <a:solidFill>
                  <a:srgbClr val="FFFFFF"/>
                </a:solidFill>
                <a:latin typeface="Aptos Narrow" panose="020B0004020202020204" pitchFamily="34" charset="0"/>
              </a:rPr>
              <a:t>Intervention Calibration</a:t>
            </a:r>
          </a:p>
        </p:txBody>
      </p:sp>
      <p:sp>
        <p:nvSpPr>
          <p:cNvPr id="39" name="TextBox 38">
            <a:extLst>
              <a:ext uri="{FF2B5EF4-FFF2-40B4-BE49-F238E27FC236}">
                <a16:creationId xmlns:a16="http://schemas.microsoft.com/office/drawing/2014/main" id="{2C175E71-115A-4C24-9AA8-142C2DE90E7A}"/>
              </a:ext>
            </a:extLst>
          </p:cNvPr>
          <p:cNvSpPr txBox="1"/>
          <p:nvPr/>
        </p:nvSpPr>
        <p:spPr>
          <a:xfrm>
            <a:off x="4632275" y="3318123"/>
            <a:ext cx="3017520" cy="777240"/>
          </a:xfrm>
          <a:prstGeom prst="rect">
            <a:avLst/>
          </a:prstGeom>
          <a:noFill/>
        </p:spPr>
        <p:txBody>
          <a:bodyPr wrap="square" lIns="0" tIns="0" rIns="0" bIns="0" anchor="t">
            <a:noAutofit/>
          </a:bodyPr>
          <a:lstStyle/>
          <a:p>
            <a:pPr algn="l">
              <a:lnSpc>
                <a:spcPts val="1462"/>
              </a:lnSpc>
            </a:pPr>
            <a:r>
              <a:rPr sz="1000" b="0" i="0" u="none" dirty="0">
                <a:solidFill>
                  <a:srgbClr val="94A3B8"/>
                </a:solidFill>
                <a:latin typeface="Aptos Narrow" panose="020B0004020202020204" pitchFamily="34" charset="0"/>
              </a:rPr>
              <a:t>Measure real retention lift (replacing the 25% assumption), advisor hours per flag and recall by group; tune thresholds.</a:t>
            </a:r>
          </a:p>
        </p:txBody>
      </p:sp>
      <p:sp>
        <p:nvSpPr>
          <p:cNvPr id="41" name="TextBox 40">
            <a:extLst>
              <a:ext uri="{FF2B5EF4-FFF2-40B4-BE49-F238E27FC236}">
                <a16:creationId xmlns:a16="http://schemas.microsoft.com/office/drawing/2014/main" id="{E2904D1C-C28C-C71F-183C-588B916F2F66}"/>
              </a:ext>
            </a:extLst>
          </p:cNvPr>
          <p:cNvSpPr txBox="1"/>
          <p:nvPr/>
        </p:nvSpPr>
        <p:spPr>
          <a:xfrm>
            <a:off x="8264425" y="3041898"/>
            <a:ext cx="3017520" cy="274320"/>
          </a:xfrm>
          <a:prstGeom prst="rect">
            <a:avLst/>
          </a:prstGeom>
          <a:noFill/>
        </p:spPr>
        <p:txBody>
          <a:bodyPr wrap="square" lIns="0" tIns="0" rIns="0" bIns="0" anchor="t">
            <a:noAutofit/>
          </a:bodyPr>
          <a:lstStyle/>
          <a:p>
            <a:pPr algn="l"/>
            <a:r>
              <a:rPr sz="1600" b="1" i="0" u="none" dirty="0">
                <a:solidFill>
                  <a:srgbClr val="FFFFFF"/>
                </a:solidFill>
                <a:latin typeface="Aptos Narrow" panose="020B0004020202020204" pitchFamily="34" charset="0"/>
              </a:rPr>
              <a:t>Enterprise Scaling</a:t>
            </a:r>
          </a:p>
        </p:txBody>
      </p:sp>
      <p:sp>
        <p:nvSpPr>
          <p:cNvPr id="43" name="TextBox 42">
            <a:extLst>
              <a:ext uri="{FF2B5EF4-FFF2-40B4-BE49-F238E27FC236}">
                <a16:creationId xmlns:a16="http://schemas.microsoft.com/office/drawing/2014/main" id="{218C959F-DDDF-6561-9D0D-831478D390BA}"/>
              </a:ext>
            </a:extLst>
          </p:cNvPr>
          <p:cNvSpPr txBox="1"/>
          <p:nvPr/>
        </p:nvSpPr>
        <p:spPr>
          <a:xfrm>
            <a:off x="8264425" y="3318123"/>
            <a:ext cx="3017520" cy="777240"/>
          </a:xfrm>
          <a:prstGeom prst="rect">
            <a:avLst/>
          </a:prstGeom>
          <a:noFill/>
        </p:spPr>
        <p:txBody>
          <a:bodyPr wrap="square" lIns="0" tIns="0" rIns="0" bIns="0" anchor="t">
            <a:noAutofit/>
          </a:bodyPr>
          <a:lstStyle/>
          <a:p>
            <a:pPr algn="l">
              <a:lnSpc>
                <a:spcPts val="1462"/>
              </a:lnSpc>
            </a:pPr>
            <a:r>
              <a:rPr sz="1000" b="0" i="0" u="none" dirty="0">
                <a:solidFill>
                  <a:srgbClr val="94A3B8"/>
                </a:solidFill>
                <a:latin typeface="Aptos Narrow" panose="020B0004020202020204" pitchFamily="34" charset="0"/>
              </a:rPr>
              <a:t>Scale institution-wide if the pilot confirms the return; add drift audits and an annual fairness review.</a:t>
            </a:r>
          </a:p>
        </p:txBody>
      </p:sp>
      <p:sp>
        <p:nvSpPr>
          <p:cNvPr id="45" name="TextBox 44">
            <a:extLst>
              <a:ext uri="{FF2B5EF4-FFF2-40B4-BE49-F238E27FC236}">
                <a16:creationId xmlns:a16="http://schemas.microsoft.com/office/drawing/2014/main" id="{C8903BF0-CAC8-CB59-0979-0F531CDA4181}"/>
              </a:ext>
            </a:extLst>
          </p:cNvPr>
          <p:cNvSpPr txBox="1"/>
          <p:nvPr/>
        </p:nvSpPr>
        <p:spPr>
          <a:xfrm>
            <a:off x="762000" y="5736133"/>
            <a:ext cx="5943600" cy="228600"/>
          </a:xfrm>
          <a:prstGeom prst="rect">
            <a:avLst/>
          </a:prstGeom>
          <a:noFill/>
        </p:spPr>
        <p:txBody>
          <a:bodyPr wrap="square" lIns="0" tIns="0" rIns="0" bIns="0" anchor="t">
            <a:noAutofit/>
          </a:bodyPr>
          <a:lstStyle/>
          <a:p>
            <a:pPr algn="l"/>
            <a:r>
              <a:rPr sz="1125" b="1" i="0" u="none" dirty="0">
                <a:solidFill>
                  <a:srgbClr val="CBD5E1"/>
                </a:solidFill>
                <a:latin typeface="Aptos Narrow" panose="020B0004020202020204" pitchFamily="34" charset="0"/>
              </a:rPr>
              <a:t>Operationalizing Machine Learning into Sustainable Institutional Growth</a:t>
            </a:r>
          </a:p>
        </p:txBody>
      </p:sp>
      <p:sp>
        <p:nvSpPr>
          <p:cNvPr id="47" name="TextBox 46">
            <a:extLst>
              <a:ext uri="{FF2B5EF4-FFF2-40B4-BE49-F238E27FC236}">
                <a16:creationId xmlns:a16="http://schemas.microsoft.com/office/drawing/2014/main" id="{9566C85E-2218-F142-54B7-A34210A43A57}"/>
              </a:ext>
            </a:extLst>
          </p:cNvPr>
          <p:cNvSpPr txBox="1"/>
          <p:nvPr/>
        </p:nvSpPr>
        <p:spPr>
          <a:xfrm>
            <a:off x="8778240" y="5740896"/>
            <a:ext cx="2743200" cy="228600"/>
          </a:xfrm>
          <a:prstGeom prst="rect">
            <a:avLst/>
          </a:prstGeom>
          <a:noFill/>
        </p:spPr>
        <p:txBody>
          <a:bodyPr wrap="square" lIns="190500" tIns="0" rIns="0" bIns="0" anchor="t">
            <a:noAutofit/>
          </a:bodyPr>
          <a:lstStyle/>
          <a:p>
            <a:pPr algn="l"/>
            <a:r>
              <a:rPr sz="1050" b="1" i="0" u="none" dirty="0">
                <a:solidFill>
                  <a:srgbClr val="F59E0B"/>
                </a:solidFill>
                <a:latin typeface="Aptos Narrow" panose="020B0004020202020204" pitchFamily="34" charset="0"/>
              </a:rPr>
              <a:t>Ready for Committee Approval</a:t>
            </a:r>
          </a:p>
        </p:txBody>
      </p:sp>
    </p:spTree>
    <p:extLst>
      <p:ext uri="{BB962C8B-B14F-4D97-AF65-F5344CB8AC3E}">
        <p14:creationId xmlns:p14="http://schemas.microsoft.com/office/powerpoint/2010/main" val="405501692"/>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1_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356</TotalTime>
  <Words>5051</Words>
  <Application>Microsoft Office PowerPoint</Application>
  <PresentationFormat>Widescreen</PresentationFormat>
  <Paragraphs>495</Paragraphs>
  <Slides>16</Slides>
  <Notes>16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Aptos</vt:lpstr>
      <vt:lpstr>Aptos Display</vt:lpstr>
      <vt:lpstr>Aptos Light</vt:lpstr>
      <vt:lpstr>Aptos Narrow</vt:lpstr>
      <vt:lpstr>Arial</vt:lpstr>
      <vt:lpstr>Custom</vt:lpstr>
      <vt:lpstr>1_Custom</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Rex Villamar</dc:creator>
  <cp:lastModifiedBy>Rex Villamar</cp:lastModifiedBy>
  <cp:revision>23</cp:revision>
  <cp:lastPrinted>2026-10-06T07:11:49Z</cp:lastPrinted>
  <dcterms:created xsi:type="dcterms:W3CDTF">2026-10-05T07:12:23Z</dcterms:created>
  <dcterms:modified xsi:type="dcterms:W3CDTF">2026-10-06T07:37:07Z</dcterms:modified>
</cp:coreProperties>
</file>