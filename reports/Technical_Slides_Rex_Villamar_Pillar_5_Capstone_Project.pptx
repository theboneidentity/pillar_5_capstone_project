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7" r:id="rId2"/>
    <p:sldMasterId id="2147483674" r:id="rId3"/>
  </p:sldMasterIdLst>
  <p:notesMasterIdLst>
    <p:notesMasterId r:id="rId20"/>
  </p:notesMasterIdLst>
  <p:sldIdLst>
    <p:sldId id="307" r:id="rId4"/>
    <p:sldId id="306" r:id="rId5"/>
    <p:sldId id="318" r:id="rId6"/>
    <p:sldId id="320" r:id="rId8"/>
    <p:sldId id="321" r:id="rId9"/>
    <p:sldId id="322" r:id="rId10"/>
    <p:sldId id="323" r:id="rId11"/>
    <p:sldId id="265" r:id="rId12"/>
    <p:sldId id="267" r:id="rId14"/>
    <p:sldId id="268" r:id="rId15"/>
    <p:sldId id="269" r:id="rId16"/>
    <p:sldId id="324" r:id="rId18"/>
  </p:sldIdLst>
  <p:sldSz cx="12192000" cy="6858000"/>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B981"/>
    <a:srgbClr val="F8FAFC"/>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41" autoAdjust="0"/>
    <p:restoredTop sz="26494" autoAdjust="0"/>
  </p:normalViewPr>
  <p:slideViewPr>
    <p:cSldViewPr snapToGrid="0">
      <p:cViewPr varScale="1">
        <p:scale>
          <a:sx n="18" d="100"/>
          <a:sy n="18" d="100"/>
        </p:scale>
        <p:origin x="2808" y="32"/>
      </p:cViewPr>
      <p:guideLst/>
    </p:cSldViewPr>
  </p:slideViewPr>
  <p:outlineViewPr>
    <p:cViewPr>
      <p:scale>
        <a:sx n="33" d="100"/>
        <a:sy n="33" d="100"/>
      </p:scale>
      <p:origin x="0" y="0"/>
    </p:cViewPr>
  </p:outlineViewPr>
  <p:notesTextViewPr>
    <p:cViewPr>
      <p:scale>
        <a:sx n="66" d="100"/>
        <a:sy n="66" d="100"/>
      </p:scale>
      <p:origin x="0" y="0"/>
    </p:cViewPr>
  </p:notesTextViewPr>
  <p:notesViewPr>
    <p:cSldViewPr snapToGrid="0">
      <p:cViewPr varScale="1">
        <p:scale>
          <a:sx n="47" d="100"/>
          <a:sy n="47" d="100"/>
        </p:scale>
        <p:origin x="2748" y="52"/>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8" Type="http://schemas.openxmlformats.org/officeDocument/2006/relationships/slide" Target="slides/slide12.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F172A"/>
                </a:solidFill>
                <a:latin typeface="Aptos Narrow"/>
              </a:rPr>
              <a:t>Dropout rate by Financial Stress Index (%)</a:t>
            </a:r>
          </a:p>
        </c:rich>
      </c:tx>
      <c:layout/>
      <c:overlay val="0"/>
    </c:title>
    <c:autoTitleDeleted val="0"/>
    <c:plotArea>
      <c:barChart>
        <c:barDir val="col"/>
        <c:grouping val="clustered"/>
        <c:ser>
          <c:idx val="0"/>
          <c:order val="0"/>
          <c:tx>
            <c:strRef>
              <c:f>Sheet1!$B$1</c:f>
              <c:strCache>
                <c:ptCount val="1"/>
                <c:pt idx="0">
                  <c:v>s</c:v>
                </c:pt>
              </c:strCache>
            </c:strRef>
          </c:tx>
          <c:spPr>
            <a:solidFill>
              <a:srgbClr val="0284C7"/>
            </a:solidFill>
          </c:spPr>
          <c:dPt>
            <c:idx val="2"/>
            <c:spPr>
              <a:solidFill>
                <a:srgbClr val="F59E0B"/>
              </a:solidFill>
            </c:spPr>
          </c:dPt>
          <c:dPt>
            <c:idx val="3"/>
            <c:spPr>
              <a:solidFill>
                <a:srgbClr val="EF4444"/>
              </a:solidFill>
            </c:spPr>
          </c:dPt>
          <c:cat>
            <c:strRef>
              <c:f>Sheet1!$A$2:$A$5</c:f>
              <c:strCache>
                <c:ptCount val="4"/>
                <c:pt idx="0">
                  <c:v>0 flags</c:v>
                </c:pt>
                <c:pt idx="1">
                  <c:v>1 flag</c:v>
                </c:pt>
                <c:pt idx="2">
                  <c:v>2 flags</c:v>
                </c:pt>
                <c:pt idx="3">
                  <c:v>3 flags</c:v>
                </c:pt>
              </c:strCache>
            </c:strRef>
          </c:cat>
          <c:val>
            <c:numRef>
              <c:f>Sheet1!$B$2:$B$5</c:f>
              <c:numCache>
                <c:formatCode>General</c:formatCode>
                <c:ptCount val="4"/>
                <c:pt idx="0">
                  <c:v>9.3</c:v>
                </c:pt>
                <c:pt idx="1">
                  <c:v>29.3</c:v>
                </c:pt>
                <c:pt idx="2">
                  <c:v>69.2</c:v>
                </c:pt>
                <c:pt idx="3">
                  <c:v>88.8</c:v>
                </c:pt>
              </c:numCache>
            </c:numRef>
          </c:val>
        </c:ser>
        <c:dLbls>
          <c:numFmt formatCode="0.0&quot;%&quot;" sourceLinked="0"/>
          <c:txPr>
            <a:bodyPr/>
            <a:lstStyle/>
            <a:p>
              <a:pPr>
                <a:defRPr sz="1200" b="1">
                  <a:solidFill>
                    <a:srgbClr val="0F172A"/>
                  </a:solidFill>
                  <a:latin typeface="Aptos Narrow"/>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200"/>
            </a:pPr>
          </a:p>
        </c:txPr>
        <c:crossAx val="-2113994440"/>
        <c:crosses val="autoZero"/>
        <c:auto val="1"/>
        <c:lblAlgn val="ctr"/>
        <c:lblOffset val="100"/>
        <c:noMultiLvlLbl val="0"/>
      </c:catAx>
      <c:valAx>
        <c:axId val="-2113994440"/>
        <c:scaling>
          <c:max val="105.0"/>
          <c:min val="0.0"/>
        </c:scaling>
        <c:delete/>
        <c:axPos val="l"/>
        <c:majorTickMark val="out"/>
        <c:minorTickMark val="none"/>
        <c:tickLblPos val="nextTo"/>
        <c:crossAx val="-2068027336"/>
        <c:crosses val="autoZero"/>
      </c:valAx>
    </c:plotArea>
    <c:dispBlanksAs val="gap"/>
  </c:chart>
  <c:txPr>
    <a:bodyPr/>
    <a:lstStyle/>
    <a:p>
      <a:pPr>
        <a:defRPr sz="1200">
          <a:solidFill>
            <a:srgbClr val="475569"/>
          </a:solidFill>
          <a:latin typeface="Aptos Narrow"/>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F172A"/>
                </a:solidFill>
                <a:latin typeface="Aptos Narrow"/>
              </a:rPr>
              <a:t>Top drivers of dropout risk (mean |SHAP|, log-odds; amber = engineered)</a:t>
            </a:r>
          </a:p>
        </c:rich>
      </c:tx>
      <c:layout/>
      <c:overlay val="0"/>
    </c:title>
    <c:autoTitleDeleted val="0"/>
    <c:plotArea>
      <c:barChart>
        <c:barDir val="bar"/>
        <c:grouping val="clustered"/>
        <c:ser>
          <c:idx val="0"/>
          <c:order val="0"/>
          <c:tx>
            <c:strRef>
              <c:f>Sheet1!$B$1</c:f>
              <c:strCache>
                <c:ptCount val="1"/>
                <c:pt idx="0">
                  <c:v>s</c:v>
                </c:pt>
              </c:strCache>
            </c:strRef>
          </c:tx>
          <c:spPr>
            <a:solidFill>
              <a:srgbClr val="0284C7"/>
            </a:solidFill>
          </c:spPr>
          <c:dPt>
            <c:idx val="0"/>
            <c:spPr>
              <a:solidFill>
                <a:srgbClr val="F59E0B"/>
              </a:solidFill>
            </c:spPr>
          </c:dPt>
          <c:dPt>
            <c:idx val="1"/>
            <c:spPr>
              <a:solidFill>
                <a:srgbClr val="F59E0B"/>
              </a:solidFill>
            </c:spPr>
          </c:dPt>
          <c:dPt>
            <c:idx val="6"/>
            <c:spPr>
              <a:solidFill>
                <a:srgbClr val="F59E0B"/>
              </a:solidFill>
            </c:spPr>
          </c:dPt>
          <c:cat>
            <c:strRef>
              <c:f>Sheet1!$A$2:$A$9</c:f>
              <c:strCache>
                <c:ptCount val="8"/>
                <c:pt idx="0">
                  <c:v>Approval rate, Sem 2</c:v>
                </c:pt>
                <c:pt idx="1">
                  <c:v>Approval rate, Sem 1</c:v>
                </c:pt>
                <c:pt idx="2">
                  <c:v>Tuition fees up to date</c:v>
                </c:pt>
                <c:pt idx="3">
                  <c:v>Age at enrollment</c:v>
                </c:pt>
                <c:pt idx="4">
                  <c:v>Course</c:v>
                </c:pt>
                <c:pt idx="5">
                  <c:v>Units approved, Sem 2</c:v>
                </c:pt>
                <c:pt idx="6">
                  <c:v>Financial Stress Index</c:v>
                </c:pt>
                <c:pt idx="7">
                  <c:v>Grade, Sem 2</c:v>
                </c:pt>
              </c:strCache>
            </c:strRef>
          </c:cat>
          <c:val>
            <c:numRef>
              <c:f>Sheet1!$B$2:$B$9</c:f>
              <c:numCache>
                <c:formatCode>General</c:formatCode>
                <c:ptCount val="8"/>
                <c:pt idx="0">
                  <c:v>1.052</c:v>
                </c:pt>
                <c:pt idx="1">
                  <c:v>0.409</c:v>
                </c:pt>
                <c:pt idx="2">
                  <c:v>0.262</c:v>
                </c:pt>
                <c:pt idx="3">
                  <c:v>0.238</c:v>
                </c:pt>
                <c:pt idx="4">
                  <c:v>0.23</c:v>
                </c:pt>
                <c:pt idx="5">
                  <c:v>0.203</c:v>
                </c:pt>
                <c:pt idx="6">
                  <c:v>0.199</c:v>
                </c:pt>
                <c:pt idx="7">
                  <c:v>0.144</c:v>
                </c:pt>
              </c:numCache>
            </c:numRef>
          </c:val>
        </c:ser>
        <c:dLbls>
          <c:numFmt formatCode="0.00" sourceLinked="0"/>
          <c:txPr>
            <a:bodyPr/>
            <a:lstStyle/>
            <a:p>
              <a:pPr>
                <a:defRPr sz="1100" b="1">
                  <a:solidFill>
                    <a:srgbClr val="0F172A"/>
                  </a:solidFill>
                  <a:latin typeface="Aptos Narrow"/>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CBD5E1"/>
            </a:solidFill>
          </a:ln>
        </c:spPr>
        <c:txPr>
          <a:bodyPr/>
          <a:lstStyle/>
          <a:p>
            <a:pPr>
              <a:defRPr sz="1100"/>
            </a:pPr>
          </a:p>
        </c:txPr>
        <c:crossAx val="-2113994440"/>
        <c:crosses val="autoZero"/>
        <c:auto val="1"/>
        <c:lblAlgn val="ctr"/>
        <c:lblOffset val="100"/>
        <c:noMultiLvlLbl val="0"/>
      </c:catAx>
      <c:valAx>
        <c:axId val="-2113994440"/>
        <c:scaling>
          <c:max val="1.3"/>
          <c:min val="0.0"/>
        </c:scaling>
        <c:delete/>
        <c:axPos val="b"/>
        <c:majorTickMark val="out"/>
        <c:minorTickMark val="none"/>
        <c:tickLblPos val="nextTo"/>
        <c:crossAx val="-2068027336"/>
        <c:crosses val="autoZero"/>
      </c:valAx>
    </c:plotArea>
    <c:dispBlanksAs val="gap"/>
  </c:chart>
  <c:txPr>
    <a:bodyPr/>
    <a:lstStyle/>
    <a:p>
      <a:pPr>
        <a:defRPr sz="1100">
          <a:solidFill>
            <a:srgbClr val="475569"/>
          </a:solidFill>
          <a:latin typeface="Aptos Narrow"/>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F172A"/>
                </a:solidFill>
                <a:latin typeface="Aptos Narrow"/>
              </a:rPr>
              <a:t>Target classes (% of students)</a:t>
            </a:r>
          </a:p>
        </c:rich>
      </c:tx>
      <c:layout/>
      <c:overlay val="0"/>
    </c:title>
    <c:autoTitleDeleted val="0"/>
    <c:plotArea>
      <c:barChart>
        <c:barDir val="bar"/>
        <c:grouping val="clustered"/>
        <c:ser>
          <c:idx val="0"/>
          <c:order val="0"/>
          <c:tx>
            <c:strRef>
              <c:f>Sheet1!$B$1</c:f>
              <c:strCache>
                <c:ptCount val="1"/>
                <c:pt idx="0">
                  <c:v>s</c:v>
                </c:pt>
              </c:strCache>
            </c:strRef>
          </c:tx>
          <c:spPr>
            <a:solidFill>
              <a:srgbClr val="0284C7"/>
            </a:solidFill>
          </c:spPr>
          <c:dPt>
            <c:idx val="1"/>
            <c:spPr>
              <a:solidFill>
                <a:srgbClr val="EF4444"/>
              </a:solidFill>
            </c:spPr>
          </c:dPt>
          <c:cat>
            <c:strRef>
              <c:f>Sheet1!$A$2:$A$4</c:f>
              <c:strCache>
                <c:ptCount val="3"/>
                <c:pt idx="0">
                  <c:v>Graduate</c:v>
                </c:pt>
                <c:pt idx="1">
                  <c:v>Dropout</c:v>
                </c:pt>
                <c:pt idx="2">
                  <c:v>Enrolled</c:v>
                </c:pt>
              </c:strCache>
            </c:strRef>
          </c:cat>
          <c:val>
            <c:numRef>
              <c:f>Sheet1!$B$2:$B$4</c:f>
              <c:numCache>
                <c:formatCode>General</c:formatCode>
                <c:ptCount val="3"/>
                <c:pt idx="0">
                  <c:v>49.9</c:v>
                </c:pt>
                <c:pt idx="1">
                  <c:v>32.1</c:v>
                </c:pt>
                <c:pt idx="2">
                  <c:v>17.9</c:v>
                </c:pt>
              </c:numCache>
            </c:numRef>
          </c:val>
        </c:ser>
        <c:dLbls>
          <c:numFmt formatCode="0.0&quot;%&quot;" sourceLinked="0"/>
          <c:txPr>
            <a:bodyPr/>
            <a:lstStyle/>
            <a:p>
              <a:pPr>
                <a:defRPr sz="1200" b="1">
                  <a:solidFill>
                    <a:srgbClr val="0F172A"/>
                  </a:solidFill>
                  <a:latin typeface="Aptos Narrow"/>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CBD5E1"/>
            </a:solidFill>
          </a:ln>
        </c:spPr>
        <c:txPr>
          <a:bodyPr/>
          <a:lstStyle/>
          <a:p>
            <a:pPr>
              <a:defRPr sz="1200"/>
            </a:pPr>
          </a:p>
        </c:txPr>
        <c:crossAx val="-2113994440"/>
        <c:crosses val="autoZero"/>
        <c:auto val="1"/>
        <c:lblAlgn val="ctr"/>
        <c:lblOffset val="100"/>
        <c:noMultiLvlLbl val="0"/>
      </c:catAx>
      <c:valAx>
        <c:axId val="-2113994440"/>
        <c:scaling>
          <c:max val="62.0"/>
          <c:min val="0.0"/>
        </c:scaling>
        <c:delete/>
        <c:axPos val="b"/>
        <c:majorTickMark val="out"/>
        <c:minorTickMark val="none"/>
        <c:tickLblPos val="nextTo"/>
        <c:crossAx val="-2068027336"/>
        <c:crosses val="autoZero"/>
      </c:valAx>
    </c:plotArea>
    <c:dispBlanksAs val="gap"/>
  </c:chart>
  <c:txPr>
    <a:bodyPr/>
    <a:lstStyle/>
    <a:p>
      <a:pPr>
        <a:defRPr sz="1200">
          <a:solidFill>
            <a:srgbClr val="475569"/>
          </a:solidFill>
          <a:latin typeface="Aptos Narrow"/>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fld id="{280D7E5D-03C5-4BD3-B617-95C042F534DE}" type="datetimeFigureOut">
              <a:rPr lang="en-US" smtClean="0"/>
              <a:t>10/6/2026</a:t>
            </a:fld>
            <a:endParaRPr lang="en-US"/>
          </a:p>
        </p:txBody>
      </p:sp>
      <p:sp>
        <p:nvSpPr>
          <p:cNvPr id="4" name="Slide Image Placeholder 3"/>
          <p:cNvSpPr>
            <a:spLocks noGrp="1" noRot="1" noChangeAspect="1"/>
          </p:cNvSpPr>
          <p:nvPr>
            <p:ph type="sldImg" idx="2"/>
          </p:nvPr>
        </p:nvSpPr>
        <p:spPr>
          <a:xfrm>
            <a:off x="481013" y="1279525"/>
            <a:ext cx="6137275" cy="3452813"/>
          </a:xfrm>
          <a:prstGeom prst="rect">
            <a:avLst/>
          </a:prstGeom>
          <a:noFill/>
          <a:ln w="12700">
            <a:solidFill>
              <a:prstClr val="black"/>
            </a:solidFill>
          </a:ln>
        </p:spPr>
        <p:txBody>
          <a:bodyPr vert="horz" lIns="99048" tIns="49524" rIns="99048" bIns="49524" rtlCol="0" anchor="ctr"/>
          <a:lstStyle/>
          <a:p>
            <a:endParaRPr lang="en-US"/>
          </a:p>
        </p:txBody>
      </p:sp>
      <p:sp>
        <p:nvSpPr>
          <p:cNvPr id="5" name="Notes Placeholder 4"/>
          <p:cNvSpPr>
            <a:spLocks noGrp="1"/>
          </p:cNvSpPr>
          <p:nvPr>
            <p:ph type="body" sz="quarter" idx="3"/>
          </p:nvPr>
        </p:nvSpPr>
        <p:spPr>
          <a:xfrm>
            <a:off x="709930" y="4925408"/>
            <a:ext cx="5679440" cy="4029878"/>
          </a:xfrm>
          <a:prstGeom prst="rect">
            <a:avLst/>
          </a:prstGeom>
        </p:spPr>
        <p:txBody>
          <a:bodyPr vert="horz" lIns="99048" tIns="49524" rIns="99048" bIns="49524"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1" y="9721108"/>
            <a:ext cx="3076363" cy="513507"/>
          </a:xfrm>
          <a:prstGeom prst="rect">
            <a:avLst/>
          </a:prstGeom>
        </p:spPr>
        <p:txBody>
          <a:bodyPr vert="horz" lIns="99048" tIns="49524" rIns="99048" bIns="49524" rtlCol="0" anchor="b"/>
          <a:lstStyle>
            <a:lvl1pPr algn="l">
              <a:defRPr sz="1300"/>
            </a:lvl1pPr>
          </a:lstStyle>
          <a:p>
            <a:endParaRPr lang="en-US"/>
          </a:p>
        </p:txBody>
      </p:sp>
      <p:sp>
        <p:nvSpPr>
          <p:cNvPr id="7" name="Slide Number Placeholder 6"/>
          <p:cNvSpPr>
            <a:spLocks noGrp="1"/>
          </p:cNvSpPr>
          <p:nvPr>
            <p:ph type="sldNum" sz="quarter" idx="5"/>
          </p:nvPr>
        </p:nvSpPr>
        <p:spPr>
          <a:xfrm>
            <a:off x="4021295" y="9721108"/>
            <a:ext cx="3076363" cy="513507"/>
          </a:xfrm>
          <a:prstGeom prst="rect">
            <a:avLst/>
          </a:prstGeom>
        </p:spPr>
        <p:txBody>
          <a:bodyPr vert="horz" lIns="99048" tIns="49524" rIns="99048" bIns="49524" rtlCol="0" anchor="b"/>
          <a:lstStyle>
            <a:lvl1pPr algn="r">
              <a:defRPr sz="1300"/>
            </a:lvl1pPr>
          </a:lstStyle>
          <a:p>
            <a:fld id="{59183492-71CA-4247-84DA-EC3ADF4E65F9}" type="slidenum">
              <a:rPr lang="en-US" smtClean="0"/>
              <a:t>‹#›</a:t>
            </a:fld>
            <a:endParaRPr lang="en-US"/>
          </a:p>
        </p:txBody>
      </p:sp>
    </p:spTree>
    <p:extLst>
      <p:ext uri="{BB962C8B-B14F-4D97-AF65-F5344CB8AC3E}">
        <p14:creationId xmlns:p14="http://schemas.microsoft.com/office/powerpoint/2010/main" val="3416820714"/>
      </p:ext>
    </p:extLst>
  </p:cSld>
  <p:clrMap bg1="lt1" tx1="dk1" bg2="lt2" tx2="dk2" accent1="accent1" accent2="accent2" accent3="accent3" accent4="accent4" accent5="accent5" accent6="accent6" hlink="hlink" folHlink="folHlink"/>
  <p:notesStyle>
    <a:lvl1pPr marL="0" algn="l"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100" kern="1200">
        <a:solidFill>
          <a:schemeClr val="tx1"/>
        </a:solidFill>
        <a:latin typeface="+mn-lt"/>
        <a:ea typeface="+mn-ea"/>
        <a:cs typeface="+mn-cs"/>
      </a:defRPr>
    </a:lvl2pPr>
    <a:lvl3pPr marL="914400" algn="l" defTabSz="914400" rtl="0" eaLnBrk="1" latinLnBrk="0" hangingPunct="1">
      <a:defRPr sz="1100" kern="1200">
        <a:solidFill>
          <a:schemeClr val="tx1"/>
        </a:solidFill>
        <a:latin typeface="+mn-lt"/>
        <a:ea typeface="+mn-ea"/>
        <a:cs typeface="+mn-cs"/>
      </a:defRPr>
    </a:lvl3pPr>
    <a:lvl4pPr marL="1371600" algn="l" defTabSz="914400" rtl="0" eaLnBrk="1" latinLnBrk="0" hangingPunct="1">
      <a:defRPr sz="1100" kern="1200">
        <a:solidFill>
          <a:schemeClr val="tx1"/>
        </a:solidFill>
        <a:latin typeface="+mn-lt"/>
        <a:ea typeface="+mn-ea"/>
        <a:cs typeface="+mn-cs"/>
      </a:defRPr>
    </a:lvl4pPr>
    <a:lvl5pPr marL="1828800" algn="l" defTabSz="914400" rtl="0" eaLnBrk="1" latinLnBrk="0" hangingPunct="1">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Title</a:t>
            </a:r>
          </a:p>
          <a:p>
            <a:r>
              <a:t>Speaker Script:</a:t>
            </a:r>
          </a:p>
          <a:p>
            <a:r>
              <a:t>This deck is the technical companion to the business briefing. It walks through the notebook step by step: framing, data, features, models, explanation, fairness, mitigation and reproducibility. The headline results are on the hold-out set of 885 students: XGBoost reaches recall 0.912, ROC-AUC 0.937 and F2 0.855 at a fixed 0.50 threshold, and group thresholds cut the age-group recall gap from 0.18 to 0.07.</a:t>
            </a:r>
          </a:p>
          <a:p/>
          <a:p>
            <a:r>
              <a:t>Key Takeaways &amp; Transition:</a:t>
            </a:r>
          </a:p>
          <a:p>
            <a:r>
              <a:t>Audience: data science peers.</a:t>
            </a:r>
          </a:p>
          <a:p>
            <a:r>
              <a:t>Every figure comes from the executed notebook.</a:t>
            </a:r>
          </a:p>
          <a:p>
            <a:r>
              <a:t>Transition: Let me start with how the problem is framed and how success is judged.</a:t>
            </a:r>
          </a:p>
        </p:txBody>
      </p:sp>
      <p:sp>
        <p:nvSpPr>
          <p:cNvPr id="4" name="Slide Number Placeholder 3"/>
          <p:cNvSpPr>
            <a:spLocks noGrp="1"/>
          </p:cNvSpPr>
          <p:nvPr>
            <p:ph type="sldNum" sz="quarter" idx="5"/>
          </p:nvPr>
        </p:nvSpPr>
        <p:spPr/>
        <p:txBody>
          <a:bodyPr/>
          <a:lstStyle/>
          <a:p>
            <a:fld id="{59183492-71CA-4247-84DA-EC3ADF4E65F9}" type="slidenum">
              <a:rPr lang="en-US" smtClean="0"/>
              <a:t>1</a:t>
            </a:fld>
            <a:endParaRPr lang="en-US"/>
          </a:p>
        </p:txBody>
      </p:sp>
    </p:spTree>
    <p:extLst>
      <p:ext uri="{BB962C8B-B14F-4D97-AF65-F5344CB8AC3E}">
        <p14:creationId xmlns:p14="http://schemas.microsoft.com/office/powerpoint/2010/main" val="856269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Problem framing and protocol</a:t>
            </a:r>
          </a:p>
          <a:p>
            <a:r>
              <a:t>Speaker Script:</a:t>
            </a:r>
          </a:p>
          <a:p>
            <a:r>
              <a:t>The task is binary classification with the label collapsed so that Graduate and Enrolled count as retained. The system decides at the end of Semester 2, which fixes which features are legitimate. Because a missed dropout is far costlier than an unnecessary check-in, recall is the deployment criterion, at least 0.85, and F2 is used to rank models. The protocol is leakage-conscious: a stratified split, tuning and selection on training cross-validation only, preprocessing fitted on training data only, and a single scoring of the test set at a fixed threshold.</a:t>
            </a:r>
          </a:p>
          <a:p/>
          <a:p>
            <a:r>
              <a:t>Key Takeaways &amp; Transition:</a:t>
            </a:r>
          </a:p>
          <a:p>
            <a:r>
              <a:t>Recall &gt;= 0.85 is the criterion; F2 ranks models.</a:t>
            </a:r>
          </a:p>
          <a:p>
            <a:r>
              <a:t>Sensitive attributes are withheld from the model.</a:t>
            </a:r>
          </a:p>
          <a:p>
            <a:r>
              <a:t>Transition: Next, the data.</a:t>
            </a:r>
          </a:p>
        </p:txBody>
      </p:sp>
      <p:sp>
        <p:nvSpPr>
          <p:cNvPr id="4" name="Slide Number Placeholder 3"/>
          <p:cNvSpPr>
            <a:spLocks noGrp="1"/>
          </p:cNvSpPr>
          <p:nvPr>
            <p:ph type="sldNum" sz="quarter" idx="5"/>
          </p:nvPr>
        </p:nvSpPr>
        <p:spPr/>
        <p:txBody>
          <a:bodyPr/>
          <a:lstStyle/>
          <a:p>
            <a:fld id="{59183492-71CA-4247-84DA-EC3ADF4E65F9}" type="slidenum">
              <a:rPr lang="en-US" smtClean="0"/>
              <a:t>2</a:t>
            </a:fld>
            <a:endParaRPr lang="en-US"/>
          </a:p>
        </p:txBody>
      </p:sp>
    </p:spTree>
    <p:extLst>
      <p:ext uri="{BB962C8B-B14F-4D97-AF65-F5344CB8AC3E}">
        <p14:creationId xmlns:p14="http://schemas.microsoft.com/office/powerpoint/2010/main" val="3984784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Data</a:t>
            </a:r>
          </a:p>
          <a:p>
            <a:r>
              <a:t>Speaker Script:</a:t>
            </a:r>
          </a:p>
          <a:p>
            <a:r>
              <a:t>The data is the UCI Predict Students Dropout and Academic Success set: 4,424 students, 36 features and a three-class target. There are no missing values and no duplicates. The class split is 49.9 percent Graduate, 32.1 percent Dropout and 17.9 percent Enrolled; collapsing Graduate and Enrolled gives a binary problem with a 32 percent positive class, so imbalance has to be handled in modelling and metric choice. Features fall into four groups, and categorical variables are integer-coded. This is one institution, so external validity is a limitation.</a:t>
            </a:r>
          </a:p>
          <a:p/>
          <a:p>
            <a:r>
              <a:t>Key Takeaways &amp; Transition:</a:t>
            </a:r>
          </a:p>
          <a:p>
            <a:r>
              <a:t>4,424 x 36; 0 missing; 0 duplicates.</a:t>
            </a:r>
          </a:p>
          <a:p>
            <a:r>
              <a:t>Positive class: 32.1%.</a:t>
            </a:r>
          </a:p>
          <a:p>
            <a:r>
              <a:t>Transition: Now how the raw data becomes model input.</a:t>
            </a:r>
          </a:p>
        </p:txBody>
      </p:sp>
      <p:sp>
        <p:nvSpPr>
          <p:cNvPr id="4" name="Slide Number Placeholder 3"/>
          <p:cNvSpPr>
            <a:spLocks noGrp="1"/>
          </p:cNvSpPr>
          <p:nvPr>
            <p:ph type="sldNum" sz="quarter" idx="5"/>
          </p:nvPr>
        </p:nvSpPr>
        <p:spPr/>
        <p:txBody>
          <a:bodyPr/>
          <a:lstStyle/>
          <a:p>
            <a:fld id="{59183492-71CA-4247-84DA-EC3ADF4E65F9}" type="slidenum">
              <a:rPr lang="en-US" smtClean="0"/>
              <a:t>3</a:t>
            </a:fld>
            <a:endParaRPr lang="en-US"/>
          </a:p>
        </p:txBody>
      </p:sp>
    </p:spTree>
    <p:extLst>
      <p:ext uri="{BB962C8B-B14F-4D97-AF65-F5344CB8AC3E}">
        <p14:creationId xmlns:p14="http://schemas.microsoft.com/office/powerpoint/2010/main" val="4283517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Preprocessing and feature engineering</a:t>
            </a:r>
          </a:p>
          <a:p>
            <a:r>
              <a:t>Speaker Script:</a:t>
            </a:r>
          </a:p>
          <a:p>
            <a:r>
              <a:t>The target is binarised and the data audited: no nulls or duplicates, and an IQR screen that flags outliers in nine of twelve numeric columns. I kept them because they are genuine observations, trees are insensitive to them, and logistic regression standardises inside its pipeline. Four features were engineered row by row, so they cannot leak across the split: the approval rate per semester, grade trend and a financial stress index. Gender and marital status are withheld from the model. After a stratified split, the scaler, RFECV and PCA are fitted on training data only. RFECV kept all 38 features, and PCA needs 24 components for 95 percent of the variance, so I use it as a diagnostic rather than a model input.</a:t>
            </a:r>
          </a:p>
          <a:p/>
          <a:p>
            <a:r>
              <a:t>Key Takeaways &amp; Transition:</a:t>
            </a:r>
          </a:p>
          <a:p>
            <a:r>
              <a:t>38 model inputs; 3,539 / 885 split.</a:t>
            </a:r>
          </a:p>
          <a:p>
            <a:r>
              <a:t>RFECV kept all features; PCA diagnostic only.</a:t>
            </a:r>
          </a:p>
          <a:p>
            <a:r>
              <a:t>Transition: Let me show what the exploratory analysis revealed.</a:t>
            </a:r>
          </a:p>
        </p:txBody>
      </p:sp>
      <p:sp>
        <p:nvSpPr>
          <p:cNvPr id="4" name="Slide Number Placeholder 3"/>
          <p:cNvSpPr>
            <a:spLocks noGrp="1"/>
          </p:cNvSpPr>
          <p:nvPr>
            <p:ph type="sldNum" sz="quarter" idx="5"/>
          </p:nvPr>
        </p:nvSpPr>
        <p:spPr/>
        <p:txBody>
          <a:bodyPr/>
          <a:lstStyle/>
          <a:p>
            <a:fld id="{59183492-71CA-4247-84DA-EC3ADF4E65F9}" type="slidenum">
              <a:rPr lang="en-US" smtClean="0"/>
              <a:t>5</a:t>
            </a:fld>
            <a:endParaRPr lang="en-US"/>
          </a:p>
        </p:txBody>
      </p:sp>
    </p:spTree>
    <p:extLst>
      <p:ext uri="{BB962C8B-B14F-4D97-AF65-F5344CB8AC3E}">
        <p14:creationId xmlns:p14="http://schemas.microsoft.com/office/powerpoint/2010/main" val="1720640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Applied EDA</a:t>
            </a:r>
          </a:p>
          <a:p>
            <a:r>
              <a:t>Speaker Script:</a:t>
            </a:r>
          </a:p>
          <a:p>
            <a:r>
              <a:t>Three views test whether the engineered ideas carry signal. The financial stress index shows a steep gradient: the dropout rate rises from 9.3 percent at level zero to 88.8 percent at level three. The correlation ranking is led by the approval rates, then grades and approved units, all negatively related to dropout. Grade trend is the weak one: the medians are the same, the dropout distribution sits slightly lower, and later the model does not rank it among its top drivers.</a:t>
            </a:r>
          </a:p>
          <a:p/>
          <a:p>
            <a:r>
              <a:t>Key Takeaways &amp; Transition:</a:t>
            </a:r>
          </a:p>
          <a:p>
            <a:r>
              <a:t>FSI gradient 9.3% to 88.8%.</a:t>
            </a:r>
          </a:p>
          <a:p>
            <a:r>
              <a:t>Approval rates are the strongest correlates.</a:t>
            </a:r>
          </a:p>
          <a:p>
            <a:r>
              <a:t>Transition: Now the modelling.</a:t>
            </a:r>
          </a:p>
        </p:txBody>
      </p:sp>
      <p:sp>
        <p:nvSpPr>
          <p:cNvPr id="4" name="Slide Number Placeholder 3"/>
          <p:cNvSpPr>
            <a:spLocks noGrp="1"/>
          </p:cNvSpPr>
          <p:nvPr>
            <p:ph type="sldNum" sz="quarter" idx="5"/>
          </p:nvPr>
        </p:nvSpPr>
        <p:spPr/>
        <p:txBody>
          <a:bodyPr/>
          <a:lstStyle/>
          <a:p>
            <a:fld id="{59183492-71CA-4247-84DA-EC3ADF4E65F9}" type="slidenum">
              <a:rPr lang="en-US" smtClean="0"/>
              <a:t>6</a:t>
            </a:fld>
            <a:endParaRPr lang="en-US"/>
          </a:p>
        </p:txBody>
      </p:sp>
    </p:spTree>
    <p:extLst>
      <p:ext uri="{BB962C8B-B14F-4D97-AF65-F5344CB8AC3E}">
        <p14:creationId xmlns:p14="http://schemas.microsoft.com/office/powerpoint/2010/main" val="3637136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Models</a:t>
            </a:r>
          </a:p>
          <a:p>
            <a:r>
              <a:t>Speaker Script:</a:t>
            </a:r>
          </a:p>
          <a:p>
            <a:r>
              <a:t>Four model families were tuned with five-fold stratified cross-validation, scoring on F2 using the training set only. XGBoost ranked first on cross-validated F2, 0.825, and also had the highest hold-out recall at 0.912. I want to be candid that its margin over logistic regression, 0.019, is smaller than the fold standard deviation of 0.020, so the ranking is not statistically decisive. The other models trade six to eight points of recall for about ten points of precision. All tuned models, the comparison table and a configuration file are saved for reproducibility.</a:t>
            </a:r>
          </a:p>
          <a:p/>
          <a:p>
            <a:r>
              <a:t>Key Takeaways &amp; Transition:</a:t>
            </a:r>
          </a:p>
          <a:p>
            <a:r>
              <a:t>XGBoost: CV F2 0.825, recall 0.912, precision 0.685.</a:t>
            </a:r>
          </a:p>
          <a:p>
            <a:r>
              <a:t>Margin is within one fold std.</a:t>
            </a:r>
          </a:p>
          <a:p>
            <a:r>
              <a:t>Transition: Let us audit the selected model.</a:t>
            </a:r>
          </a:p>
        </p:txBody>
      </p:sp>
      <p:sp>
        <p:nvSpPr>
          <p:cNvPr id="4" name="Slide Number Placeholder 3"/>
          <p:cNvSpPr>
            <a:spLocks noGrp="1"/>
          </p:cNvSpPr>
          <p:nvPr>
            <p:ph type="sldNum" sz="quarter" idx="5"/>
          </p:nvPr>
        </p:nvSpPr>
        <p:spPr/>
        <p:txBody>
          <a:bodyPr/>
          <a:lstStyle/>
          <a:p>
            <a:fld id="{59183492-71CA-4247-84DA-EC3ADF4E65F9}" type="slidenum">
              <a:rPr lang="en-US" smtClean="0"/>
              <a:t>7</a:t>
            </a:fld>
            <a:endParaRPr lang="en-US"/>
          </a:p>
        </p:txBody>
      </p:sp>
    </p:spTree>
    <p:extLst>
      <p:ext uri="{BB962C8B-B14F-4D97-AF65-F5344CB8AC3E}">
        <p14:creationId xmlns:p14="http://schemas.microsoft.com/office/powerpoint/2010/main" val="1497071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Evaluation and limitations audit</a:t>
            </a:r>
          </a:p>
          <a:p>
            <a:r>
              <a:t>Speaker Script:</a:t>
            </a:r>
          </a:p>
          <a:p>
            <a:r>
              <a:t>At threshold 0.50 on the 885 hold-out students the model catches 259 of 284 dropouts, misses 25, and raises 119 unnecessary check-ins, so it flags 42.7 percent of students. Three audits qualify this. Overfitting: the train to validation F2 gap is 0.049, under my 0.10 threshold. Leakage: no single feature exceeds 0.90 AUC; the strongest is the Semester 2 approval rate at 0.871. Timing: every feature is available by the end of Semester 2, and adding Semester 2 data lifts AUC from 0.912 to 0.937 and recall from 0.880 to 0.912.</a:t>
            </a:r>
          </a:p>
          <a:p/>
          <a:p>
            <a:r>
              <a:t>Key Takeaways &amp; Transition:</a:t>
            </a:r>
          </a:p>
          <a:p>
            <a:r>
              <a:t>TP 259, FN 25, FP 119, TN 482.</a:t>
            </a:r>
          </a:p>
          <a:p>
            <a:r>
              <a:t>F2 gap 0.049; max single-feature AUC 0.871.</a:t>
            </a:r>
          </a:p>
          <a:p>
            <a:r>
              <a:t>Transition: Now, why does the model flag a student?</a:t>
            </a:r>
          </a:p>
        </p:txBody>
      </p:sp>
      <p:sp>
        <p:nvSpPr>
          <p:cNvPr id="4" name="Slide Number Placeholder 3"/>
          <p:cNvSpPr>
            <a:spLocks noGrp="1"/>
          </p:cNvSpPr>
          <p:nvPr>
            <p:ph type="sldNum" sz="quarter" idx="5"/>
          </p:nvPr>
        </p:nvSpPr>
        <p:spPr/>
        <p:txBody>
          <a:bodyPr/>
          <a:lstStyle/>
          <a:p>
            <a:fld id="{59183492-71CA-4247-84DA-EC3ADF4E65F9}" type="slidenum">
              <a:rPr lang="en-US" smtClean="0"/>
              <a:t>8</a:t>
            </a:fld>
            <a:endParaRPr lang="en-US"/>
          </a:p>
        </p:txBody>
      </p:sp>
    </p:spTree>
    <p:extLst>
      <p:ext uri="{BB962C8B-B14F-4D97-AF65-F5344CB8AC3E}">
        <p14:creationId xmlns:p14="http://schemas.microsoft.com/office/powerpoint/2010/main" val="286680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Explainability</a:t>
            </a:r>
          </a:p>
          <a:p>
            <a:r>
              <a:t>Speaker Script:</a:t>
            </a:r>
          </a:p>
          <a:p>
            <a:r>
              <a:t>SHAP decomposes each prediction additively in log-odds of dropout. The ranking is led by the Semester 2 approval rate at 1.05, far ahead of the Semester 1 approval rate at 0.41, then tuition status, age and course. Higher approval rates and up-to-date tuition push risk down. Three of the top ten drivers are engineered features and three are Semester 2 variables, which is why waiting until the end of Semester 2 pays off. LIME explains one correctly flagged student whose predicted risk is 97 percent: a low Semester 2 approval rate dominates. Two of the three leading LIME features are also in the SHAP top ten, so the two methods only partly agree and local explanations should be read with care. Gender and marital status are not inputs, so they cannot appear.</a:t>
            </a:r>
          </a:p>
          <a:p/>
          <a:p>
            <a:r>
              <a:t>Key Takeaways &amp; Transition:</a:t>
            </a:r>
          </a:p>
          <a:p>
            <a:r>
              <a:t>Top drivers: approval rate Sem 2 (1.05), Sem 1 (0.41), tuition (0.26).</a:t>
            </a:r>
          </a:p>
          <a:p>
            <a:r>
              <a:t>SHAP and LIME partly agree.</a:t>
            </a:r>
          </a:p>
          <a:p>
            <a:r>
              <a:t>Transition: Next, whether the model treats groups fairly.</a:t>
            </a:r>
          </a:p>
        </p:txBody>
      </p:sp>
      <p:sp>
        <p:nvSpPr>
          <p:cNvPr id="4" name="Slide Number Placeholder 3"/>
          <p:cNvSpPr>
            <a:spLocks noGrp="1"/>
          </p:cNvSpPr>
          <p:nvPr>
            <p:ph type="sldNum" sz="quarter" idx="5"/>
          </p:nvPr>
        </p:nvSpPr>
        <p:spPr/>
        <p:txBody>
          <a:bodyPr/>
          <a:lstStyle/>
          <a:p>
            <a:fld id="{59183492-71CA-4247-84DA-EC3ADF4E65F9}" type="slidenum">
              <a:rPr lang="en-US" smtClean="0"/>
              <a:t>9</a:t>
            </a:fld>
            <a:endParaRPr lang="en-US"/>
          </a:p>
        </p:txBody>
      </p:sp>
    </p:spTree>
    <p:extLst>
      <p:ext uri="{BB962C8B-B14F-4D97-AF65-F5344CB8AC3E}">
        <p14:creationId xmlns:p14="http://schemas.microsoft.com/office/powerpoint/2010/main" val="17844508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Fairness audit</a:t>
            </a:r>
          </a:p>
          <a:p>
            <a:r>
              <a:t>Speaker Script:</a:t>
            </a:r>
          </a:p>
          <a:p>
            <a:r>
              <a:t>I audited five attributes using flag-rate ratio, equal-opportunity gap and false-positive-rate gap, with a minimum group size of 30. The flag-rate ratio, the smallest group flag rate over the largest, is below the 0.80 screening heuristic for every attribute, but that mostly reflects different base dropout rates: scholarship holders drop out at 12.6 percent against 39 percent, so they are flagged less. The sharper test is recall: students aged 20 or under and scholarship holders have recall of about 0.80 against 0.98 and 0.93 for their counterparts, gaps of 0.18 and 0.13, above my 0.10 limit. A counterfactual model that does receive gender and marital status has the same AUC and a larger gender recall gap, so excluding them cost nothing, though proxies remain.</a:t>
            </a:r>
          </a:p>
          <a:p/>
          <a:p>
            <a:r>
              <a:t>Key Takeaways &amp; Transition:</a:t>
            </a:r>
          </a:p>
          <a:p>
            <a:r>
              <a:t>Recall gaps above 0.10: age (0.18), scholarship (0.13).</a:t>
            </a:r>
          </a:p>
          <a:p>
            <a:r>
              <a:t>Exclusion of sensitive attributes costs no accuracy.</a:t>
            </a:r>
          </a:p>
          <a:p>
            <a:r>
              <a:t>Transition: Can the largest gap be reduced?</a:t>
            </a:r>
          </a:p>
        </p:txBody>
      </p:sp>
      <p:sp>
        <p:nvSpPr>
          <p:cNvPr id="4" name="Slide Number Placeholder 3"/>
          <p:cNvSpPr>
            <a:spLocks noGrp="1"/>
          </p:cNvSpPr>
          <p:nvPr>
            <p:ph type="sldNum" sz="quarter" idx="5"/>
          </p:nvPr>
        </p:nvSpPr>
        <p:spPr/>
        <p:txBody>
          <a:bodyPr/>
          <a:lstStyle/>
          <a:p>
            <a:fld id="{59183492-71CA-4247-84DA-EC3ADF4E65F9}" type="slidenum">
              <a:rPr lang="en-US" smtClean="0"/>
              <a:t>11</a:t>
            </a:fld>
            <a:endParaRPr lang="en-US"/>
          </a:p>
        </p:txBody>
      </p:sp>
    </p:spTree>
    <p:extLst>
      <p:ext uri="{BB962C8B-B14F-4D97-AF65-F5344CB8AC3E}">
        <p14:creationId xmlns:p14="http://schemas.microsoft.com/office/powerpoint/2010/main" val="2054547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Bias mitigation</a:t>
            </a:r>
          </a:p>
          <a:p>
            <a:r>
              <a:t>Speaker Script:</a:t>
            </a:r>
          </a:p>
          <a:p>
            <a:r>
              <a:t>I implemented two mitigations for the attribute with the largest recall gap, age group, and compared them on the untouched hold-out set. Reweighing refits the model with weights that make group and outcome independent; it narrows the gap from 0.180 to 0.139. Group thresholds choose one decision threshold per age group on out-of-fold training predictions so that each group matches the overall recall of 0.880; the thresholds are 0.30 for under-21s, 0.53 for 21 to 25 and 0.79 for over-25s. This narrows the gap to 0.074 at the cost of recall, 0.898, and precision, 0.614. My pre-declared rule adopts it. Caveats: the false-positive gap widens, so the equalized-odds gap is not improved; using age at decision time needs a policy check; and the scholarship gap is untouched.</a:t>
            </a:r>
          </a:p>
          <a:p/>
          <a:p>
            <a:r>
              <a:t>Key Takeaways &amp; Transition:</a:t>
            </a:r>
          </a:p>
          <a:p>
            <a:r>
              <a:t>Recall gap 0.180 to 0.074; precision 0.685 to 0.614.</a:t>
            </a:r>
          </a:p>
          <a:p>
            <a:r>
              <a:t>FPR gap widens 0.127 to 0.214.</a:t>
            </a:r>
          </a:p>
          <a:p>
            <a:r>
              <a:t>Transition: Let me pull the findings together.</a:t>
            </a:r>
          </a:p>
        </p:txBody>
      </p:sp>
      <p:sp>
        <p:nvSpPr>
          <p:cNvPr id="4" name="Slide Number Placeholder 3"/>
          <p:cNvSpPr>
            <a:spLocks noGrp="1"/>
          </p:cNvSpPr>
          <p:nvPr>
            <p:ph type="sldNum" sz="quarter" idx="5"/>
          </p:nvPr>
        </p:nvSpPr>
        <p:spPr/>
        <p:txBody>
          <a:bodyPr/>
          <a:lstStyle/>
          <a:p>
            <a:fld id="{59183492-71CA-4247-84DA-EC3ADF4E65F9}" type="slidenum">
              <a:rPr lang="en-US" smtClean="0"/>
              <a:t>12</a:t>
            </a:fld>
            <a:endParaRPr lang="en-US"/>
          </a:p>
        </p:txBody>
      </p:sp>
    </p:spTree>
    <p:extLst>
      <p:ext uri="{BB962C8B-B14F-4D97-AF65-F5344CB8AC3E}">
        <p14:creationId xmlns:p14="http://schemas.microsoft.com/office/powerpoint/2010/main" val="11456400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Findings, limitations and recommendations</a:t>
            </a:r>
          </a:p>
          <a:p>
            <a:r>
              <a:t>Speaker Script:</a:t>
            </a:r>
          </a:p>
          <a:p>
            <a:r>
              <a:t>In summary: a tuned XGBoost model meets the recall target, with recall 0.912 and precision 0.685; its leading drivers are the approval rates and tuition status, and Semester 2 data adds measurable value. Fairness is the open area: flag rates differ across all groups because base rates differ, recall gaps exist for age and scholarship, group thresholds close the age gap with trade-offs, and the scholarship gap remains. Limitations are label censoring, a single institution, proxies and close model margins. I recommend using it as advisor decision support, monitoring per-group recall each cycle, auditing nationality and international status, and measuring retention lift in a pilot.</a:t>
            </a:r>
          </a:p>
          <a:p/>
          <a:p>
            <a:r>
              <a:t>Key Takeaways &amp; Transition:</a:t>
            </a:r>
          </a:p>
          <a:p>
            <a:r>
              <a:t>Target met; fairness work remains.</a:t>
            </a:r>
          </a:p>
          <a:p>
            <a:r>
              <a:t>Next: audit nationality, address scholarship gap, pilot.</a:t>
            </a:r>
          </a:p>
          <a:p>
            <a:r>
              <a:t>Transition: Finally, reproducibility.</a:t>
            </a:r>
          </a:p>
        </p:txBody>
      </p:sp>
      <p:sp>
        <p:nvSpPr>
          <p:cNvPr id="4" name="Slide Number Placeholder 3"/>
          <p:cNvSpPr>
            <a:spLocks noGrp="1"/>
          </p:cNvSpPr>
          <p:nvPr>
            <p:ph type="sldNum" sz="quarter" idx="5"/>
          </p:nvPr>
        </p:nvSpPr>
        <p:spPr/>
        <p:txBody>
          <a:bodyPr/>
          <a:lstStyle/>
          <a:p>
            <a:fld id="{59183492-71CA-4247-84DA-EC3ADF4E65F9}" type="slidenum">
              <a:rPr lang="en-US" smtClean="0"/>
              <a:t>13</a:t>
            </a:fld>
            <a:endParaRPr lang="en-US"/>
          </a:p>
        </p:txBody>
      </p:sp>
    </p:spTree>
    <p:extLst>
      <p:ext uri="{BB962C8B-B14F-4D97-AF65-F5344CB8AC3E}">
        <p14:creationId xmlns:p14="http://schemas.microsoft.com/office/powerpoint/2010/main" val="35794576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Reproducibility</a:t>
            </a:r>
          </a:p>
          <a:p>
            <a:r>
              <a:t>Speaker Script:</a:t>
            </a:r>
          </a:p>
          <a:p>
            <a:r>
              <a:t>Everything here can be rerun. The repository follows an open-source layout with the executed notebook, helper modules extracted from it, saved models with a comparison table and a configuration file that records parameters, threshold, seed, split and feature list. The controls are fixed seeds, a stratified split, preprocessing fitted on training data only, selection on training cross-validation, and a single scoring of the test set. The business briefing is the companion deck for decision-makers.</a:t>
            </a:r>
          </a:p>
          <a:p/>
          <a:p>
            <a:r>
              <a:t>Key Takeaways &amp; Transition:</a:t>
            </a:r>
          </a:p>
          <a:p>
            <a:r>
              <a:t>Repo layout; run all cells with seed 42.</a:t>
            </a:r>
          </a:p>
          <a:p>
            <a:r>
              <a:t>Config JSON documents the final model.</a:t>
            </a:r>
          </a:p>
          <a:p>
            <a:r>
              <a:t>Transition: Thank you. Questions are welcome.</a:t>
            </a:r>
          </a:p>
        </p:txBody>
      </p:sp>
      <p:sp>
        <p:nvSpPr>
          <p:cNvPr id="4" name="Slide Number Placeholder 3"/>
          <p:cNvSpPr>
            <a:spLocks noGrp="1"/>
          </p:cNvSpPr>
          <p:nvPr>
            <p:ph type="sldNum" sz="quarter" idx="5"/>
          </p:nvPr>
        </p:nvSpPr>
        <p:spPr/>
        <p:txBody>
          <a:bodyPr/>
          <a:lstStyle/>
          <a:p>
            <a:fld id="{59183492-71CA-4247-84DA-EC3ADF4E65F9}" type="slidenum">
              <a:rPr lang="en-US" smtClean="0"/>
              <a:t>15</a:t>
            </a:fld>
            <a:endParaRPr lang="en-US"/>
          </a:p>
        </p:txBody>
      </p:sp>
    </p:spTree>
    <p:extLst>
      <p:ext uri="{BB962C8B-B14F-4D97-AF65-F5344CB8AC3E}">
        <p14:creationId xmlns:p14="http://schemas.microsoft.com/office/powerpoint/2010/main" val="2262539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a:xfrm>
            <a:off x="432000" y="6365893"/>
            <a:ext cx="5664000" cy="187307"/>
          </a:xfrm>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812072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a:prstGeom prst="rect">
            <a:avLst/>
          </a:prstGeo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215" cy="4480560"/>
          </a:xfrm>
          <a:prstGeom prst="rect">
            <a:avLst/>
          </a:prstGeo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2621124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14" name="Content Placeholder 12">
            <a:extLst>
              <a:ext uri="{FF2B5EF4-FFF2-40B4-BE49-F238E27FC236}">
                <a16:creationId xmlns:a16="http://schemas.microsoft.com/office/drawing/2014/main" id="{19B7E7AC-A0E6-BE9A-4728-8FE036CF3538}"/>
              </a:ext>
            </a:extLst>
          </p:cNvPr>
          <p:cNvSpPr>
            <a:spLocks noGrp="1"/>
          </p:cNvSpPr>
          <p:nvPr>
            <p:ph sz="quarter" idx="13"/>
          </p:nvPr>
        </p:nvSpPr>
        <p:spPr>
          <a:xfrm>
            <a:off x="841248" y="1536827"/>
            <a:ext cx="6556375" cy="4479925"/>
          </a:xfrm>
          <a:prstGeom prst="rect">
            <a:avLst/>
          </a:prstGeom>
        </p:spPr>
        <p:txBody>
          <a:bodyPr>
            <a:normAutofit/>
          </a:bodyPr>
          <a:lstStyle>
            <a:lvl1pPr>
              <a:lnSpc>
                <a:spcPct val="140000"/>
              </a:lnSpc>
              <a:spcAft>
                <a:spcPts val="0"/>
              </a:spcAft>
              <a:defRPr sz="2800"/>
            </a:lvl1pPr>
            <a:lvl2pPr>
              <a:defRPr sz="2800"/>
            </a:lvl2pPr>
            <a:lvl3pPr>
              <a:defRPr sz="2400"/>
            </a:lvl3pPr>
            <a:lvl4pPr>
              <a:defRPr sz="24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645453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with image 01">
    <p:bg>
      <p:bgPr>
        <a:solidFill>
          <a:schemeClr val="accent6">
            <a:lumMod val="50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F0337A6-0579-B5BC-C526-F7EBDDB8E84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4" name="Graphic 3">
            <a:extLst>
              <a:ext uri="{FF2B5EF4-FFF2-40B4-BE49-F238E27FC236}">
                <a16:creationId xmlns:a16="http://schemas.microsoft.com/office/drawing/2014/main" id="{4166F179-9203-AC2D-A267-E25FA28E978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4BFC5468-5E1B-2FE4-DA95-D0CCC383D3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2" name="Graphic 11">
            <a:extLst>
              <a:ext uri="{FF2B5EF4-FFF2-40B4-BE49-F238E27FC236}">
                <a16:creationId xmlns:a16="http://schemas.microsoft.com/office/drawing/2014/main" id="{617493C4-12E7-500C-5FD5-68370B57A20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3" name="Graphic 12">
            <a:extLst>
              <a:ext uri="{FF2B5EF4-FFF2-40B4-BE49-F238E27FC236}">
                <a16:creationId xmlns:a16="http://schemas.microsoft.com/office/drawing/2014/main" id="{149B5038-6091-D5DF-F2DA-3900885F498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4" name="Graphic 13">
            <a:extLst>
              <a:ext uri="{FF2B5EF4-FFF2-40B4-BE49-F238E27FC236}">
                <a16:creationId xmlns:a16="http://schemas.microsoft.com/office/drawing/2014/main" id="{9442ADAB-F6BA-A55C-036E-C837F95C8F8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111240" y="2231136"/>
            <a:ext cx="6080760" cy="4626864"/>
          </a:xfrm>
          <a:prstGeom prst="rect">
            <a:avLst/>
          </a:prstGeom>
          <a:solidFill>
            <a:schemeClr val="accent6">
              <a:lumMod val="50000"/>
            </a:schemeClr>
          </a:solidFill>
        </p:spPr>
        <p:txBody>
          <a:bodyPr/>
          <a:lstStyle>
            <a:lvl1pPr marL="0" indent="0" algn="r">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6931152" cy="557784"/>
          </a:xfrm>
          <a:prstGeom prst="rect">
            <a:avLst/>
          </a:prstGeo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6931152" cy="4480560"/>
          </a:xfrm>
          <a:prstGeom prst="rect">
            <a:avLst/>
          </a:prstGeo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1427928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E18B122A-848F-E50E-C503-3930933A5C6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8908"/>
          <a:stretch/>
        </p:blipFill>
        <p:spPr>
          <a:xfrm>
            <a:off x="8401354" y="0"/>
            <a:ext cx="3790646" cy="6857999"/>
          </a:xfrm>
          <a:prstGeom prst="rect">
            <a:avLst/>
          </a:prstGeom>
        </p:spPr>
      </p:pic>
      <p:pic>
        <p:nvPicPr>
          <p:cNvPr id="12" name="Graphic 11">
            <a:extLst>
              <a:ext uri="{FF2B5EF4-FFF2-40B4-BE49-F238E27FC236}">
                <a16:creationId xmlns:a16="http://schemas.microsoft.com/office/drawing/2014/main" id="{08CD9875-E4AF-D7EA-9F8B-D27F2C3104A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13" name="Graphic 12">
            <a:extLst>
              <a:ext uri="{FF2B5EF4-FFF2-40B4-BE49-F238E27FC236}">
                <a16:creationId xmlns:a16="http://schemas.microsoft.com/office/drawing/2014/main" id="{8513E8A3-5E78-5821-6B7B-AF6343ACA73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E256415C-5388-7D35-1C15-8DA4ACDCA1F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5" name="Graphic 14">
            <a:extLst>
              <a:ext uri="{FF2B5EF4-FFF2-40B4-BE49-F238E27FC236}">
                <a16:creationId xmlns:a16="http://schemas.microsoft.com/office/drawing/2014/main" id="{8B78E2E7-B83A-F17C-9869-FED59DD512E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6556375" cy="4479925"/>
          </a:xfrm>
          <a:prstGeom prst="rect">
            <a:avLst/>
          </a:prstGeo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098522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with image 02">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321C850-160D-5CD7-B829-ADE752EA7AB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a:stretch/>
        </p:blipFill>
        <p:spPr>
          <a:xfrm>
            <a:off x="6096000" y="0"/>
            <a:ext cx="6096000" cy="6857999"/>
          </a:xfrm>
          <a:prstGeom prst="rect">
            <a:avLst/>
          </a:prstGeom>
        </p:spPr>
      </p:pic>
      <p:pic>
        <p:nvPicPr>
          <p:cNvPr id="6" name="Graphic 5">
            <a:extLst>
              <a:ext uri="{FF2B5EF4-FFF2-40B4-BE49-F238E27FC236}">
                <a16:creationId xmlns:a16="http://schemas.microsoft.com/office/drawing/2014/main" id="{33105707-8D59-D00C-596A-380479D0E0D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7" name="Graphic 6">
            <a:extLst>
              <a:ext uri="{FF2B5EF4-FFF2-40B4-BE49-F238E27FC236}">
                <a16:creationId xmlns:a16="http://schemas.microsoft.com/office/drawing/2014/main" id="{3DC4FC4F-BE00-1554-FEBD-DE21F3AB35B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0A310F08-0B34-7E1C-7605-4F81502355F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9" name="Graphic 8">
            <a:extLst>
              <a:ext uri="{FF2B5EF4-FFF2-40B4-BE49-F238E27FC236}">
                <a16:creationId xmlns:a16="http://schemas.microsoft.com/office/drawing/2014/main" id="{63371AFC-6FAC-3C10-CCC0-ECE8DB9E997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a:prstGeom prst="rect">
            <a:avLst/>
          </a:prstGeo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024" cy="2679192"/>
          </a:xfrm>
          <a:prstGeom prst="rect">
            <a:avLst/>
          </a:prstGeo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0" y="4462272"/>
            <a:ext cx="12188952" cy="2395728"/>
          </a:xfrm>
          <a:prstGeom prst="rect">
            <a:avLst/>
          </a:prstGeom>
          <a:solidFill>
            <a:schemeClr val="accent6">
              <a:lumMod val="75000"/>
            </a:schemeClr>
          </a:solidFill>
        </p:spPr>
        <p:txBody>
          <a:bodyPr/>
          <a:lstStyle>
            <a:lvl1pPr marL="0" indent="0" algn="ctr">
              <a:buNone/>
              <a:defRPr>
                <a:solidFill>
                  <a:sysClr val="windowText" lastClr="000000"/>
                </a:solidFill>
              </a:defRPr>
            </a:lvl1pPr>
          </a:lstStyle>
          <a:p>
            <a:r>
              <a:rPr lang="en-US"/>
              <a:t>Click icon to add picture</a:t>
            </a:r>
            <a:endParaRPr lang="en-US" dirty="0"/>
          </a:p>
        </p:txBody>
      </p:sp>
    </p:spTree>
    <p:extLst>
      <p:ext uri="{BB962C8B-B14F-4D97-AF65-F5344CB8AC3E}">
        <p14:creationId xmlns:p14="http://schemas.microsoft.com/office/powerpoint/2010/main" val="31329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0F0E0D3-11E9-A85D-821D-49C27B06B06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6" name="Graphic 5">
            <a:extLst>
              <a:ext uri="{FF2B5EF4-FFF2-40B4-BE49-F238E27FC236}">
                <a16:creationId xmlns:a16="http://schemas.microsoft.com/office/drawing/2014/main" id="{7433D848-BBB0-8852-CBA7-96FB04BFADE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556"/>
          <a:stretch/>
        </p:blipFill>
        <p:spPr>
          <a:xfrm>
            <a:off x="10687351" y="4584700"/>
            <a:ext cx="1504649" cy="1130300"/>
          </a:xfrm>
          <a:prstGeom prst="rect">
            <a:avLst/>
          </a:prstGeom>
        </p:spPr>
      </p:pic>
      <p:pic>
        <p:nvPicPr>
          <p:cNvPr id="7" name="Graphic 6">
            <a:extLst>
              <a:ext uri="{FF2B5EF4-FFF2-40B4-BE49-F238E27FC236}">
                <a16:creationId xmlns:a16="http://schemas.microsoft.com/office/drawing/2014/main" id="{3A0A5B28-1267-FF8C-DD34-4AE0CE17FD9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72FE7896-D379-408C-54BB-757C71F0DEF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49515" r="34180"/>
          <a:stretch/>
        </p:blipFill>
        <p:spPr>
          <a:xfrm>
            <a:off x="10687351" y="1141376"/>
            <a:ext cx="1504649" cy="1154076"/>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a:prstGeom prst="rect">
            <a:avLst/>
          </a:prstGeo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37E02B10-F9DF-509C-64D5-91DEB6988175}"/>
              </a:ext>
            </a:extLst>
          </p:cNvPr>
          <p:cNvSpPr>
            <a:spLocks noGrp="1"/>
          </p:cNvSpPr>
          <p:nvPr>
            <p:ph type="body" sz="quarter" idx="15"/>
          </p:nvPr>
        </p:nvSpPr>
        <p:spPr>
          <a:xfrm>
            <a:off x="4791455" y="1536826"/>
            <a:ext cx="5650992" cy="557784"/>
          </a:xfrm>
          <a:prstGeom prst="rect">
            <a:avLst/>
          </a:prstGeom>
        </p:spPr>
        <p:txBody>
          <a:bodyPr/>
          <a:lstStyle>
            <a:lvl1pPr marL="0" indent="0">
              <a:lnSpc>
                <a:spcPct val="90000"/>
              </a:lnSpc>
              <a:spcBef>
                <a:spcPts val="1000"/>
              </a:spcBef>
              <a:spcAft>
                <a:spcPts val="0"/>
              </a:spcAft>
              <a:buNone/>
              <a:defRPr sz="2000" b="1" baseline="0">
                <a:solidFill>
                  <a:schemeClr val="tx1"/>
                </a:solidFill>
                <a:latin typeface="+mj-lt"/>
              </a:defRPr>
            </a:lvl1pPr>
          </a:lstStyle>
          <a:p>
            <a:pPr lvl="0"/>
            <a:r>
              <a:rPr lang="en-US"/>
              <a:t>Click to edit Master text styles</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2267712"/>
            <a:ext cx="5650992" cy="3767328"/>
          </a:xfrm>
          <a:prstGeom prst="rect">
            <a:avLst/>
          </a:prstGeo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658785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CE1CF12-4201-C23B-7B9A-02EB4F8A79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396"/>
          <a:stretch/>
        </p:blipFill>
        <p:spPr>
          <a:xfrm>
            <a:off x="0" y="5731980"/>
            <a:ext cx="12192000" cy="1138720"/>
          </a:xfrm>
          <a:prstGeom prst="rect">
            <a:avLst/>
          </a:prstGeom>
        </p:spPr>
      </p:pic>
      <p:pic>
        <p:nvPicPr>
          <p:cNvPr id="12" name="Graphic 11">
            <a:extLst>
              <a:ext uri="{FF2B5EF4-FFF2-40B4-BE49-F238E27FC236}">
                <a16:creationId xmlns:a16="http://schemas.microsoft.com/office/drawing/2014/main" id="{513CE0C7-867A-80BB-9E96-3008375B7EE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68854" b="83396"/>
          <a:stretch/>
        </p:blipFill>
        <p:spPr>
          <a:xfrm>
            <a:off x="0" y="12700"/>
            <a:ext cx="3797300" cy="1138720"/>
          </a:xfrm>
          <a:prstGeom prst="rect">
            <a:avLst/>
          </a:prstGeom>
        </p:spPr>
      </p:pic>
      <p:pic>
        <p:nvPicPr>
          <p:cNvPr id="13" name="Graphic 12">
            <a:extLst>
              <a:ext uri="{FF2B5EF4-FFF2-40B4-BE49-F238E27FC236}">
                <a16:creationId xmlns:a16="http://schemas.microsoft.com/office/drawing/2014/main" id="{736CB758-B1DB-F2E0-00E7-BF5660C5F25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33598" b="49858"/>
          <a:stretch/>
        </p:blipFill>
        <p:spPr>
          <a:xfrm>
            <a:off x="0" y="9452"/>
            <a:ext cx="1517954" cy="1146248"/>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4764024" y="841248"/>
            <a:ext cx="6556248"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14" name="Picture Placeholder 15">
            <a:extLst>
              <a:ext uri="{FF2B5EF4-FFF2-40B4-BE49-F238E27FC236}">
                <a16:creationId xmlns:a16="http://schemas.microsoft.com/office/drawing/2014/main" id="{A780F1E2-F795-D408-7361-9B32EA12F8E7}"/>
              </a:ext>
            </a:extLst>
          </p:cNvPr>
          <p:cNvSpPr>
            <a:spLocks noGrp="1"/>
          </p:cNvSpPr>
          <p:nvPr>
            <p:ph type="pic" sz="quarter" idx="14"/>
          </p:nvPr>
        </p:nvSpPr>
        <p:spPr>
          <a:xfrm>
            <a:off x="0" y="836676"/>
            <a:ext cx="3785616" cy="5184648"/>
          </a:xfrm>
          <a:prstGeom prst="rect">
            <a:avLst/>
          </a:prstGeom>
          <a:solidFill>
            <a:schemeClr val="accent6">
              <a:lumMod val="75000"/>
            </a:schemeClr>
          </a:solidFill>
        </p:spPr>
        <p:txBody>
          <a:bodyPr/>
          <a:lstStyle>
            <a:lvl1pPr marL="0" indent="0" algn="ctr">
              <a:buNone/>
              <a:defRPr>
                <a:solidFill>
                  <a:sysClr val="windowText" lastClr="000000"/>
                </a:solidFill>
              </a:defRPr>
            </a:lvl1pPr>
          </a:lstStyle>
          <a:p>
            <a:r>
              <a:rPr lang="en-US"/>
              <a:t>Click icon to add picture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4764023" y="1536827"/>
            <a:ext cx="6556247" cy="4479925"/>
          </a:xfrm>
          <a:prstGeom prst="rect">
            <a:avLst/>
          </a:prstGeo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946745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a:prstGeom prst="rect">
            <a:avLst/>
          </a:prstGeom>
        </p:spPr>
        <p:txBody>
          <a:bodyPr>
            <a:normAutofit/>
          </a:bodyPr>
          <a:lstStyle>
            <a:lvl1pPr marL="0" indent="0">
              <a:lnSpc>
                <a:spcPct val="90000"/>
              </a:lnSpc>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a:prstGeom prst="rect">
            <a:avLst/>
          </a:prstGeo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650263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03">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a:prstGeom prst="rect">
            <a:avLst/>
          </a:prstGeom>
        </p:spPr>
        <p:txBody>
          <a:bodyPr>
            <a:normAutofit/>
          </a:bodyPr>
          <a:lstStyle>
            <a:lvl1pPr marL="342900" indent="-342900">
              <a:lnSpc>
                <a:spcPct val="90000"/>
              </a:lnSpc>
              <a:spcAft>
                <a:spcPts val="1800"/>
              </a:spcAft>
              <a:buSzPct val="100000"/>
              <a:buFont typeface="Arial" panose="020B0604020202020204" pitchFamily="34" charset="0"/>
              <a:buChar char="•"/>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27448" y="1536827"/>
            <a:ext cx="6592824" cy="4480560"/>
          </a:xfrm>
          <a:prstGeom prst="rect">
            <a:avLst/>
          </a:prstGeo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pic>
        <p:nvPicPr>
          <p:cNvPr id="5" name="Graphic 4">
            <a:extLst>
              <a:ext uri="{FF2B5EF4-FFF2-40B4-BE49-F238E27FC236}">
                <a16:creationId xmlns:a16="http://schemas.microsoft.com/office/drawing/2014/main" id="{3FD831DA-EDBD-A492-3E6D-6ABBF4438F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b="83148"/>
          <a:stretch/>
        </p:blipFill>
        <p:spPr>
          <a:xfrm>
            <a:off x="10687350" y="12700"/>
            <a:ext cx="1504649" cy="1155700"/>
          </a:xfrm>
          <a:prstGeom prst="rect">
            <a:avLst/>
          </a:prstGeom>
        </p:spPr>
      </p:pic>
      <p:pic>
        <p:nvPicPr>
          <p:cNvPr id="6" name="Graphic 5">
            <a:extLst>
              <a:ext uri="{FF2B5EF4-FFF2-40B4-BE49-F238E27FC236}">
                <a16:creationId xmlns:a16="http://schemas.microsoft.com/office/drawing/2014/main" id="{00071AEB-E268-A464-7197-69FA762C3C5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444"/>
          <a:stretch/>
        </p:blipFill>
        <p:spPr>
          <a:xfrm>
            <a:off x="10687351" y="9452"/>
            <a:ext cx="1504649" cy="1155700"/>
          </a:xfrm>
          <a:prstGeom prst="rect">
            <a:avLst/>
          </a:prstGeom>
        </p:spPr>
      </p:pic>
    </p:spTree>
    <p:extLst>
      <p:ext uri="{BB962C8B-B14F-4D97-AF65-F5344CB8AC3E}">
        <p14:creationId xmlns:p14="http://schemas.microsoft.com/office/powerpoint/2010/main" val="2827204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C5788EE-4EDA-20FA-8EB9-2F0639E8A2B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8" name="Graphic 7">
            <a:extLst>
              <a:ext uri="{FF2B5EF4-FFF2-40B4-BE49-F238E27FC236}">
                <a16:creationId xmlns:a16="http://schemas.microsoft.com/office/drawing/2014/main" id="{9D053CA0-7A9F-FC49-AD3F-F3280344D76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767F6939-7B7E-F49F-8219-DC8CDAC85D5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1" name="Graphic 10">
            <a:extLst>
              <a:ext uri="{FF2B5EF4-FFF2-40B4-BE49-F238E27FC236}">
                <a16:creationId xmlns:a16="http://schemas.microsoft.com/office/drawing/2014/main" id="{FACCA700-291A-CD50-0CF3-749300C8D7A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2" name="Graphic 11">
            <a:extLst>
              <a:ext uri="{FF2B5EF4-FFF2-40B4-BE49-F238E27FC236}">
                <a16:creationId xmlns:a16="http://schemas.microsoft.com/office/drawing/2014/main" id="{0EFADD4D-8EF2-3DF8-F5F4-9459752D546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3" name="Graphic 12">
            <a:extLst>
              <a:ext uri="{FF2B5EF4-FFF2-40B4-BE49-F238E27FC236}">
                <a16:creationId xmlns:a16="http://schemas.microsoft.com/office/drawing/2014/main" id="{B5B36F67-81DA-36AC-5D17-0172FF5A70C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841248" y="1527048"/>
            <a:ext cx="10479024" cy="4498848"/>
          </a:xfrm>
          <a:prstGeom prst="rect">
            <a:avLst/>
          </a:prstGeo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0329987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break with image 03">
    <p:bg>
      <p:bgPr>
        <a:solidFill>
          <a:schemeClr val="accent6">
            <a:lumMod val="50000"/>
          </a:schemeClr>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092952" y="0"/>
            <a:ext cx="6099048" cy="6876288"/>
          </a:xfrm>
          <a:prstGeom prst="rect">
            <a:avLst/>
          </a:prstGeom>
          <a:solidFill>
            <a:schemeClr val="accent6">
              <a:lumMod val="75000"/>
            </a:schemeClr>
          </a:solidFill>
        </p:spPr>
        <p:txBody>
          <a:bodyPr/>
          <a:lstStyle>
            <a:lvl1pPr marL="0" indent="0" algn="l">
              <a:buNone/>
              <a:defRPr>
                <a:solidFill>
                  <a:schemeClr val="bg1"/>
                </a:solidFill>
              </a:defRPr>
            </a:lvl1pPr>
          </a:lstStyle>
          <a:p>
            <a:r>
              <a:rPr lang="en-US"/>
              <a:t>Click icon to add picture</a:t>
            </a:r>
            <a:endParaRPr lang="en-US" dirty="0"/>
          </a:p>
        </p:txBody>
      </p:sp>
      <p:sp>
        <p:nvSpPr>
          <p:cNvPr id="124" name="Title 123">
            <a:extLst>
              <a:ext uri="{FF2B5EF4-FFF2-40B4-BE49-F238E27FC236}">
                <a16:creationId xmlns:a16="http://schemas.microsoft.com/office/drawing/2014/main" id="{5EF8E4BF-2FB4-FFDD-E565-805C476240FE}"/>
              </a:ext>
            </a:extLst>
          </p:cNvPr>
          <p:cNvSpPr>
            <a:spLocks noGrp="1"/>
          </p:cNvSpPr>
          <p:nvPr>
            <p:ph type="title"/>
          </p:nvPr>
        </p:nvSpPr>
        <p:spPr>
          <a:xfrm>
            <a:off x="841244" y="832104"/>
            <a:ext cx="6099048" cy="5219236"/>
          </a:xfrm>
          <a:prstGeom prst="rect">
            <a:avLst/>
          </a:prstGeom>
        </p:spPr>
        <p:txBody>
          <a:bodyPr anchor="t"/>
          <a:lstStyle>
            <a:lvl1pPr>
              <a:lnSpc>
                <a:spcPct val="75000"/>
              </a:lnSpc>
              <a:defRPr sz="8000" b="0" spc="0" baseline="0">
                <a:solidFill>
                  <a:schemeClr val="bg1"/>
                </a:solidFill>
                <a:latin typeface="+mn-lt"/>
              </a:defRPr>
            </a:lvl1pPr>
          </a:lstStyle>
          <a:p>
            <a:r>
              <a:rPr lang="en-US"/>
              <a:t>Click to edit Master title style</a:t>
            </a:r>
            <a:endParaRPr lang="en-US" dirty="0"/>
          </a:p>
        </p:txBody>
      </p:sp>
      <p:sp>
        <p:nvSpPr>
          <p:cNvPr id="123" name="Text Placeholder 122">
            <a:extLst>
              <a:ext uri="{FF2B5EF4-FFF2-40B4-BE49-F238E27FC236}">
                <a16:creationId xmlns:a16="http://schemas.microsoft.com/office/drawing/2014/main" id="{25C59923-6546-AB3B-534C-22113CD9D671}"/>
              </a:ext>
            </a:extLst>
          </p:cNvPr>
          <p:cNvSpPr>
            <a:spLocks noGrp="1"/>
          </p:cNvSpPr>
          <p:nvPr>
            <p:ph type="body" sz="quarter" idx="15"/>
          </p:nvPr>
        </p:nvSpPr>
        <p:spPr>
          <a:xfrm>
            <a:off x="8401353" y="-1"/>
            <a:ext cx="3790650" cy="1155691"/>
          </a:xfrm>
          <a:custGeom>
            <a:avLst/>
            <a:gdLst>
              <a:gd name="connsiteX0" fmla="*/ 2293575 w 3790650"/>
              <a:gd name="connsiteY0" fmla="*/ 0 h 1155691"/>
              <a:gd name="connsiteX1" fmla="*/ 3790650 w 3790650"/>
              <a:gd name="connsiteY1" fmla="*/ 0 h 1155691"/>
              <a:gd name="connsiteX2" fmla="*/ 3790650 w 3790650"/>
              <a:gd name="connsiteY2" fmla="*/ 1098632 h 1155691"/>
              <a:gd name="connsiteX3" fmla="*/ 3775153 w 3790650"/>
              <a:gd name="connsiteY3" fmla="*/ 1104304 h 1155691"/>
              <a:gd name="connsiteX4" fmla="*/ 3435268 w 3790650"/>
              <a:gd name="connsiteY4" fmla="*/ 1155691 h 1155691"/>
              <a:gd name="connsiteX5" fmla="*/ 2292295 w 3790650"/>
              <a:gd name="connsiteY5" fmla="*/ 12701 h 1155691"/>
              <a:gd name="connsiteX6" fmla="*/ 1280 w 3790650"/>
              <a:gd name="connsiteY6" fmla="*/ 0 h 1155691"/>
              <a:gd name="connsiteX7" fmla="*/ 2284665 w 3790650"/>
              <a:gd name="connsiteY7" fmla="*/ 0 h 1155691"/>
              <a:gd name="connsiteX8" fmla="*/ 2285945 w 3790650"/>
              <a:gd name="connsiteY8" fmla="*/ 12701 h 1155691"/>
              <a:gd name="connsiteX9" fmla="*/ 1142973 w 3790650"/>
              <a:gd name="connsiteY9" fmla="*/ 1155691 h 1155691"/>
              <a:gd name="connsiteX10" fmla="*/ 0 w 3790650"/>
              <a:gd name="connsiteY10" fmla="*/ 12701 h 115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0650" h="1155691">
                <a:moveTo>
                  <a:pt x="2293575" y="0"/>
                </a:moveTo>
                <a:lnTo>
                  <a:pt x="3790650" y="0"/>
                </a:lnTo>
                <a:lnTo>
                  <a:pt x="3790650" y="1098632"/>
                </a:lnTo>
                <a:lnTo>
                  <a:pt x="3775153" y="1104304"/>
                </a:lnTo>
                <a:cubicBezTo>
                  <a:pt x="3667783" y="1137700"/>
                  <a:pt x="3553627" y="1155691"/>
                  <a:pt x="3435268" y="1155691"/>
                </a:cubicBezTo>
                <a:cubicBezTo>
                  <a:pt x="2804021" y="1155691"/>
                  <a:pt x="2292295" y="643957"/>
                  <a:pt x="2292295" y="12701"/>
                </a:cubicBezTo>
                <a:close/>
                <a:moveTo>
                  <a:pt x="1280" y="0"/>
                </a:moveTo>
                <a:lnTo>
                  <a:pt x="2284665" y="0"/>
                </a:lnTo>
                <a:lnTo>
                  <a:pt x="2285945" y="12701"/>
                </a:lnTo>
                <a:cubicBezTo>
                  <a:pt x="2285945" y="643957"/>
                  <a:pt x="1774219" y="1155691"/>
                  <a:pt x="1142973" y="1155691"/>
                </a:cubicBezTo>
                <a:cubicBezTo>
                  <a:pt x="511726" y="1155691"/>
                  <a:pt x="0" y="643957"/>
                  <a:pt x="0" y="12701"/>
                </a:cubicBezTo>
                <a:close/>
              </a:path>
            </a:pathLst>
          </a:custGeom>
          <a:solidFill>
            <a:schemeClr val="accent6">
              <a:lumMod val="75000"/>
              <a:alpha val="25000"/>
            </a:schemeClr>
          </a:solidFill>
        </p:spPr>
        <p:txBody>
          <a:bodyPr wrap="square">
            <a:noAutofit/>
          </a:bodyPr>
          <a:lstStyle>
            <a:lvl1pPr>
              <a:defRPr>
                <a:noFill/>
              </a:defRPr>
            </a:lvl1pPr>
          </a:lstStyle>
          <a:p>
            <a:pPr lvl="0"/>
            <a:r>
              <a:rPr lang="en-US"/>
              <a:t>Click to edit Master text styles</a:t>
            </a:r>
          </a:p>
        </p:txBody>
      </p:sp>
      <p:sp>
        <p:nvSpPr>
          <p:cNvPr id="48" name="Text Placeholder 47">
            <a:extLst>
              <a:ext uri="{FF2B5EF4-FFF2-40B4-BE49-F238E27FC236}">
                <a16:creationId xmlns:a16="http://schemas.microsoft.com/office/drawing/2014/main" id="{880C9A0C-95B8-C535-9B78-63FDB782BE10}"/>
              </a:ext>
            </a:extLst>
          </p:cNvPr>
          <p:cNvSpPr>
            <a:spLocks noGrp="1"/>
          </p:cNvSpPr>
          <p:nvPr>
            <p:ph type="body" sz="quarter" idx="12"/>
          </p:nvPr>
        </p:nvSpPr>
        <p:spPr>
          <a:xfrm>
            <a:off x="-3" y="5727700"/>
            <a:ext cx="12192003" cy="1130300"/>
          </a:xfrm>
          <a:custGeom>
            <a:avLst/>
            <a:gdLst>
              <a:gd name="connsiteX0" fmla="*/ 11823828 w 12192003"/>
              <a:gd name="connsiteY0" fmla="*/ 0 h 1130300"/>
              <a:gd name="connsiteX1" fmla="*/ 12163721 w 12192003"/>
              <a:gd name="connsiteY1" fmla="*/ 51387 h 1130300"/>
              <a:gd name="connsiteX2" fmla="*/ 12192003 w 12192003"/>
              <a:gd name="connsiteY2" fmla="*/ 61738 h 1130300"/>
              <a:gd name="connsiteX3" fmla="*/ 12192003 w 12192003"/>
              <a:gd name="connsiteY3" fmla="*/ 1130300 h 1130300"/>
              <a:gd name="connsiteX4" fmla="*/ 10681469 w 12192003"/>
              <a:gd name="connsiteY4" fmla="*/ 1130300 h 1130300"/>
              <a:gd name="connsiteX5" fmla="*/ 10686729 w 12192003"/>
              <a:gd name="connsiteY5" fmla="*/ 1026126 h 1130300"/>
              <a:gd name="connsiteX6" fmla="*/ 11823828 w 12192003"/>
              <a:gd name="connsiteY6" fmla="*/ 0 h 1130300"/>
              <a:gd name="connsiteX7" fmla="*/ 9531478 w 12192003"/>
              <a:gd name="connsiteY7" fmla="*/ 0 h 1130300"/>
              <a:gd name="connsiteX8" fmla="*/ 10668577 w 12192003"/>
              <a:gd name="connsiteY8" fmla="*/ 1026126 h 1130300"/>
              <a:gd name="connsiteX9" fmla="*/ 10673837 w 12192003"/>
              <a:gd name="connsiteY9" fmla="*/ 1130300 h 1130300"/>
              <a:gd name="connsiteX10" fmla="*/ 8389119 w 12192003"/>
              <a:gd name="connsiteY10" fmla="*/ 1130300 h 1130300"/>
              <a:gd name="connsiteX11" fmla="*/ 8394379 w 12192003"/>
              <a:gd name="connsiteY11" fmla="*/ 1026126 h 1130300"/>
              <a:gd name="connsiteX12" fmla="*/ 9531478 w 12192003"/>
              <a:gd name="connsiteY12" fmla="*/ 0 h 1130300"/>
              <a:gd name="connsiteX13" fmla="*/ 7239129 w 12192003"/>
              <a:gd name="connsiteY13" fmla="*/ 0 h 1130300"/>
              <a:gd name="connsiteX14" fmla="*/ 8376227 w 12192003"/>
              <a:gd name="connsiteY14" fmla="*/ 1026126 h 1130300"/>
              <a:gd name="connsiteX15" fmla="*/ 8381487 w 12192003"/>
              <a:gd name="connsiteY15" fmla="*/ 1130300 h 1130300"/>
              <a:gd name="connsiteX16" fmla="*/ 6096769 w 12192003"/>
              <a:gd name="connsiteY16" fmla="*/ 1130300 h 1130300"/>
              <a:gd name="connsiteX17" fmla="*/ 6102029 w 12192003"/>
              <a:gd name="connsiteY17" fmla="*/ 1026126 h 1130300"/>
              <a:gd name="connsiteX18" fmla="*/ 7239129 w 12192003"/>
              <a:gd name="connsiteY18" fmla="*/ 0 h 1130300"/>
              <a:gd name="connsiteX19" fmla="*/ 4946780 w 12192003"/>
              <a:gd name="connsiteY19" fmla="*/ 0 h 1130300"/>
              <a:gd name="connsiteX20" fmla="*/ 6083878 w 12192003"/>
              <a:gd name="connsiteY20" fmla="*/ 1026126 h 1130300"/>
              <a:gd name="connsiteX21" fmla="*/ 6089139 w 12192003"/>
              <a:gd name="connsiteY21" fmla="*/ 1130300 h 1130300"/>
              <a:gd name="connsiteX22" fmla="*/ 3804423 w 12192003"/>
              <a:gd name="connsiteY22" fmla="*/ 1130300 h 1130300"/>
              <a:gd name="connsiteX23" fmla="*/ 3809684 w 12192003"/>
              <a:gd name="connsiteY23" fmla="*/ 1026126 h 1130300"/>
              <a:gd name="connsiteX24" fmla="*/ 4946780 w 12192003"/>
              <a:gd name="connsiteY24" fmla="*/ 0 h 1130300"/>
              <a:gd name="connsiteX25" fmla="*/ 2654431 w 12192003"/>
              <a:gd name="connsiteY25" fmla="*/ 0 h 1130300"/>
              <a:gd name="connsiteX26" fmla="*/ 3791530 w 12192003"/>
              <a:gd name="connsiteY26" fmla="*/ 1026126 h 1130300"/>
              <a:gd name="connsiteX27" fmla="*/ 3796791 w 12192003"/>
              <a:gd name="connsiteY27" fmla="*/ 1130300 h 1130300"/>
              <a:gd name="connsiteX28" fmla="*/ 1512072 w 12192003"/>
              <a:gd name="connsiteY28" fmla="*/ 1130300 h 1130300"/>
              <a:gd name="connsiteX29" fmla="*/ 1517332 w 12192003"/>
              <a:gd name="connsiteY29" fmla="*/ 1026126 h 1130300"/>
              <a:gd name="connsiteX30" fmla="*/ 2654431 w 12192003"/>
              <a:gd name="connsiteY30" fmla="*/ 0 h 1130300"/>
              <a:gd name="connsiteX31" fmla="*/ 362080 w 12192003"/>
              <a:gd name="connsiteY31" fmla="*/ 0 h 1130300"/>
              <a:gd name="connsiteX32" fmla="*/ 1499179 w 12192003"/>
              <a:gd name="connsiteY32" fmla="*/ 1026126 h 1130300"/>
              <a:gd name="connsiteX33" fmla="*/ 1504439 w 12192003"/>
              <a:gd name="connsiteY33" fmla="*/ 1130300 h 1130300"/>
              <a:gd name="connsiteX34" fmla="*/ 0 w 12192003"/>
              <a:gd name="connsiteY34" fmla="*/ 1130300 h 1130300"/>
              <a:gd name="connsiteX35" fmla="*/ 0 w 12192003"/>
              <a:gd name="connsiteY35" fmla="*/ 59507 h 1130300"/>
              <a:gd name="connsiteX36" fmla="*/ 22187 w 12192003"/>
              <a:gd name="connsiteY36" fmla="*/ 51387 h 1130300"/>
              <a:gd name="connsiteX37" fmla="*/ 362080 w 12192003"/>
              <a:gd name="connsiteY37" fmla="*/ 0 h 113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3" h="1130300">
                <a:moveTo>
                  <a:pt x="11823828" y="0"/>
                </a:moveTo>
                <a:cubicBezTo>
                  <a:pt x="11942189" y="0"/>
                  <a:pt x="12056349" y="17991"/>
                  <a:pt x="12163721" y="51387"/>
                </a:cubicBezTo>
                <a:lnTo>
                  <a:pt x="12192003" y="61738"/>
                </a:lnTo>
                <a:lnTo>
                  <a:pt x="12192003" y="1130300"/>
                </a:lnTo>
                <a:lnTo>
                  <a:pt x="10681469" y="1130300"/>
                </a:lnTo>
                <a:lnTo>
                  <a:pt x="10686729" y="1026126"/>
                </a:lnTo>
                <a:cubicBezTo>
                  <a:pt x="10745262" y="449767"/>
                  <a:pt x="11232021" y="0"/>
                  <a:pt x="11823828" y="0"/>
                </a:cubicBezTo>
                <a:close/>
                <a:moveTo>
                  <a:pt x="9531478" y="0"/>
                </a:moveTo>
                <a:cubicBezTo>
                  <a:pt x="10123285" y="0"/>
                  <a:pt x="10610044" y="449767"/>
                  <a:pt x="10668577" y="1026126"/>
                </a:cubicBezTo>
                <a:lnTo>
                  <a:pt x="10673837" y="1130300"/>
                </a:lnTo>
                <a:lnTo>
                  <a:pt x="8389119" y="1130300"/>
                </a:lnTo>
                <a:lnTo>
                  <a:pt x="8394379" y="1026126"/>
                </a:lnTo>
                <a:cubicBezTo>
                  <a:pt x="8452912" y="449767"/>
                  <a:pt x="8939671" y="0"/>
                  <a:pt x="9531478" y="0"/>
                </a:cubicBezTo>
                <a:close/>
                <a:moveTo>
                  <a:pt x="7239129" y="0"/>
                </a:moveTo>
                <a:cubicBezTo>
                  <a:pt x="7830936" y="0"/>
                  <a:pt x="8317694" y="449767"/>
                  <a:pt x="8376227" y="1026126"/>
                </a:cubicBezTo>
                <a:lnTo>
                  <a:pt x="8381487" y="1130300"/>
                </a:lnTo>
                <a:lnTo>
                  <a:pt x="6096769" y="1130300"/>
                </a:lnTo>
                <a:lnTo>
                  <a:pt x="6102029" y="1026126"/>
                </a:lnTo>
                <a:cubicBezTo>
                  <a:pt x="6160563" y="449767"/>
                  <a:pt x="6647322" y="0"/>
                  <a:pt x="7239129" y="0"/>
                </a:cubicBezTo>
                <a:close/>
                <a:moveTo>
                  <a:pt x="4946780" y="0"/>
                </a:moveTo>
                <a:cubicBezTo>
                  <a:pt x="5538587" y="0"/>
                  <a:pt x="6025345" y="449767"/>
                  <a:pt x="6083878" y="1026126"/>
                </a:cubicBezTo>
                <a:lnTo>
                  <a:pt x="6089139" y="1130300"/>
                </a:lnTo>
                <a:lnTo>
                  <a:pt x="3804423" y="1130300"/>
                </a:lnTo>
                <a:lnTo>
                  <a:pt x="3809684" y="1026126"/>
                </a:lnTo>
                <a:cubicBezTo>
                  <a:pt x="3868216" y="449767"/>
                  <a:pt x="4354972" y="0"/>
                  <a:pt x="4946780" y="0"/>
                </a:cubicBezTo>
                <a:close/>
                <a:moveTo>
                  <a:pt x="2654431" y="0"/>
                </a:moveTo>
                <a:cubicBezTo>
                  <a:pt x="3246238" y="0"/>
                  <a:pt x="3732997" y="449767"/>
                  <a:pt x="3791530" y="1026126"/>
                </a:cubicBezTo>
                <a:lnTo>
                  <a:pt x="3796791" y="1130300"/>
                </a:lnTo>
                <a:lnTo>
                  <a:pt x="1512072" y="1130300"/>
                </a:lnTo>
                <a:lnTo>
                  <a:pt x="1517332" y="1026126"/>
                </a:lnTo>
                <a:cubicBezTo>
                  <a:pt x="1575865" y="449767"/>
                  <a:pt x="2062624" y="0"/>
                  <a:pt x="2654431" y="0"/>
                </a:cubicBezTo>
                <a:close/>
                <a:moveTo>
                  <a:pt x="362080" y="0"/>
                </a:moveTo>
                <a:cubicBezTo>
                  <a:pt x="953887" y="0"/>
                  <a:pt x="1440646" y="449767"/>
                  <a:pt x="1499179" y="1026126"/>
                </a:cubicBezTo>
                <a:lnTo>
                  <a:pt x="1504439" y="1130300"/>
                </a:lnTo>
                <a:lnTo>
                  <a:pt x="0" y="1130300"/>
                </a:lnTo>
                <a:lnTo>
                  <a:pt x="0" y="59507"/>
                </a:lnTo>
                <a:lnTo>
                  <a:pt x="22187" y="51387"/>
                </a:lnTo>
                <a:cubicBezTo>
                  <a:pt x="129559" y="17991"/>
                  <a:pt x="243719" y="0"/>
                  <a:pt x="362080" y="0"/>
                </a:cubicBezTo>
                <a:close/>
              </a:path>
            </a:pathLst>
          </a:custGeom>
          <a:solidFill>
            <a:schemeClr val="accent6">
              <a:lumMod val="75000"/>
              <a:alpha val="25000"/>
            </a:schemeClr>
          </a:solidFill>
        </p:spPr>
        <p:txBody>
          <a:bodyPr wrap="square">
            <a:noAutofit/>
          </a:bodyPr>
          <a:lstStyle>
            <a:lvl1pPr>
              <a:defRPr>
                <a:noFill/>
              </a:defRPr>
            </a:lvl1pPr>
          </a:lstStyle>
          <a:p>
            <a:pPr lvl="0"/>
            <a:r>
              <a:rPr lang="en-US"/>
              <a:t>Click to edit Master text styles</a:t>
            </a:r>
          </a:p>
        </p:txBody>
      </p:sp>
      <p:sp>
        <p:nvSpPr>
          <p:cNvPr id="62" name="Text Placeholder 61">
            <a:extLst>
              <a:ext uri="{FF2B5EF4-FFF2-40B4-BE49-F238E27FC236}">
                <a16:creationId xmlns:a16="http://schemas.microsoft.com/office/drawing/2014/main" id="{70972619-C968-1257-58C9-0DC661642915}"/>
              </a:ext>
            </a:extLst>
          </p:cNvPr>
          <p:cNvSpPr>
            <a:spLocks noGrp="1"/>
          </p:cNvSpPr>
          <p:nvPr>
            <p:ph type="body" sz="quarter" idx="13"/>
          </p:nvPr>
        </p:nvSpPr>
        <p:spPr>
          <a:xfrm>
            <a:off x="0" y="5724189"/>
            <a:ext cx="1503729" cy="1133811"/>
          </a:xfrm>
          <a:custGeom>
            <a:avLst/>
            <a:gdLst>
              <a:gd name="connsiteX0" fmla="*/ 367995 w 1503729"/>
              <a:gd name="connsiteY0" fmla="*/ 19 h 1133811"/>
              <a:gd name="connsiteX1" fmla="*/ 1481576 w 1503729"/>
              <a:gd name="connsiteY1" fmla="*/ 913359 h 1133811"/>
              <a:gd name="connsiteX2" fmla="*/ 1503729 w 1503729"/>
              <a:gd name="connsiteY2" fmla="*/ 1133811 h 1133811"/>
              <a:gd name="connsiteX3" fmla="*/ 1371482 w 1503729"/>
              <a:gd name="connsiteY3" fmla="*/ 1133811 h 1133811"/>
              <a:gd name="connsiteX4" fmla="*/ 1275407 w 1503729"/>
              <a:gd name="connsiteY4" fmla="*/ 1118667 h 1133811"/>
              <a:gd name="connsiteX5" fmla="*/ 367995 w 1503729"/>
              <a:gd name="connsiteY5" fmla="*/ 19 h 1133811"/>
              <a:gd name="connsiteX6" fmla="*/ 367996 w 1503729"/>
              <a:gd name="connsiteY6" fmla="*/ 0 h 1133811"/>
              <a:gd name="connsiteX7" fmla="*/ 33218 w 1503729"/>
              <a:gd name="connsiteY7" fmla="*/ 808204 h 1133811"/>
              <a:gd name="connsiteX8" fmla="*/ 0 w 1503729"/>
              <a:gd name="connsiteY8" fmla="*/ 838393 h 1133811"/>
              <a:gd name="connsiteX9" fmla="*/ 0 w 1503729"/>
              <a:gd name="connsiteY9" fmla="*/ 61671 h 1133811"/>
              <a:gd name="connsiteX10" fmla="*/ 28102 w 1503729"/>
              <a:gd name="connsiteY10" fmla="*/ 51386 h 1133811"/>
              <a:gd name="connsiteX11" fmla="*/ 367996 w 1503729"/>
              <a:gd name="connsiteY11" fmla="*/ 0 h 113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3729" h="1133811">
                <a:moveTo>
                  <a:pt x="367995" y="19"/>
                </a:moveTo>
                <a:cubicBezTo>
                  <a:pt x="917788" y="3008"/>
                  <a:pt x="1375686" y="394157"/>
                  <a:pt x="1481576" y="913359"/>
                </a:cubicBezTo>
                <a:lnTo>
                  <a:pt x="1503729" y="1133811"/>
                </a:lnTo>
                <a:lnTo>
                  <a:pt x="1371482" y="1133811"/>
                </a:lnTo>
                <a:lnTo>
                  <a:pt x="1275407" y="1118667"/>
                </a:lnTo>
                <a:cubicBezTo>
                  <a:pt x="757177" y="1010082"/>
                  <a:pt x="368000" y="550498"/>
                  <a:pt x="367995" y="19"/>
                </a:cubicBezTo>
                <a:close/>
                <a:moveTo>
                  <a:pt x="367996" y="0"/>
                </a:moveTo>
                <a:cubicBezTo>
                  <a:pt x="367996" y="315623"/>
                  <a:pt x="240061" y="601366"/>
                  <a:pt x="33218" y="808204"/>
                </a:cubicBezTo>
                <a:lnTo>
                  <a:pt x="0" y="838393"/>
                </a:lnTo>
                <a:lnTo>
                  <a:pt x="0" y="61671"/>
                </a:lnTo>
                <a:lnTo>
                  <a:pt x="28102" y="51386"/>
                </a:lnTo>
                <a:cubicBezTo>
                  <a:pt x="135475" y="17991"/>
                  <a:pt x="249634" y="0"/>
                  <a:pt x="367996"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r>
              <a:rPr lang="en-US"/>
              <a:t>Click to edit Master text styles</a:t>
            </a:r>
          </a:p>
        </p:txBody>
      </p:sp>
      <p:sp>
        <p:nvSpPr>
          <p:cNvPr id="93" name="Text Placeholder 92">
            <a:extLst>
              <a:ext uri="{FF2B5EF4-FFF2-40B4-BE49-F238E27FC236}">
                <a16:creationId xmlns:a16="http://schemas.microsoft.com/office/drawing/2014/main" id="{0A4A3873-48BC-94DF-6006-FC7F81660A5D}"/>
              </a:ext>
            </a:extLst>
          </p:cNvPr>
          <p:cNvSpPr>
            <a:spLocks noGrp="1"/>
          </p:cNvSpPr>
          <p:nvPr>
            <p:ph type="body" sz="quarter" idx="14"/>
          </p:nvPr>
        </p:nvSpPr>
        <p:spPr>
          <a:xfrm>
            <a:off x="8401353" y="0"/>
            <a:ext cx="3790647" cy="1143002"/>
          </a:xfrm>
          <a:custGeom>
            <a:avLst/>
            <a:gdLst>
              <a:gd name="connsiteX0" fmla="*/ 3790647 w 3790647"/>
              <a:gd name="connsiteY0" fmla="*/ 304585 h 1143002"/>
              <a:gd name="connsiteX1" fmla="*/ 3790647 w 3790647"/>
              <a:gd name="connsiteY1" fmla="*/ 1081329 h 1143002"/>
              <a:gd name="connsiteX2" fmla="*/ 3762543 w 3790647"/>
              <a:gd name="connsiteY2" fmla="*/ 1091615 h 1143002"/>
              <a:gd name="connsiteX3" fmla="*/ 3422649 w 3790647"/>
              <a:gd name="connsiteY3" fmla="*/ 1143002 h 1143002"/>
              <a:gd name="connsiteX4" fmla="*/ 3757427 w 3790647"/>
              <a:gd name="connsiteY4" fmla="*/ 334777 h 1143002"/>
              <a:gd name="connsiteX5" fmla="*/ 2285997 w 3790647"/>
              <a:gd name="connsiteY5" fmla="*/ 17 h 1143002"/>
              <a:gd name="connsiteX6" fmla="*/ 3422650 w 3790647"/>
              <a:gd name="connsiteY6" fmla="*/ 1142983 h 1143002"/>
              <a:gd name="connsiteX7" fmla="*/ 2285997 w 3790647"/>
              <a:gd name="connsiteY7" fmla="*/ 17 h 1143002"/>
              <a:gd name="connsiteX8" fmla="*/ 0 w 3790647"/>
              <a:gd name="connsiteY8" fmla="*/ 17 h 1143002"/>
              <a:gd name="connsiteX9" fmla="*/ 1136650 w 3790647"/>
              <a:gd name="connsiteY9" fmla="*/ 1142983 h 1143002"/>
              <a:gd name="connsiteX10" fmla="*/ 0 w 3790647"/>
              <a:gd name="connsiteY10" fmla="*/ 17 h 1143002"/>
              <a:gd name="connsiteX11" fmla="*/ 2279650 w 3790647"/>
              <a:gd name="connsiteY11" fmla="*/ 0 h 1143002"/>
              <a:gd name="connsiteX12" fmla="*/ 1136650 w 3790647"/>
              <a:gd name="connsiteY12" fmla="*/ 1143002 h 1143002"/>
              <a:gd name="connsiteX13" fmla="*/ 2279650 w 3790647"/>
              <a:gd name="connsiteY13" fmla="*/ 0 h 114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0647" h="1143002">
                <a:moveTo>
                  <a:pt x="3790647" y="304585"/>
                </a:moveTo>
                <a:lnTo>
                  <a:pt x="3790647" y="1081329"/>
                </a:lnTo>
                <a:lnTo>
                  <a:pt x="3762543" y="1091615"/>
                </a:lnTo>
                <a:cubicBezTo>
                  <a:pt x="3655170" y="1125011"/>
                  <a:pt x="3541011" y="1143002"/>
                  <a:pt x="3422649" y="1143002"/>
                </a:cubicBezTo>
                <a:cubicBezTo>
                  <a:pt x="3422649" y="827371"/>
                  <a:pt x="3550584" y="541620"/>
                  <a:pt x="3757427" y="334777"/>
                </a:cubicBezTo>
                <a:close/>
                <a:moveTo>
                  <a:pt x="2285997" y="17"/>
                </a:moveTo>
                <a:cubicBezTo>
                  <a:pt x="2914332" y="3435"/>
                  <a:pt x="3422644" y="513848"/>
                  <a:pt x="3422650" y="1142983"/>
                </a:cubicBezTo>
                <a:cubicBezTo>
                  <a:pt x="2794315" y="1139567"/>
                  <a:pt x="2286006" y="629153"/>
                  <a:pt x="2285997" y="17"/>
                </a:cubicBezTo>
                <a:close/>
                <a:moveTo>
                  <a:pt x="0" y="17"/>
                </a:moveTo>
                <a:cubicBezTo>
                  <a:pt x="628334" y="3435"/>
                  <a:pt x="1136644" y="513848"/>
                  <a:pt x="1136650" y="1142983"/>
                </a:cubicBezTo>
                <a:cubicBezTo>
                  <a:pt x="508316" y="1139567"/>
                  <a:pt x="9" y="629153"/>
                  <a:pt x="0" y="17"/>
                </a:cubicBezTo>
                <a:close/>
                <a:moveTo>
                  <a:pt x="2279650" y="0"/>
                </a:moveTo>
                <a:cubicBezTo>
                  <a:pt x="2279650" y="631263"/>
                  <a:pt x="1767910" y="1143002"/>
                  <a:pt x="1136650" y="1143002"/>
                </a:cubicBezTo>
                <a:cubicBezTo>
                  <a:pt x="1136650" y="511739"/>
                  <a:pt x="1648390" y="0"/>
                  <a:pt x="2279650"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r>
              <a:rPr lang="en-US"/>
              <a:t>Click to edit Master text styles</a:t>
            </a:r>
          </a:p>
        </p:txBody>
      </p:sp>
      <p:pic>
        <p:nvPicPr>
          <p:cNvPr id="120" name="Graphic 119">
            <a:extLst>
              <a:ext uri="{FF2B5EF4-FFF2-40B4-BE49-F238E27FC236}">
                <a16:creationId xmlns:a16="http://schemas.microsoft.com/office/drawing/2014/main" id="{9C01A786-0C1A-6C4A-1466-1AE233D142AE}"/>
              </a:ext>
            </a:extLst>
          </p:cNvPr>
          <p:cNvPicPr>
            <a:picLocks noChangeAspect="1"/>
          </p:cNvPicPr>
          <p:nvPr/>
        </p:nvPicPr>
        <p:blipFill rotWithShape="1">
          <a:blip>
            <a:extLst>
              <a:ext uri="{96DAC541-7B7A-43D3-8B79-37D633B846F1}">
                <asvg:svgBlip xmlns:asvg="http://schemas.microsoft.com/office/drawing/2016/SVG/main" r:embed="rId2"/>
              </a:ext>
            </a:extLst>
          </a:blip>
          <a:srcRect l="68908" b="83148"/>
          <a:stretch/>
        </p:blipFill>
        <p:spPr>
          <a:xfrm>
            <a:off x="8401354" y="12700"/>
            <a:ext cx="3790646" cy="1155700"/>
          </a:xfrm>
          <a:prstGeom prst="rect">
            <a:avLst/>
          </a:prstGeom>
        </p:spPr>
      </p:pic>
    </p:spTree>
    <p:extLst>
      <p:ext uri="{BB962C8B-B14F-4D97-AF65-F5344CB8AC3E}">
        <p14:creationId xmlns:p14="http://schemas.microsoft.com/office/powerpoint/2010/main" val="2562666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a:prstGeom prst="rect">
            <a:avLst/>
          </a:prstGeom>
        </p:spPr>
        <p:txBody>
          <a:bodyPr>
            <a:normAutofit/>
          </a:bodyPr>
          <a:lstStyle>
            <a:lvl1pPr marL="0" indent="0">
              <a:lnSpc>
                <a:spcPct val="90000"/>
              </a:lnSpc>
              <a:spcAft>
                <a:spcPts val="1800"/>
              </a:spcAft>
              <a:buSzPct val="100000"/>
              <a:buNone/>
              <a:defRPr sz="2000" b="1"/>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a:prstGeom prst="rect">
            <a:avLst/>
          </a:prstGeom>
        </p:spPr>
        <p:txBody>
          <a:bodyPr>
            <a:normAutofit/>
          </a:bodyPr>
          <a:lstStyle>
            <a:lvl1pPr marL="457200" indent="-457200">
              <a:lnSpc>
                <a:spcPct val="90000"/>
              </a:lnSpc>
              <a:spcBef>
                <a:spcPts val="1000"/>
              </a:spcBef>
              <a:spcAft>
                <a:spcPts val="0"/>
              </a:spcAft>
              <a:buSzPct val="100000"/>
              <a:buFont typeface="+mj-lt"/>
              <a:buAutoNum type="arabicPeriod"/>
              <a:defRPr sz="2000"/>
            </a:lvl1pPr>
            <a:lvl2pPr marL="914400" indent="-457200">
              <a:buSzPct val="100000"/>
              <a:buFont typeface="+mj-lt"/>
              <a:buAutoNum type="alphaLcPeriod"/>
              <a:defRPr sz="2000"/>
            </a:lvl2pPr>
            <a:lvl3pPr marL="1371600" indent="-457200">
              <a:buSzPct val="100000"/>
              <a:buFont typeface="+mj-lt"/>
              <a:buAutoNum type="romanLcPeriod"/>
              <a:defRPr sz="1800"/>
            </a:lvl3pPr>
            <a:lvl4pPr marL="1828800" indent="-457200">
              <a:buSzPct val="100000"/>
              <a:buFont typeface="+mj-lt"/>
              <a:buAutoNum type="arabicParenR"/>
              <a:defRPr sz="1800"/>
            </a:lvl4pPr>
            <a:lvl5pPr marL="2286000" indent="-457200">
              <a:buSzPct val="100000"/>
              <a:buFont typeface="+mj-lt"/>
              <a:buAutoNum type="alphaLcParen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332421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3" name="Title 123">
            <a:extLst>
              <a:ext uri="{FF2B5EF4-FFF2-40B4-BE49-F238E27FC236}">
                <a16:creationId xmlns:a16="http://schemas.microsoft.com/office/drawing/2014/main" id="{0B9C7C4B-FC2C-5D51-5679-3D5ED85185DA}"/>
              </a:ext>
            </a:extLst>
          </p:cNvPr>
          <p:cNvSpPr>
            <a:spLocks noGrp="1"/>
          </p:cNvSpPr>
          <p:nvPr>
            <p:ph type="title"/>
          </p:nvPr>
        </p:nvSpPr>
        <p:spPr>
          <a:xfrm>
            <a:off x="841243" y="832104"/>
            <a:ext cx="10479088" cy="2587625"/>
          </a:xfrm>
          <a:prstGeom prst="rect">
            <a:avLst/>
          </a:prstGeom>
        </p:spPr>
        <p:txBody>
          <a:bodyPr anchor="t"/>
          <a:lstStyle>
            <a:lvl1pPr>
              <a:lnSpc>
                <a:spcPct val="75000"/>
              </a:lnSpc>
              <a:defRPr sz="8000" b="0" spc="0" baseline="0">
                <a:solidFill>
                  <a:schemeClr val="bg1"/>
                </a:solidFill>
                <a:latin typeface="+mn-lt"/>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C79F5B69-7199-E3E6-5554-6CC2207D48E4}"/>
              </a:ext>
            </a:extLst>
          </p:cNvPr>
          <p:cNvSpPr>
            <a:spLocks noGrp="1"/>
          </p:cNvSpPr>
          <p:nvPr>
            <p:ph type="body" sz="quarter" idx="11"/>
          </p:nvPr>
        </p:nvSpPr>
        <p:spPr>
          <a:xfrm>
            <a:off x="841375" y="3705309"/>
            <a:ext cx="10479088" cy="2587625"/>
          </a:xfrm>
          <a:prstGeom prst="rect">
            <a:avLst/>
          </a:prstGeom>
        </p:spPr>
        <p:txBody>
          <a:bodyPr/>
          <a:lstStyle>
            <a:lvl1pPr marL="0" indent="0">
              <a:lnSpc>
                <a:spcPct val="130000"/>
              </a:lnSpc>
              <a:spcAft>
                <a:spcPts val="1000"/>
              </a:spcAft>
              <a:buNone/>
              <a:defRPr b="1" i="0" cap="all" spc="300" baseline="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99330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A6136C8-5F1C-1938-2749-EB92507D5B73}"/>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8F8A0E18-5BF2-0344-33F6-E3D16F9F6F7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4861156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215" cy="4480560"/>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9577894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4" name="Content Placeholder 12">
            <a:extLst>
              <a:ext uri="{FF2B5EF4-FFF2-40B4-BE49-F238E27FC236}">
                <a16:creationId xmlns:a16="http://schemas.microsoft.com/office/drawing/2014/main" id="{19B7E7AC-A0E6-BE9A-4728-8FE036CF3538}"/>
              </a:ext>
            </a:extLst>
          </p:cNvPr>
          <p:cNvSpPr>
            <a:spLocks noGrp="1"/>
          </p:cNvSpPr>
          <p:nvPr>
            <p:ph sz="quarter" idx="13"/>
          </p:nvPr>
        </p:nvSpPr>
        <p:spPr>
          <a:xfrm>
            <a:off x="841248" y="1536827"/>
            <a:ext cx="6556375" cy="4479925"/>
          </a:xfrm>
        </p:spPr>
        <p:txBody>
          <a:bodyPr>
            <a:normAutofit/>
          </a:bodyPr>
          <a:lstStyle>
            <a:lvl1pPr>
              <a:lnSpc>
                <a:spcPct val="140000"/>
              </a:lnSpc>
              <a:spcAft>
                <a:spcPts val="0"/>
              </a:spcAft>
              <a:defRPr sz="2800"/>
            </a:lvl1pPr>
            <a:lvl2pPr>
              <a:defRPr sz="2800"/>
            </a:lvl2pPr>
            <a:lvl3pPr>
              <a:defRPr sz="2400"/>
            </a:lvl3pPr>
            <a:lvl4pPr>
              <a:defRPr sz="24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0025860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with image 01">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F0337A6-0579-B5BC-C526-F7EBDDB8E84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4" name="Graphic 3">
            <a:extLst>
              <a:ext uri="{FF2B5EF4-FFF2-40B4-BE49-F238E27FC236}">
                <a16:creationId xmlns:a16="http://schemas.microsoft.com/office/drawing/2014/main" id="{4166F179-9203-AC2D-A267-E25FA28E978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4BFC5468-5E1B-2FE4-DA95-D0CCC383D3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2" name="Graphic 11">
            <a:extLst>
              <a:ext uri="{FF2B5EF4-FFF2-40B4-BE49-F238E27FC236}">
                <a16:creationId xmlns:a16="http://schemas.microsoft.com/office/drawing/2014/main" id="{617493C4-12E7-500C-5FD5-68370B57A20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3" name="Graphic 12">
            <a:extLst>
              <a:ext uri="{FF2B5EF4-FFF2-40B4-BE49-F238E27FC236}">
                <a16:creationId xmlns:a16="http://schemas.microsoft.com/office/drawing/2014/main" id="{149B5038-6091-D5DF-F2DA-3900885F498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4" name="Graphic 13">
            <a:extLst>
              <a:ext uri="{FF2B5EF4-FFF2-40B4-BE49-F238E27FC236}">
                <a16:creationId xmlns:a16="http://schemas.microsoft.com/office/drawing/2014/main" id="{9442ADAB-F6BA-A55C-036E-C837F95C8F8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111240" y="2231136"/>
            <a:ext cx="6080760" cy="4626864"/>
          </a:xfrm>
          <a:solidFill>
            <a:schemeClr val="accent6">
              <a:lumMod val="50000"/>
            </a:schemeClr>
          </a:solidFill>
        </p:spPr>
        <p:txBody>
          <a:bodyPr/>
          <a:lstStyle>
            <a:lvl1pPr marL="0" indent="0" algn="r">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6931152" cy="557784"/>
          </a:xfr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6931152" cy="4480560"/>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32943163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E18B122A-848F-E50E-C503-3930933A5C6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8908"/>
          <a:stretch/>
        </p:blipFill>
        <p:spPr>
          <a:xfrm>
            <a:off x="8401354" y="0"/>
            <a:ext cx="3790646" cy="6857999"/>
          </a:xfrm>
          <a:prstGeom prst="rect">
            <a:avLst/>
          </a:prstGeom>
        </p:spPr>
      </p:pic>
      <p:pic>
        <p:nvPicPr>
          <p:cNvPr id="12" name="Graphic 11">
            <a:extLst>
              <a:ext uri="{FF2B5EF4-FFF2-40B4-BE49-F238E27FC236}">
                <a16:creationId xmlns:a16="http://schemas.microsoft.com/office/drawing/2014/main" id="{08CD9875-E4AF-D7EA-9F8B-D27F2C3104A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13" name="Graphic 12">
            <a:extLst>
              <a:ext uri="{FF2B5EF4-FFF2-40B4-BE49-F238E27FC236}">
                <a16:creationId xmlns:a16="http://schemas.microsoft.com/office/drawing/2014/main" id="{8513E8A3-5E78-5821-6B7B-AF6343ACA73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E256415C-5388-7D35-1C15-8DA4ACDCA1F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5" name="Graphic 14">
            <a:extLst>
              <a:ext uri="{FF2B5EF4-FFF2-40B4-BE49-F238E27FC236}">
                <a16:creationId xmlns:a16="http://schemas.microsoft.com/office/drawing/2014/main" id="{8B78E2E7-B83A-F17C-9869-FED59DD512E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6556375"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9437662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with image 0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321C850-160D-5CD7-B829-ADE752EA7AB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a:stretch/>
        </p:blipFill>
        <p:spPr>
          <a:xfrm>
            <a:off x="6096000" y="0"/>
            <a:ext cx="6096000" cy="6857999"/>
          </a:xfrm>
          <a:prstGeom prst="rect">
            <a:avLst/>
          </a:prstGeom>
        </p:spPr>
      </p:pic>
      <p:pic>
        <p:nvPicPr>
          <p:cNvPr id="6" name="Graphic 5">
            <a:extLst>
              <a:ext uri="{FF2B5EF4-FFF2-40B4-BE49-F238E27FC236}">
                <a16:creationId xmlns:a16="http://schemas.microsoft.com/office/drawing/2014/main" id="{33105707-8D59-D00C-596A-380479D0E0D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7" name="Graphic 6">
            <a:extLst>
              <a:ext uri="{FF2B5EF4-FFF2-40B4-BE49-F238E27FC236}">
                <a16:creationId xmlns:a16="http://schemas.microsoft.com/office/drawing/2014/main" id="{3DC4FC4F-BE00-1554-FEBD-DE21F3AB35B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0A310F08-0B34-7E1C-7605-4F81502355F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9" name="Graphic 8">
            <a:extLst>
              <a:ext uri="{FF2B5EF4-FFF2-40B4-BE49-F238E27FC236}">
                <a16:creationId xmlns:a16="http://schemas.microsoft.com/office/drawing/2014/main" id="{63371AFC-6FAC-3C10-CCC0-ECE8DB9E997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024" cy="2679192"/>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0" y="4462272"/>
            <a:ext cx="12188952" cy="2395728"/>
          </a:xfrm>
          <a:solidFill>
            <a:schemeClr val="accent6">
              <a:lumMod val="75000"/>
            </a:schemeClr>
          </a:solidFill>
        </p:spPr>
        <p:txBody>
          <a:bodyPr/>
          <a:lstStyle>
            <a:lvl1pPr marL="0" indent="0" algn="ctr">
              <a:buNone/>
              <a:defRPr>
                <a:solidFill>
                  <a:sysClr val="windowText" lastClr="000000"/>
                </a:solidFill>
              </a:defRPr>
            </a:lvl1pPr>
          </a:lstStyle>
          <a:p>
            <a:r>
              <a:rPr lang="en-US"/>
              <a:t>Click icon to add picture</a:t>
            </a:r>
            <a:endParaRPr lang="en-US" dirty="0"/>
          </a:p>
        </p:txBody>
      </p:sp>
    </p:spTree>
    <p:extLst>
      <p:ext uri="{BB962C8B-B14F-4D97-AF65-F5344CB8AC3E}">
        <p14:creationId xmlns:p14="http://schemas.microsoft.com/office/powerpoint/2010/main" val="34207803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0F0E0D3-11E9-A85D-821D-49C27B06B06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6" name="Graphic 5">
            <a:extLst>
              <a:ext uri="{FF2B5EF4-FFF2-40B4-BE49-F238E27FC236}">
                <a16:creationId xmlns:a16="http://schemas.microsoft.com/office/drawing/2014/main" id="{7433D848-BBB0-8852-CBA7-96FB04BFADE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556"/>
          <a:stretch/>
        </p:blipFill>
        <p:spPr>
          <a:xfrm>
            <a:off x="10687351" y="4584700"/>
            <a:ext cx="1504649" cy="1130300"/>
          </a:xfrm>
          <a:prstGeom prst="rect">
            <a:avLst/>
          </a:prstGeom>
        </p:spPr>
      </p:pic>
      <p:pic>
        <p:nvPicPr>
          <p:cNvPr id="7" name="Graphic 6">
            <a:extLst>
              <a:ext uri="{FF2B5EF4-FFF2-40B4-BE49-F238E27FC236}">
                <a16:creationId xmlns:a16="http://schemas.microsoft.com/office/drawing/2014/main" id="{3A0A5B28-1267-FF8C-DD34-4AE0CE17FD9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72FE7896-D379-408C-54BB-757C71F0DEF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49515" r="34180"/>
          <a:stretch/>
        </p:blipFill>
        <p:spPr>
          <a:xfrm>
            <a:off x="10687351" y="1141376"/>
            <a:ext cx="1504649" cy="1154076"/>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37E02B10-F9DF-509C-64D5-91DEB6988175}"/>
              </a:ext>
            </a:extLst>
          </p:cNvPr>
          <p:cNvSpPr>
            <a:spLocks noGrp="1"/>
          </p:cNvSpPr>
          <p:nvPr>
            <p:ph type="body" sz="quarter" idx="15"/>
          </p:nvPr>
        </p:nvSpPr>
        <p:spPr>
          <a:xfrm>
            <a:off x="4791455" y="1536826"/>
            <a:ext cx="5650992" cy="557784"/>
          </a:xfrm>
        </p:spPr>
        <p:txBody>
          <a:bodyPr/>
          <a:lstStyle>
            <a:lvl1pPr marL="0" indent="0">
              <a:lnSpc>
                <a:spcPct val="90000"/>
              </a:lnSpc>
              <a:spcBef>
                <a:spcPts val="1000"/>
              </a:spcBef>
              <a:spcAft>
                <a:spcPts val="0"/>
              </a:spcAft>
              <a:buNone/>
              <a:defRPr sz="2000" b="1" baseline="0">
                <a:solidFill>
                  <a:schemeClr val="tx1"/>
                </a:solidFill>
                <a:latin typeface="+mj-lt"/>
              </a:defRPr>
            </a:lvl1pPr>
          </a:lstStyle>
          <a:p>
            <a:pPr lvl="0"/>
            <a:r>
              <a:rPr lang="en-US"/>
              <a:t>Click to edit Master text styles</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2267712"/>
            <a:ext cx="5650992" cy="3767328"/>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1856674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CE1CF12-4201-C23B-7B9A-02EB4F8A79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396"/>
          <a:stretch/>
        </p:blipFill>
        <p:spPr>
          <a:xfrm>
            <a:off x="0" y="5731980"/>
            <a:ext cx="12192000" cy="1138720"/>
          </a:xfrm>
          <a:prstGeom prst="rect">
            <a:avLst/>
          </a:prstGeom>
        </p:spPr>
      </p:pic>
      <p:pic>
        <p:nvPicPr>
          <p:cNvPr id="12" name="Graphic 11">
            <a:extLst>
              <a:ext uri="{FF2B5EF4-FFF2-40B4-BE49-F238E27FC236}">
                <a16:creationId xmlns:a16="http://schemas.microsoft.com/office/drawing/2014/main" id="{513CE0C7-867A-80BB-9E96-3008375B7EE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68854" b="83396"/>
          <a:stretch/>
        </p:blipFill>
        <p:spPr>
          <a:xfrm>
            <a:off x="0" y="12700"/>
            <a:ext cx="3797300" cy="1138720"/>
          </a:xfrm>
          <a:prstGeom prst="rect">
            <a:avLst/>
          </a:prstGeom>
        </p:spPr>
      </p:pic>
      <p:pic>
        <p:nvPicPr>
          <p:cNvPr id="13" name="Graphic 12">
            <a:extLst>
              <a:ext uri="{FF2B5EF4-FFF2-40B4-BE49-F238E27FC236}">
                <a16:creationId xmlns:a16="http://schemas.microsoft.com/office/drawing/2014/main" id="{736CB758-B1DB-F2E0-00E7-BF5660C5F25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33598" b="49858"/>
          <a:stretch/>
        </p:blipFill>
        <p:spPr>
          <a:xfrm>
            <a:off x="0" y="9452"/>
            <a:ext cx="1517954" cy="1146248"/>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4764024" y="841248"/>
            <a:ext cx="6556248" cy="557784"/>
          </a:xfrm>
        </p:spPr>
        <p:txBody>
          <a:bodyPr anchor="t"/>
          <a:lstStyle>
            <a:lvl1pPr>
              <a:defRPr sz="2000" cap="all" spc="300" baseline="0"/>
            </a:lvl1pPr>
          </a:lstStyle>
          <a:p>
            <a:r>
              <a:rPr lang="en-US"/>
              <a:t>Click to edit Master title style</a:t>
            </a:r>
            <a:endParaRPr lang="en-US" dirty="0"/>
          </a:p>
        </p:txBody>
      </p:sp>
      <p:sp>
        <p:nvSpPr>
          <p:cNvPr id="14" name="Picture Placeholder 15">
            <a:extLst>
              <a:ext uri="{FF2B5EF4-FFF2-40B4-BE49-F238E27FC236}">
                <a16:creationId xmlns:a16="http://schemas.microsoft.com/office/drawing/2014/main" id="{A780F1E2-F795-D408-7361-9B32EA12F8E7}"/>
              </a:ext>
            </a:extLst>
          </p:cNvPr>
          <p:cNvSpPr>
            <a:spLocks noGrp="1"/>
          </p:cNvSpPr>
          <p:nvPr>
            <p:ph type="pic" sz="quarter" idx="14"/>
          </p:nvPr>
        </p:nvSpPr>
        <p:spPr>
          <a:xfrm>
            <a:off x="0" y="836676"/>
            <a:ext cx="3785616" cy="5184648"/>
          </a:xfrm>
          <a:solidFill>
            <a:schemeClr val="accent6">
              <a:lumMod val="75000"/>
            </a:schemeClr>
          </a:solidFill>
        </p:spPr>
        <p:txBody>
          <a:bodyPr/>
          <a:lstStyle>
            <a:lvl1pPr marL="0" indent="0" algn="ctr">
              <a:buNone/>
              <a:defRPr>
                <a:solidFill>
                  <a:sysClr val="windowText" lastClr="000000"/>
                </a:solidFill>
              </a:defRPr>
            </a:lvl1pPr>
          </a:lstStyle>
          <a:p>
            <a:r>
              <a:rPr lang="en-US"/>
              <a:t>Click icon to add picture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4764023" y="1536827"/>
            <a:ext cx="6556247"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913146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8939159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03">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342900" indent="-342900">
              <a:lnSpc>
                <a:spcPct val="90000"/>
              </a:lnSpc>
              <a:spcAft>
                <a:spcPts val="1800"/>
              </a:spcAft>
              <a:buSzPct val="100000"/>
              <a:buFont typeface="Arial" panose="020B0604020202020204" pitchFamily="34" charset="0"/>
              <a:buChar char="•"/>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27448" y="1536827"/>
            <a:ext cx="6592824"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pic>
        <p:nvPicPr>
          <p:cNvPr id="5" name="Graphic 4">
            <a:extLst>
              <a:ext uri="{FF2B5EF4-FFF2-40B4-BE49-F238E27FC236}">
                <a16:creationId xmlns:a16="http://schemas.microsoft.com/office/drawing/2014/main" id="{3FD831DA-EDBD-A492-3E6D-6ABBF4438F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b="83148"/>
          <a:stretch/>
        </p:blipFill>
        <p:spPr>
          <a:xfrm>
            <a:off x="10687350" y="12700"/>
            <a:ext cx="1504649" cy="1155700"/>
          </a:xfrm>
          <a:prstGeom prst="rect">
            <a:avLst/>
          </a:prstGeom>
        </p:spPr>
      </p:pic>
      <p:pic>
        <p:nvPicPr>
          <p:cNvPr id="6" name="Graphic 5">
            <a:extLst>
              <a:ext uri="{FF2B5EF4-FFF2-40B4-BE49-F238E27FC236}">
                <a16:creationId xmlns:a16="http://schemas.microsoft.com/office/drawing/2014/main" id="{00071AEB-E268-A464-7197-69FA762C3C5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444"/>
          <a:stretch/>
        </p:blipFill>
        <p:spPr>
          <a:xfrm>
            <a:off x="10687351" y="9452"/>
            <a:ext cx="1504649" cy="1155700"/>
          </a:xfrm>
          <a:prstGeom prst="rect">
            <a:avLst/>
          </a:prstGeom>
        </p:spPr>
      </p:pic>
    </p:spTree>
    <p:extLst>
      <p:ext uri="{BB962C8B-B14F-4D97-AF65-F5344CB8AC3E}">
        <p14:creationId xmlns:p14="http://schemas.microsoft.com/office/powerpoint/2010/main" val="25874606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C5788EE-4EDA-20FA-8EB9-2F0639E8A2B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8" name="Graphic 7">
            <a:extLst>
              <a:ext uri="{FF2B5EF4-FFF2-40B4-BE49-F238E27FC236}">
                <a16:creationId xmlns:a16="http://schemas.microsoft.com/office/drawing/2014/main" id="{9D053CA0-7A9F-FC49-AD3F-F3280344D76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767F6939-7B7E-F49F-8219-DC8CDAC85D5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1" name="Graphic 10">
            <a:extLst>
              <a:ext uri="{FF2B5EF4-FFF2-40B4-BE49-F238E27FC236}">
                <a16:creationId xmlns:a16="http://schemas.microsoft.com/office/drawing/2014/main" id="{FACCA700-291A-CD50-0CF3-749300C8D7A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2" name="Graphic 11">
            <a:extLst>
              <a:ext uri="{FF2B5EF4-FFF2-40B4-BE49-F238E27FC236}">
                <a16:creationId xmlns:a16="http://schemas.microsoft.com/office/drawing/2014/main" id="{0EFADD4D-8EF2-3DF8-F5F4-9459752D546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3" name="Graphic 12">
            <a:extLst>
              <a:ext uri="{FF2B5EF4-FFF2-40B4-BE49-F238E27FC236}">
                <a16:creationId xmlns:a16="http://schemas.microsoft.com/office/drawing/2014/main" id="{B5B36F67-81DA-36AC-5D17-0172FF5A70C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841248" y="1527048"/>
            <a:ext cx="10479024" cy="4498848"/>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6913045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break with image 03">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092952" y="0"/>
            <a:ext cx="6099048" cy="6876288"/>
          </a:xfrm>
          <a:solidFill>
            <a:schemeClr val="accent6">
              <a:lumMod val="75000"/>
            </a:schemeClr>
          </a:solidFill>
        </p:spPr>
        <p:txBody>
          <a:bodyPr/>
          <a:lstStyle>
            <a:lvl1pPr marL="0" indent="0" algn="l">
              <a:buNone/>
              <a:defRPr>
                <a:solidFill>
                  <a:schemeClr val="bg1"/>
                </a:solidFill>
              </a:defRPr>
            </a:lvl1pPr>
          </a:lstStyle>
          <a:p>
            <a:r>
              <a:rPr lang="en-US"/>
              <a:t>Click icon to add picture</a:t>
            </a:r>
            <a:endParaRPr lang="en-US" dirty="0"/>
          </a:p>
        </p:txBody>
      </p:sp>
      <p:sp>
        <p:nvSpPr>
          <p:cNvPr id="124" name="Title 123">
            <a:extLst>
              <a:ext uri="{FF2B5EF4-FFF2-40B4-BE49-F238E27FC236}">
                <a16:creationId xmlns:a16="http://schemas.microsoft.com/office/drawing/2014/main" id="{5EF8E4BF-2FB4-FFDD-E565-805C476240FE}"/>
              </a:ext>
            </a:extLst>
          </p:cNvPr>
          <p:cNvSpPr>
            <a:spLocks noGrp="1"/>
          </p:cNvSpPr>
          <p:nvPr>
            <p:ph type="title"/>
          </p:nvPr>
        </p:nvSpPr>
        <p:spPr>
          <a:xfrm>
            <a:off x="841244" y="832104"/>
            <a:ext cx="6099048" cy="5219236"/>
          </a:xfrm>
        </p:spPr>
        <p:txBody>
          <a:bodyPr anchor="t"/>
          <a:lstStyle>
            <a:lvl1pPr>
              <a:lnSpc>
                <a:spcPct val="75000"/>
              </a:lnSpc>
              <a:defRPr sz="8000" b="0" spc="0" baseline="0">
                <a:solidFill>
                  <a:schemeClr val="bg1"/>
                </a:solidFill>
                <a:latin typeface="+mn-lt"/>
              </a:defRPr>
            </a:lvl1pPr>
          </a:lstStyle>
          <a:p>
            <a:r>
              <a:rPr lang="en-US"/>
              <a:t>Click to edit Master title style</a:t>
            </a:r>
            <a:endParaRPr lang="en-US" dirty="0"/>
          </a:p>
        </p:txBody>
      </p:sp>
      <p:sp>
        <p:nvSpPr>
          <p:cNvPr id="123" name="Text Placeholder 122">
            <a:extLst>
              <a:ext uri="{FF2B5EF4-FFF2-40B4-BE49-F238E27FC236}">
                <a16:creationId xmlns:a16="http://schemas.microsoft.com/office/drawing/2014/main" id="{25C59923-6546-AB3B-534C-22113CD9D671}"/>
              </a:ext>
            </a:extLst>
          </p:cNvPr>
          <p:cNvSpPr>
            <a:spLocks noGrp="1"/>
          </p:cNvSpPr>
          <p:nvPr>
            <p:ph type="body" sz="quarter" idx="15"/>
          </p:nvPr>
        </p:nvSpPr>
        <p:spPr>
          <a:xfrm>
            <a:off x="8401353" y="-1"/>
            <a:ext cx="3790650" cy="1155691"/>
          </a:xfrm>
          <a:custGeom>
            <a:avLst/>
            <a:gdLst>
              <a:gd name="connsiteX0" fmla="*/ 2293575 w 3790650"/>
              <a:gd name="connsiteY0" fmla="*/ 0 h 1155691"/>
              <a:gd name="connsiteX1" fmla="*/ 3790650 w 3790650"/>
              <a:gd name="connsiteY1" fmla="*/ 0 h 1155691"/>
              <a:gd name="connsiteX2" fmla="*/ 3790650 w 3790650"/>
              <a:gd name="connsiteY2" fmla="*/ 1098632 h 1155691"/>
              <a:gd name="connsiteX3" fmla="*/ 3775153 w 3790650"/>
              <a:gd name="connsiteY3" fmla="*/ 1104304 h 1155691"/>
              <a:gd name="connsiteX4" fmla="*/ 3435268 w 3790650"/>
              <a:gd name="connsiteY4" fmla="*/ 1155691 h 1155691"/>
              <a:gd name="connsiteX5" fmla="*/ 2292295 w 3790650"/>
              <a:gd name="connsiteY5" fmla="*/ 12701 h 1155691"/>
              <a:gd name="connsiteX6" fmla="*/ 1280 w 3790650"/>
              <a:gd name="connsiteY6" fmla="*/ 0 h 1155691"/>
              <a:gd name="connsiteX7" fmla="*/ 2284665 w 3790650"/>
              <a:gd name="connsiteY7" fmla="*/ 0 h 1155691"/>
              <a:gd name="connsiteX8" fmla="*/ 2285945 w 3790650"/>
              <a:gd name="connsiteY8" fmla="*/ 12701 h 1155691"/>
              <a:gd name="connsiteX9" fmla="*/ 1142973 w 3790650"/>
              <a:gd name="connsiteY9" fmla="*/ 1155691 h 1155691"/>
              <a:gd name="connsiteX10" fmla="*/ 0 w 3790650"/>
              <a:gd name="connsiteY10" fmla="*/ 12701 h 115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0650" h="1155691">
                <a:moveTo>
                  <a:pt x="2293575" y="0"/>
                </a:moveTo>
                <a:lnTo>
                  <a:pt x="3790650" y="0"/>
                </a:lnTo>
                <a:lnTo>
                  <a:pt x="3790650" y="1098632"/>
                </a:lnTo>
                <a:lnTo>
                  <a:pt x="3775153" y="1104304"/>
                </a:lnTo>
                <a:cubicBezTo>
                  <a:pt x="3667783" y="1137700"/>
                  <a:pt x="3553627" y="1155691"/>
                  <a:pt x="3435268" y="1155691"/>
                </a:cubicBezTo>
                <a:cubicBezTo>
                  <a:pt x="2804021" y="1155691"/>
                  <a:pt x="2292295" y="643957"/>
                  <a:pt x="2292295" y="12701"/>
                </a:cubicBezTo>
                <a:close/>
                <a:moveTo>
                  <a:pt x="1280" y="0"/>
                </a:moveTo>
                <a:lnTo>
                  <a:pt x="2284665" y="0"/>
                </a:lnTo>
                <a:lnTo>
                  <a:pt x="2285945" y="12701"/>
                </a:lnTo>
                <a:cubicBezTo>
                  <a:pt x="2285945" y="643957"/>
                  <a:pt x="1774219" y="1155691"/>
                  <a:pt x="1142973" y="1155691"/>
                </a:cubicBezTo>
                <a:cubicBezTo>
                  <a:pt x="511726" y="1155691"/>
                  <a:pt x="0" y="643957"/>
                  <a:pt x="0" y="12701"/>
                </a:cubicBezTo>
                <a:close/>
              </a:path>
            </a:pathLst>
          </a:custGeom>
          <a:solidFill>
            <a:schemeClr val="accent6">
              <a:lumMod val="75000"/>
              <a:alpha val="25000"/>
            </a:schemeClr>
          </a:solidFill>
        </p:spPr>
        <p:txBody>
          <a:bodyPr wrap="square">
            <a:noAutofit/>
          </a:bodyPr>
          <a:lstStyle>
            <a:lvl1pPr>
              <a:defRPr>
                <a:noFill/>
              </a:defRPr>
            </a:lvl1pPr>
          </a:lstStyle>
          <a:p>
            <a:pPr lvl="0"/>
            <a:r>
              <a:rPr lang="en-US"/>
              <a:t>Click to edit Master text styles</a:t>
            </a:r>
          </a:p>
        </p:txBody>
      </p:sp>
      <p:sp>
        <p:nvSpPr>
          <p:cNvPr id="48" name="Text Placeholder 47">
            <a:extLst>
              <a:ext uri="{FF2B5EF4-FFF2-40B4-BE49-F238E27FC236}">
                <a16:creationId xmlns:a16="http://schemas.microsoft.com/office/drawing/2014/main" id="{880C9A0C-95B8-C535-9B78-63FDB782BE10}"/>
              </a:ext>
            </a:extLst>
          </p:cNvPr>
          <p:cNvSpPr>
            <a:spLocks noGrp="1"/>
          </p:cNvSpPr>
          <p:nvPr>
            <p:ph type="body" sz="quarter" idx="12"/>
          </p:nvPr>
        </p:nvSpPr>
        <p:spPr>
          <a:xfrm>
            <a:off x="-3" y="5727700"/>
            <a:ext cx="12192003" cy="1130300"/>
          </a:xfrm>
          <a:custGeom>
            <a:avLst/>
            <a:gdLst>
              <a:gd name="connsiteX0" fmla="*/ 11823828 w 12192003"/>
              <a:gd name="connsiteY0" fmla="*/ 0 h 1130300"/>
              <a:gd name="connsiteX1" fmla="*/ 12163721 w 12192003"/>
              <a:gd name="connsiteY1" fmla="*/ 51387 h 1130300"/>
              <a:gd name="connsiteX2" fmla="*/ 12192003 w 12192003"/>
              <a:gd name="connsiteY2" fmla="*/ 61738 h 1130300"/>
              <a:gd name="connsiteX3" fmla="*/ 12192003 w 12192003"/>
              <a:gd name="connsiteY3" fmla="*/ 1130300 h 1130300"/>
              <a:gd name="connsiteX4" fmla="*/ 10681469 w 12192003"/>
              <a:gd name="connsiteY4" fmla="*/ 1130300 h 1130300"/>
              <a:gd name="connsiteX5" fmla="*/ 10686729 w 12192003"/>
              <a:gd name="connsiteY5" fmla="*/ 1026126 h 1130300"/>
              <a:gd name="connsiteX6" fmla="*/ 11823828 w 12192003"/>
              <a:gd name="connsiteY6" fmla="*/ 0 h 1130300"/>
              <a:gd name="connsiteX7" fmla="*/ 9531478 w 12192003"/>
              <a:gd name="connsiteY7" fmla="*/ 0 h 1130300"/>
              <a:gd name="connsiteX8" fmla="*/ 10668577 w 12192003"/>
              <a:gd name="connsiteY8" fmla="*/ 1026126 h 1130300"/>
              <a:gd name="connsiteX9" fmla="*/ 10673837 w 12192003"/>
              <a:gd name="connsiteY9" fmla="*/ 1130300 h 1130300"/>
              <a:gd name="connsiteX10" fmla="*/ 8389119 w 12192003"/>
              <a:gd name="connsiteY10" fmla="*/ 1130300 h 1130300"/>
              <a:gd name="connsiteX11" fmla="*/ 8394379 w 12192003"/>
              <a:gd name="connsiteY11" fmla="*/ 1026126 h 1130300"/>
              <a:gd name="connsiteX12" fmla="*/ 9531478 w 12192003"/>
              <a:gd name="connsiteY12" fmla="*/ 0 h 1130300"/>
              <a:gd name="connsiteX13" fmla="*/ 7239129 w 12192003"/>
              <a:gd name="connsiteY13" fmla="*/ 0 h 1130300"/>
              <a:gd name="connsiteX14" fmla="*/ 8376227 w 12192003"/>
              <a:gd name="connsiteY14" fmla="*/ 1026126 h 1130300"/>
              <a:gd name="connsiteX15" fmla="*/ 8381487 w 12192003"/>
              <a:gd name="connsiteY15" fmla="*/ 1130300 h 1130300"/>
              <a:gd name="connsiteX16" fmla="*/ 6096769 w 12192003"/>
              <a:gd name="connsiteY16" fmla="*/ 1130300 h 1130300"/>
              <a:gd name="connsiteX17" fmla="*/ 6102029 w 12192003"/>
              <a:gd name="connsiteY17" fmla="*/ 1026126 h 1130300"/>
              <a:gd name="connsiteX18" fmla="*/ 7239129 w 12192003"/>
              <a:gd name="connsiteY18" fmla="*/ 0 h 1130300"/>
              <a:gd name="connsiteX19" fmla="*/ 4946780 w 12192003"/>
              <a:gd name="connsiteY19" fmla="*/ 0 h 1130300"/>
              <a:gd name="connsiteX20" fmla="*/ 6083878 w 12192003"/>
              <a:gd name="connsiteY20" fmla="*/ 1026126 h 1130300"/>
              <a:gd name="connsiteX21" fmla="*/ 6089139 w 12192003"/>
              <a:gd name="connsiteY21" fmla="*/ 1130300 h 1130300"/>
              <a:gd name="connsiteX22" fmla="*/ 3804423 w 12192003"/>
              <a:gd name="connsiteY22" fmla="*/ 1130300 h 1130300"/>
              <a:gd name="connsiteX23" fmla="*/ 3809684 w 12192003"/>
              <a:gd name="connsiteY23" fmla="*/ 1026126 h 1130300"/>
              <a:gd name="connsiteX24" fmla="*/ 4946780 w 12192003"/>
              <a:gd name="connsiteY24" fmla="*/ 0 h 1130300"/>
              <a:gd name="connsiteX25" fmla="*/ 2654431 w 12192003"/>
              <a:gd name="connsiteY25" fmla="*/ 0 h 1130300"/>
              <a:gd name="connsiteX26" fmla="*/ 3791530 w 12192003"/>
              <a:gd name="connsiteY26" fmla="*/ 1026126 h 1130300"/>
              <a:gd name="connsiteX27" fmla="*/ 3796791 w 12192003"/>
              <a:gd name="connsiteY27" fmla="*/ 1130300 h 1130300"/>
              <a:gd name="connsiteX28" fmla="*/ 1512072 w 12192003"/>
              <a:gd name="connsiteY28" fmla="*/ 1130300 h 1130300"/>
              <a:gd name="connsiteX29" fmla="*/ 1517332 w 12192003"/>
              <a:gd name="connsiteY29" fmla="*/ 1026126 h 1130300"/>
              <a:gd name="connsiteX30" fmla="*/ 2654431 w 12192003"/>
              <a:gd name="connsiteY30" fmla="*/ 0 h 1130300"/>
              <a:gd name="connsiteX31" fmla="*/ 362080 w 12192003"/>
              <a:gd name="connsiteY31" fmla="*/ 0 h 1130300"/>
              <a:gd name="connsiteX32" fmla="*/ 1499179 w 12192003"/>
              <a:gd name="connsiteY32" fmla="*/ 1026126 h 1130300"/>
              <a:gd name="connsiteX33" fmla="*/ 1504439 w 12192003"/>
              <a:gd name="connsiteY33" fmla="*/ 1130300 h 1130300"/>
              <a:gd name="connsiteX34" fmla="*/ 0 w 12192003"/>
              <a:gd name="connsiteY34" fmla="*/ 1130300 h 1130300"/>
              <a:gd name="connsiteX35" fmla="*/ 0 w 12192003"/>
              <a:gd name="connsiteY35" fmla="*/ 59507 h 1130300"/>
              <a:gd name="connsiteX36" fmla="*/ 22187 w 12192003"/>
              <a:gd name="connsiteY36" fmla="*/ 51387 h 1130300"/>
              <a:gd name="connsiteX37" fmla="*/ 362080 w 12192003"/>
              <a:gd name="connsiteY37" fmla="*/ 0 h 113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3" h="1130300">
                <a:moveTo>
                  <a:pt x="11823828" y="0"/>
                </a:moveTo>
                <a:cubicBezTo>
                  <a:pt x="11942189" y="0"/>
                  <a:pt x="12056349" y="17991"/>
                  <a:pt x="12163721" y="51387"/>
                </a:cubicBezTo>
                <a:lnTo>
                  <a:pt x="12192003" y="61738"/>
                </a:lnTo>
                <a:lnTo>
                  <a:pt x="12192003" y="1130300"/>
                </a:lnTo>
                <a:lnTo>
                  <a:pt x="10681469" y="1130300"/>
                </a:lnTo>
                <a:lnTo>
                  <a:pt x="10686729" y="1026126"/>
                </a:lnTo>
                <a:cubicBezTo>
                  <a:pt x="10745262" y="449767"/>
                  <a:pt x="11232021" y="0"/>
                  <a:pt x="11823828" y="0"/>
                </a:cubicBezTo>
                <a:close/>
                <a:moveTo>
                  <a:pt x="9531478" y="0"/>
                </a:moveTo>
                <a:cubicBezTo>
                  <a:pt x="10123285" y="0"/>
                  <a:pt x="10610044" y="449767"/>
                  <a:pt x="10668577" y="1026126"/>
                </a:cubicBezTo>
                <a:lnTo>
                  <a:pt x="10673837" y="1130300"/>
                </a:lnTo>
                <a:lnTo>
                  <a:pt x="8389119" y="1130300"/>
                </a:lnTo>
                <a:lnTo>
                  <a:pt x="8394379" y="1026126"/>
                </a:lnTo>
                <a:cubicBezTo>
                  <a:pt x="8452912" y="449767"/>
                  <a:pt x="8939671" y="0"/>
                  <a:pt x="9531478" y="0"/>
                </a:cubicBezTo>
                <a:close/>
                <a:moveTo>
                  <a:pt x="7239129" y="0"/>
                </a:moveTo>
                <a:cubicBezTo>
                  <a:pt x="7830936" y="0"/>
                  <a:pt x="8317694" y="449767"/>
                  <a:pt x="8376227" y="1026126"/>
                </a:cubicBezTo>
                <a:lnTo>
                  <a:pt x="8381487" y="1130300"/>
                </a:lnTo>
                <a:lnTo>
                  <a:pt x="6096769" y="1130300"/>
                </a:lnTo>
                <a:lnTo>
                  <a:pt x="6102029" y="1026126"/>
                </a:lnTo>
                <a:cubicBezTo>
                  <a:pt x="6160563" y="449767"/>
                  <a:pt x="6647322" y="0"/>
                  <a:pt x="7239129" y="0"/>
                </a:cubicBezTo>
                <a:close/>
                <a:moveTo>
                  <a:pt x="4946780" y="0"/>
                </a:moveTo>
                <a:cubicBezTo>
                  <a:pt x="5538587" y="0"/>
                  <a:pt x="6025345" y="449767"/>
                  <a:pt x="6083878" y="1026126"/>
                </a:cubicBezTo>
                <a:lnTo>
                  <a:pt x="6089139" y="1130300"/>
                </a:lnTo>
                <a:lnTo>
                  <a:pt x="3804423" y="1130300"/>
                </a:lnTo>
                <a:lnTo>
                  <a:pt x="3809684" y="1026126"/>
                </a:lnTo>
                <a:cubicBezTo>
                  <a:pt x="3868216" y="449767"/>
                  <a:pt x="4354972" y="0"/>
                  <a:pt x="4946780" y="0"/>
                </a:cubicBezTo>
                <a:close/>
                <a:moveTo>
                  <a:pt x="2654431" y="0"/>
                </a:moveTo>
                <a:cubicBezTo>
                  <a:pt x="3246238" y="0"/>
                  <a:pt x="3732997" y="449767"/>
                  <a:pt x="3791530" y="1026126"/>
                </a:cubicBezTo>
                <a:lnTo>
                  <a:pt x="3796791" y="1130300"/>
                </a:lnTo>
                <a:lnTo>
                  <a:pt x="1512072" y="1130300"/>
                </a:lnTo>
                <a:lnTo>
                  <a:pt x="1517332" y="1026126"/>
                </a:lnTo>
                <a:cubicBezTo>
                  <a:pt x="1575865" y="449767"/>
                  <a:pt x="2062624" y="0"/>
                  <a:pt x="2654431" y="0"/>
                </a:cubicBezTo>
                <a:close/>
                <a:moveTo>
                  <a:pt x="362080" y="0"/>
                </a:moveTo>
                <a:cubicBezTo>
                  <a:pt x="953887" y="0"/>
                  <a:pt x="1440646" y="449767"/>
                  <a:pt x="1499179" y="1026126"/>
                </a:cubicBezTo>
                <a:lnTo>
                  <a:pt x="1504439" y="1130300"/>
                </a:lnTo>
                <a:lnTo>
                  <a:pt x="0" y="1130300"/>
                </a:lnTo>
                <a:lnTo>
                  <a:pt x="0" y="59507"/>
                </a:lnTo>
                <a:lnTo>
                  <a:pt x="22187" y="51387"/>
                </a:lnTo>
                <a:cubicBezTo>
                  <a:pt x="129559" y="17991"/>
                  <a:pt x="243719" y="0"/>
                  <a:pt x="362080" y="0"/>
                </a:cubicBezTo>
                <a:close/>
              </a:path>
            </a:pathLst>
          </a:custGeom>
          <a:solidFill>
            <a:schemeClr val="accent6">
              <a:lumMod val="75000"/>
              <a:alpha val="25000"/>
            </a:schemeClr>
          </a:solidFill>
        </p:spPr>
        <p:txBody>
          <a:bodyPr wrap="square">
            <a:noAutofit/>
          </a:bodyPr>
          <a:lstStyle>
            <a:lvl1pPr>
              <a:defRPr>
                <a:noFill/>
              </a:defRPr>
            </a:lvl1pPr>
          </a:lstStyle>
          <a:p>
            <a:pPr lvl="0"/>
            <a:r>
              <a:rPr lang="en-US"/>
              <a:t>Click to edit Master text styles</a:t>
            </a:r>
          </a:p>
        </p:txBody>
      </p:sp>
      <p:sp>
        <p:nvSpPr>
          <p:cNvPr id="62" name="Text Placeholder 61">
            <a:extLst>
              <a:ext uri="{FF2B5EF4-FFF2-40B4-BE49-F238E27FC236}">
                <a16:creationId xmlns:a16="http://schemas.microsoft.com/office/drawing/2014/main" id="{70972619-C968-1257-58C9-0DC661642915}"/>
              </a:ext>
            </a:extLst>
          </p:cNvPr>
          <p:cNvSpPr>
            <a:spLocks noGrp="1"/>
          </p:cNvSpPr>
          <p:nvPr>
            <p:ph type="body" sz="quarter" idx="13"/>
          </p:nvPr>
        </p:nvSpPr>
        <p:spPr>
          <a:xfrm>
            <a:off x="0" y="5724189"/>
            <a:ext cx="1503729" cy="1133811"/>
          </a:xfrm>
          <a:custGeom>
            <a:avLst/>
            <a:gdLst>
              <a:gd name="connsiteX0" fmla="*/ 367995 w 1503729"/>
              <a:gd name="connsiteY0" fmla="*/ 19 h 1133811"/>
              <a:gd name="connsiteX1" fmla="*/ 1481576 w 1503729"/>
              <a:gd name="connsiteY1" fmla="*/ 913359 h 1133811"/>
              <a:gd name="connsiteX2" fmla="*/ 1503729 w 1503729"/>
              <a:gd name="connsiteY2" fmla="*/ 1133811 h 1133811"/>
              <a:gd name="connsiteX3" fmla="*/ 1371482 w 1503729"/>
              <a:gd name="connsiteY3" fmla="*/ 1133811 h 1133811"/>
              <a:gd name="connsiteX4" fmla="*/ 1275407 w 1503729"/>
              <a:gd name="connsiteY4" fmla="*/ 1118667 h 1133811"/>
              <a:gd name="connsiteX5" fmla="*/ 367995 w 1503729"/>
              <a:gd name="connsiteY5" fmla="*/ 19 h 1133811"/>
              <a:gd name="connsiteX6" fmla="*/ 367996 w 1503729"/>
              <a:gd name="connsiteY6" fmla="*/ 0 h 1133811"/>
              <a:gd name="connsiteX7" fmla="*/ 33218 w 1503729"/>
              <a:gd name="connsiteY7" fmla="*/ 808204 h 1133811"/>
              <a:gd name="connsiteX8" fmla="*/ 0 w 1503729"/>
              <a:gd name="connsiteY8" fmla="*/ 838393 h 1133811"/>
              <a:gd name="connsiteX9" fmla="*/ 0 w 1503729"/>
              <a:gd name="connsiteY9" fmla="*/ 61671 h 1133811"/>
              <a:gd name="connsiteX10" fmla="*/ 28102 w 1503729"/>
              <a:gd name="connsiteY10" fmla="*/ 51386 h 1133811"/>
              <a:gd name="connsiteX11" fmla="*/ 367996 w 1503729"/>
              <a:gd name="connsiteY11" fmla="*/ 0 h 113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3729" h="1133811">
                <a:moveTo>
                  <a:pt x="367995" y="19"/>
                </a:moveTo>
                <a:cubicBezTo>
                  <a:pt x="917788" y="3008"/>
                  <a:pt x="1375686" y="394157"/>
                  <a:pt x="1481576" y="913359"/>
                </a:cubicBezTo>
                <a:lnTo>
                  <a:pt x="1503729" y="1133811"/>
                </a:lnTo>
                <a:lnTo>
                  <a:pt x="1371482" y="1133811"/>
                </a:lnTo>
                <a:lnTo>
                  <a:pt x="1275407" y="1118667"/>
                </a:lnTo>
                <a:cubicBezTo>
                  <a:pt x="757177" y="1010082"/>
                  <a:pt x="368000" y="550498"/>
                  <a:pt x="367995" y="19"/>
                </a:cubicBezTo>
                <a:close/>
                <a:moveTo>
                  <a:pt x="367996" y="0"/>
                </a:moveTo>
                <a:cubicBezTo>
                  <a:pt x="367996" y="315623"/>
                  <a:pt x="240061" y="601366"/>
                  <a:pt x="33218" y="808204"/>
                </a:cubicBezTo>
                <a:lnTo>
                  <a:pt x="0" y="838393"/>
                </a:lnTo>
                <a:lnTo>
                  <a:pt x="0" y="61671"/>
                </a:lnTo>
                <a:lnTo>
                  <a:pt x="28102" y="51386"/>
                </a:lnTo>
                <a:cubicBezTo>
                  <a:pt x="135475" y="17991"/>
                  <a:pt x="249634" y="0"/>
                  <a:pt x="367996"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r>
              <a:rPr lang="en-US"/>
              <a:t>Click to edit Master text styles</a:t>
            </a:r>
          </a:p>
        </p:txBody>
      </p:sp>
      <p:sp>
        <p:nvSpPr>
          <p:cNvPr id="93" name="Text Placeholder 92">
            <a:extLst>
              <a:ext uri="{FF2B5EF4-FFF2-40B4-BE49-F238E27FC236}">
                <a16:creationId xmlns:a16="http://schemas.microsoft.com/office/drawing/2014/main" id="{0A4A3873-48BC-94DF-6006-FC7F81660A5D}"/>
              </a:ext>
            </a:extLst>
          </p:cNvPr>
          <p:cNvSpPr>
            <a:spLocks noGrp="1"/>
          </p:cNvSpPr>
          <p:nvPr>
            <p:ph type="body" sz="quarter" idx="14"/>
          </p:nvPr>
        </p:nvSpPr>
        <p:spPr>
          <a:xfrm>
            <a:off x="8401353" y="0"/>
            <a:ext cx="3790647" cy="1143002"/>
          </a:xfrm>
          <a:custGeom>
            <a:avLst/>
            <a:gdLst>
              <a:gd name="connsiteX0" fmla="*/ 3790647 w 3790647"/>
              <a:gd name="connsiteY0" fmla="*/ 304585 h 1143002"/>
              <a:gd name="connsiteX1" fmla="*/ 3790647 w 3790647"/>
              <a:gd name="connsiteY1" fmla="*/ 1081329 h 1143002"/>
              <a:gd name="connsiteX2" fmla="*/ 3762543 w 3790647"/>
              <a:gd name="connsiteY2" fmla="*/ 1091615 h 1143002"/>
              <a:gd name="connsiteX3" fmla="*/ 3422649 w 3790647"/>
              <a:gd name="connsiteY3" fmla="*/ 1143002 h 1143002"/>
              <a:gd name="connsiteX4" fmla="*/ 3757427 w 3790647"/>
              <a:gd name="connsiteY4" fmla="*/ 334777 h 1143002"/>
              <a:gd name="connsiteX5" fmla="*/ 2285997 w 3790647"/>
              <a:gd name="connsiteY5" fmla="*/ 17 h 1143002"/>
              <a:gd name="connsiteX6" fmla="*/ 3422650 w 3790647"/>
              <a:gd name="connsiteY6" fmla="*/ 1142983 h 1143002"/>
              <a:gd name="connsiteX7" fmla="*/ 2285997 w 3790647"/>
              <a:gd name="connsiteY7" fmla="*/ 17 h 1143002"/>
              <a:gd name="connsiteX8" fmla="*/ 0 w 3790647"/>
              <a:gd name="connsiteY8" fmla="*/ 17 h 1143002"/>
              <a:gd name="connsiteX9" fmla="*/ 1136650 w 3790647"/>
              <a:gd name="connsiteY9" fmla="*/ 1142983 h 1143002"/>
              <a:gd name="connsiteX10" fmla="*/ 0 w 3790647"/>
              <a:gd name="connsiteY10" fmla="*/ 17 h 1143002"/>
              <a:gd name="connsiteX11" fmla="*/ 2279650 w 3790647"/>
              <a:gd name="connsiteY11" fmla="*/ 0 h 1143002"/>
              <a:gd name="connsiteX12" fmla="*/ 1136650 w 3790647"/>
              <a:gd name="connsiteY12" fmla="*/ 1143002 h 1143002"/>
              <a:gd name="connsiteX13" fmla="*/ 2279650 w 3790647"/>
              <a:gd name="connsiteY13" fmla="*/ 0 h 114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0647" h="1143002">
                <a:moveTo>
                  <a:pt x="3790647" y="304585"/>
                </a:moveTo>
                <a:lnTo>
                  <a:pt x="3790647" y="1081329"/>
                </a:lnTo>
                <a:lnTo>
                  <a:pt x="3762543" y="1091615"/>
                </a:lnTo>
                <a:cubicBezTo>
                  <a:pt x="3655170" y="1125011"/>
                  <a:pt x="3541011" y="1143002"/>
                  <a:pt x="3422649" y="1143002"/>
                </a:cubicBezTo>
                <a:cubicBezTo>
                  <a:pt x="3422649" y="827371"/>
                  <a:pt x="3550584" y="541620"/>
                  <a:pt x="3757427" y="334777"/>
                </a:cubicBezTo>
                <a:close/>
                <a:moveTo>
                  <a:pt x="2285997" y="17"/>
                </a:moveTo>
                <a:cubicBezTo>
                  <a:pt x="2914332" y="3435"/>
                  <a:pt x="3422644" y="513848"/>
                  <a:pt x="3422650" y="1142983"/>
                </a:cubicBezTo>
                <a:cubicBezTo>
                  <a:pt x="2794315" y="1139567"/>
                  <a:pt x="2286006" y="629153"/>
                  <a:pt x="2285997" y="17"/>
                </a:cubicBezTo>
                <a:close/>
                <a:moveTo>
                  <a:pt x="0" y="17"/>
                </a:moveTo>
                <a:cubicBezTo>
                  <a:pt x="628334" y="3435"/>
                  <a:pt x="1136644" y="513848"/>
                  <a:pt x="1136650" y="1142983"/>
                </a:cubicBezTo>
                <a:cubicBezTo>
                  <a:pt x="508316" y="1139567"/>
                  <a:pt x="9" y="629153"/>
                  <a:pt x="0" y="17"/>
                </a:cubicBezTo>
                <a:close/>
                <a:moveTo>
                  <a:pt x="2279650" y="0"/>
                </a:moveTo>
                <a:cubicBezTo>
                  <a:pt x="2279650" y="631263"/>
                  <a:pt x="1767910" y="1143002"/>
                  <a:pt x="1136650" y="1143002"/>
                </a:cubicBezTo>
                <a:cubicBezTo>
                  <a:pt x="1136650" y="511739"/>
                  <a:pt x="1648390" y="0"/>
                  <a:pt x="2279650"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r>
              <a:rPr lang="en-US"/>
              <a:t>Click to edit Master text styles</a:t>
            </a:r>
          </a:p>
        </p:txBody>
      </p:sp>
      <p:pic>
        <p:nvPicPr>
          <p:cNvPr id="120" name="Graphic 119">
            <a:extLst>
              <a:ext uri="{FF2B5EF4-FFF2-40B4-BE49-F238E27FC236}">
                <a16:creationId xmlns:a16="http://schemas.microsoft.com/office/drawing/2014/main" id="{9C01A786-0C1A-6C4A-1466-1AE233D142AE}"/>
              </a:ext>
            </a:extLst>
          </p:cNvPr>
          <p:cNvPicPr>
            <a:picLocks noChangeAspect="1"/>
          </p:cNvPicPr>
          <p:nvPr/>
        </p:nvPicPr>
        <p:blipFill rotWithShape="1">
          <a:blip>
            <a:extLst>
              <a:ext uri="{96DAC541-7B7A-43D3-8B79-37D633B846F1}">
                <asvg:svgBlip xmlns:asvg="http://schemas.microsoft.com/office/drawing/2016/SVG/main" r:embed="rId2"/>
              </a:ext>
            </a:extLst>
          </a:blip>
          <a:srcRect l="68908" b="83148"/>
          <a:stretch/>
        </p:blipFill>
        <p:spPr>
          <a:xfrm>
            <a:off x="8401354" y="12700"/>
            <a:ext cx="3790646" cy="1155700"/>
          </a:xfrm>
          <a:prstGeom prst="rect">
            <a:avLst/>
          </a:prstGeom>
        </p:spPr>
      </p:pic>
    </p:spTree>
    <p:extLst>
      <p:ext uri="{BB962C8B-B14F-4D97-AF65-F5344CB8AC3E}">
        <p14:creationId xmlns:p14="http://schemas.microsoft.com/office/powerpoint/2010/main" val="40437554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b="1"/>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457200" indent="-457200">
              <a:lnSpc>
                <a:spcPct val="90000"/>
              </a:lnSpc>
              <a:spcBef>
                <a:spcPts val="1000"/>
              </a:spcBef>
              <a:spcAft>
                <a:spcPts val="0"/>
              </a:spcAft>
              <a:buSzPct val="100000"/>
              <a:buFont typeface="+mj-lt"/>
              <a:buAutoNum type="arabicPeriod"/>
              <a:defRPr sz="2000"/>
            </a:lvl1pPr>
            <a:lvl2pPr marL="914400" indent="-457200">
              <a:buSzPct val="100000"/>
              <a:buFont typeface="+mj-lt"/>
              <a:buAutoNum type="alphaLcPeriod"/>
              <a:defRPr sz="2000"/>
            </a:lvl2pPr>
            <a:lvl3pPr marL="1371600" indent="-457200">
              <a:buSzPct val="100000"/>
              <a:buFont typeface="+mj-lt"/>
              <a:buAutoNum type="romanLcPeriod"/>
              <a:defRPr sz="1800"/>
            </a:lvl3pPr>
            <a:lvl4pPr marL="1828800" indent="-457200">
              <a:buSzPct val="100000"/>
              <a:buFont typeface="+mj-lt"/>
              <a:buAutoNum type="arabicParenR"/>
              <a:defRPr sz="1800"/>
            </a:lvl4pPr>
            <a:lvl5pPr marL="2286000" indent="-457200">
              <a:buSzPct val="100000"/>
              <a:buFont typeface="+mj-lt"/>
              <a:buAutoNum type="alphaLcParen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849455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3" name="Title 123">
            <a:extLst>
              <a:ext uri="{FF2B5EF4-FFF2-40B4-BE49-F238E27FC236}">
                <a16:creationId xmlns:a16="http://schemas.microsoft.com/office/drawing/2014/main" id="{0B9C7C4B-FC2C-5D51-5679-3D5ED85185DA}"/>
              </a:ext>
            </a:extLst>
          </p:cNvPr>
          <p:cNvSpPr>
            <a:spLocks noGrp="1"/>
          </p:cNvSpPr>
          <p:nvPr>
            <p:ph type="title"/>
          </p:nvPr>
        </p:nvSpPr>
        <p:spPr>
          <a:xfrm>
            <a:off x="841243" y="832104"/>
            <a:ext cx="10479088" cy="2587625"/>
          </a:xfrm>
        </p:spPr>
        <p:txBody>
          <a:bodyPr anchor="t"/>
          <a:lstStyle>
            <a:lvl1pPr>
              <a:lnSpc>
                <a:spcPct val="75000"/>
              </a:lnSpc>
              <a:defRPr sz="8000" b="0" spc="0" baseline="0">
                <a:solidFill>
                  <a:schemeClr val="bg1"/>
                </a:solidFill>
                <a:latin typeface="+mn-lt"/>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C79F5B69-7199-E3E6-5554-6CC2207D48E4}"/>
              </a:ext>
            </a:extLst>
          </p:cNvPr>
          <p:cNvSpPr>
            <a:spLocks noGrp="1"/>
          </p:cNvSpPr>
          <p:nvPr>
            <p:ph type="body" sz="quarter" idx="11"/>
          </p:nvPr>
        </p:nvSpPr>
        <p:spPr>
          <a:xfrm>
            <a:off x="841375" y="3705309"/>
            <a:ext cx="10479088" cy="2587625"/>
          </a:xfrm>
        </p:spPr>
        <p:txBody>
          <a:bodyPr/>
          <a:lstStyle>
            <a:lvl1pPr marL="0" indent="0">
              <a:lnSpc>
                <a:spcPct val="130000"/>
              </a:lnSpc>
              <a:spcAft>
                <a:spcPts val="1000"/>
              </a:spcAft>
              <a:buNone/>
              <a:defRPr b="1" i="0" cap="all" spc="300" baseline="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23186084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A6136C8-5F1C-1938-2749-EB92507D5B73}"/>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8F8A0E18-5BF2-0344-33F6-E3D16F9F6F7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8291362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0E35E-0126-3B47-9A1D-E797D5E889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7A2510-492D-F3B5-BB46-8E4FE86EEA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BDEA9A-BB61-27A9-ACB7-F23932A1DAE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664259D-70F4-3BF1-9855-33581BFD3F67}"/>
              </a:ext>
            </a:extLst>
          </p:cNvPr>
          <p:cNvSpPr>
            <a:spLocks noGrp="1"/>
          </p:cNvSpPr>
          <p:nvPr>
            <p:ph type="ftr" sz="quarter" idx="11"/>
          </p:nvPr>
        </p:nvSpPr>
        <p:spPr/>
        <p:txBody>
          <a:bodyPr/>
          <a:lstStyle/>
          <a:p>
            <a:r>
              <a:rPr lang="en-US"/>
              <a:t>Capstone Project: PGD in Artificial Intelligence and Machine Learning</a:t>
            </a:r>
          </a:p>
        </p:txBody>
      </p:sp>
      <p:sp>
        <p:nvSpPr>
          <p:cNvPr id="6" name="Slide Number Placeholder 5">
            <a:extLst>
              <a:ext uri="{FF2B5EF4-FFF2-40B4-BE49-F238E27FC236}">
                <a16:creationId xmlns:a16="http://schemas.microsoft.com/office/drawing/2014/main" id="{1F38DDBB-6776-481C-5238-8CC22ADDC028}"/>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37412256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B34BF-3D5D-819E-E41E-692336AA5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435656-7F5A-0511-3EEC-ABFE7A886D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B48021-285A-B4BC-C31D-C7D1D4F497F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65B39DD-8613-308C-08F1-9E4B2D6FF63A}"/>
              </a:ext>
            </a:extLst>
          </p:cNvPr>
          <p:cNvSpPr>
            <a:spLocks noGrp="1"/>
          </p:cNvSpPr>
          <p:nvPr>
            <p:ph type="ftr" sz="quarter" idx="11"/>
          </p:nvPr>
        </p:nvSpPr>
        <p:spPr/>
        <p:txBody>
          <a:bodyPr/>
          <a:lstStyle/>
          <a:p>
            <a:r>
              <a:rPr lang="en-US"/>
              <a:t>Capstone Project: PGD in Artificial Intelligence and Machine Learning</a:t>
            </a:r>
          </a:p>
        </p:txBody>
      </p:sp>
      <p:sp>
        <p:nvSpPr>
          <p:cNvPr id="6" name="Slide Number Placeholder 5">
            <a:extLst>
              <a:ext uri="{FF2B5EF4-FFF2-40B4-BE49-F238E27FC236}">
                <a16:creationId xmlns:a16="http://schemas.microsoft.com/office/drawing/2014/main" id="{1FA9A7EC-081E-32AD-AFDA-F0A0C2EBE680}"/>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10804824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DCF98-837D-2CE4-A352-7BDB875783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8E58AD-A35E-BCDF-C11D-1A4545353E4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036E5E-66D2-7196-F278-FDC7020EA35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C78F518-4236-109D-4F4D-1E32C0E35983}"/>
              </a:ext>
            </a:extLst>
          </p:cNvPr>
          <p:cNvSpPr>
            <a:spLocks noGrp="1"/>
          </p:cNvSpPr>
          <p:nvPr>
            <p:ph type="ftr" sz="quarter" idx="11"/>
          </p:nvPr>
        </p:nvSpPr>
        <p:spPr/>
        <p:txBody>
          <a:bodyPr/>
          <a:lstStyle/>
          <a:p>
            <a:r>
              <a:rPr lang="en-US"/>
              <a:t>Capstone Project: PGD in Artificial Intelligence and Machine Learning</a:t>
            </a:r>
          </a:p>
        </p:txBody>
      </p:sp>
      <p:sp>
        <p:nvSpPr>
          <p:cNvPr id="6" name="Slide Number Placeholder 5">
            <a:extLst>
              <a:ext uri="{FF2B5EF4-FFF2-40B4-BE49-F238E27FC236}">
                <a16:creationId xmlns:a16="http://schemas.microsoft.com/office/drawing/2014/main" id="{66855372-AB97-755D-07C5-D85D5F17D662}"/>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27644025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6E47F-322F-4769-C744-B0373F0953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C173FF-7520-E745-8D6F-DDDD843F2A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25AFBF-34A9-6602-CF7E-252B5F1D4F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8B1986-6674-2363-665E-110EADC68B63}"/>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EF02BF4-751F-AF83-6490-8494F5F4EA4A}"/>
              </a:ext>
            </a:extLst>
          </p:cNvPr>
          <p:cNvSpPr>
            <a:spLocks noGrp="1"/>
          </p:cNvSpPr>
          <p:nvPr>
            <p:ph type="ftr" sz="quarter" idx="11"/>
          </p:nvPr>
        </p:nvSpPr>
        <p:spPr/>
        <p:txBody>
          <a:bodyPr/>
          <a:lstStyle/>
          <a:p>
            <a:r>
              <a:rPr lang="en-US"/>
              <a:t>Capstone Project: PGD in Artificial Intelligence and Machine Learning</a:t>
            </a:r>
          </a:p>
        </p:txBody>
      </p:sp>
      <p:sp>
        <p:nvSpPr>
          <p:cNvPr id="7" name="Slide Number Placeholder 6">
            <a:extLst>
              <a:ext uri="{FF2B5EF4-FFF2-40B4-BE49-F238E27FC236}">
                <a16:creationId xmlns:a16="http://schemas.microsoft.com/office/drawing/2014/main" id="{09B4103A-6192-B333-CB4D-1E048CFD17A3}"/>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12912076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65C2F-2C83-1409-812C-7B82477EF1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3B5601-63E5-FC9B-D0D1-3D98D5D026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2399DF-06AD-8F6D-382D-005F537F24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274586-1269-810C-B41C-310A109BB0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2B8619-A4D8-FF94-3CCB-398F267B4D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F6C03F-E1E0-824E-53FD-C9A62CB99872}"/>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8195356D-8218-442A-F6BB-51E0A1DD3504}"/>
              </a:ext>
            </a:extLst>
          </p:cNvPr>
          <p:cNvSpPr>
            <a:spLocks noGrp="1"/>
          </p:cNvSpPr>
          <p:nvPr>
            <p:ph type="ftr" sz="quarter" idx="11"/>
          </p:nvPr>
        </p:nvSpPr>
        <p:spPr/>
        <p:txBody>
          <a:bodyPr/>
          <a:lstStyle/>
          <a:p>
            <a:r>
              <a:rPr lang="en-US"/>
              <a:t>Capstone Project: PGD in Artificial Intelligence and Machine Learning</a:t>
            </a:r>
          </a:p>
        </p:txBody>
      </p:sp>
      <p:sp>
        <p:nvSpPr>
          <p:cNvPr id="9" name="Slide Number Placeholder 8">
            <a:extLst>
              <a:ext uri="{FF2B5EF4-FFF2-40B4-BE49-F238E27FC236}">
                <a16:creationId xmlns:a16="http://schemas.microsoft.com/office/drawing/2014/main" id="{53E1C105-CB4C-0984-D926-2E6F88F78D9A}"/>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22543168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8C850-D164-036D-6B61-FFEAFF22D2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6C9BAF-B6EA-94EB-6BB9-36FFBDDB5FDB}"/>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01D1AD4-7549-1057-5371-02A3003B661C}"/>
              </a:ext>
            </a:extLst>
          </p:cNvPr>
          <p:cNvSpPr>
            <a:spLocks noGrp="1"/>
          </p:cNvSpPr>
          <p:nvPr>
            <p:ph type="ftr" sz="quarter" idx="11"/>
          </p:nvPr>
        </p:nvSpPr>
        <p:spPr/>
        <p:txBody>
          <a:bodyPr/>
          <a:lstStyle/>
          <a:p>
            <a:r>
              <a:rPr lang="en-US"/>
              <a:t>Capstone Project: PGD in Artificial Intelligence and Machine Learning</a:t>
            </a:r>
          </a:p>
        </p:txBody>
      </p:sp>
      <p:sp>
        <p:nvSpPr>
          <p:cNvPr id="5" name="Slide Number Placeholder 4">
            <a:extLst>
              <a:ext uri="{FF2B5EF4-FFF2-40B4-BE49-F238E27FC236}">
                <a16:creationId xmlns:a16="http://schemas.microsoft.com/office/drawing/2014/main" id="{734D5B88-9E03-DEA6-E00F-21CB8178E5DC}"/>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6388210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BF6F4F-A2AB-7B14-3787-AA7067CCB10C}"/>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942E0B2F-CFFF-C705-0B9F-E60AC07C63DF}"/>
              </a:ext>
            </a:extLst>
          </p:cNvPr>
          <p:cNvSpPr>
            <a:spLocks noGrp="1"/>
          </p:cNvSpPr>
          <p:nvPr>
            <p:ph type="ftr" sz="quarter" idx="11"/>
          </p:nvPr>
        </p:nvSpPr>
        <p:spPr/>
        <p:txBody>
          <a:bodyPr/>
          <a:lstStyle/>
          <a:p>
            <a:r>
              <a:rPr lang="en-US"/>
              <a:t>Capstone Project: PGD in Artificial Intelligence and Machine Learning</a:t>
            </a:r>
          </a:p>
        </p:txBody>
      </p:sp>
      <p:sp>
        <p:nvSpPr>
          <p:cNvPr id="4" name="Slide Number Placeholder 3">
            <a:extLst>
              <a:ext uri="{FF2B5EF4-FFF2-40B4-BE49-F238E27FC236}">
                <a16:creationId xmlns:a16="http://schemas.microsoft.com/office/drawing/2014/main" id="{D5C3F11B-983F-45C3-B86C-02532C428BAA}"/>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1758295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AEB77-B1FA-F9C9-CD4D-F5C03F4244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ADB7CD-FC91-7C6D-24EA-6A8F8FD205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2F8FE8-2410-CF8A-220D-40E9F65F9B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F3B2A5-2DD6-DEA4-E3AF-A8EADEB4F52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AAC9328-F11D-A21A-37B0-74823EA741DF}"/>
              </a:ext>
            </a:extLst>
          </p:cNvPr>
          <p:cNvSpPr>
            <a:spLocks noGrp="1"/>
          </p:cNvSpPr>
          <p:nvPr>
            <p:ph type="ftr" sz="quarter" idx="11"/>
          </p:nvPr>
        </p:nvSpPr>
        <p:spPr/>
        <p:txBody>
          <a:bodyPr/>
          <a:lstStyle/>
          <a:p>
            <a:r>
              <a:rPr lang="en-US"/>
              <a:t>Capstone Project: PGD in Artificial Intelligence and Machine Learning</a:t>
            </a:r>
          </a:p>
        </p:txBody>
      </p:sp>
      <p:sp>
        <p:nvSpPr>
          <p:cNvPr id="7" name="Slide Number Placeholder 6">
            <a:extLst>
              <a:ext uri="{FF2B5EF4-FFF2-40B4-BE49-F238E27FC236}">
                <a16:creationId xmlns:a16="http://schemas.microsoft.com/office/drawing/2014/main" id="{2058C7B1-CD5D-86EC-43D8-A2F3DE07D3BE}"/>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22080797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6BE3D-8825-7684-5C02-89762A9182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1A433E-FF94-AE25-6CBE-FC6311B4CD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A1F532-0C36-FF24-229F-0D5F0BA17B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2376C7-1FA8-D53F-6B8F-2C06D44EB52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1AEA896-960E-D2DF-1A90-46305D0925E8}"/>
              </a:ext>
            </a:extLst>
          </p:cNvPr>
          <p:cNvSpPr>
            <a:spLocks noGrp="1"/>
          </p:cNvSpPr>
          <p:nvPr>
            <p:ph type="ftr" sz="quarter" idx="11"/>
          </p:nvPr>
        </p:nvSpPr>
        <p:spPr/>
        <p:txBody>
          <a:bodyPr/>
          <a:lstStyle/>
          <a:p>
            <a:r>
              <a:rPr lang="en-US"/>
              <a:t>Capstone Project: PGD in Artificial Intelligence and Machine Learning</a:t>
            </a:r>
          </a:p>
        </p:txBody>
      </p:sp>
      <p:sp>
        <p:nvSpPr>
          <p:cNvPr id="7" name="Slide Number Placeholder 6">
            <a:extLst>
              <a:ext uri="{FF2B5EF4-FFF2-40B4-BE49-F238E27FC236}">
                <a16:creationId xmlns:a16="http://schemas.microsoft.com/office/drawing/2014/main" id="{4C1B3A78-D847-5EBE-9B7C-C9872321C680}"/>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39613900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EEABD-2995-C380-FED9-58294B3FEC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F49D33-0F8F-004F-C190-5716CF9CBF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FFC3D2-0479-EC1D-14C0-28F56E21AE6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6C01968-B4D5-7899-CB4C-AC32F13D551E}"/>
              </a:ext>
            </a:extLst>
          </p:cNvPr>
          <p:cNvSpPr>
            <a:spLocks noGrp="1"/>
          </p:cNvSpPr>
          <p:nvPr>
            <p:ph type="ftr" sz="quarter" idx="11"/>
          </p:nvPr>
        </p:nvSpPr>
        <p:spPr/>
        <p:txBody>
          <a:bodyPr/>
          <a:lstStyle/>
          <a:p>
            <a:r>
              <a:rPr lang="en-US"/>
              <a:t>Capstone Project: PGD in Artificial Intelligence and Machine Learning</a:t>
            </a:r>
          </a:p>
        </p:txBody>
      </p:sp>
      <p:sp>
        <p:nvSpPr>
          <p:cNvPr id="6" name="Slide Number Placeholder 5">
            <a:extLst>
              <a:ext uri="{FF2B5EF4-FFF2-40B4-BE49-F238E27FC236}">
                <a16:creationId xmlns:a16="http://schemas.microsoft.com/office/drawing/2014/main" id="{D03A0B28-2B87-25C5-1908-AE069971B3F9}"/>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11156645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AEE401-952F-8A52-946D-1538A65B8A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E0C6BE-5CE9-B7FD-247B-0A460FD341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AC2825-F4D8-F0CE-0FF6-F3022DB4E9C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F2E80E5-B5A6-38FA-9A08-7F1007836A40}"/>
              </a:ext>
            </a:extLst>
          </p:cNvPr>
          <p:cNvSpPr>
            <a:spLocks noGrp="1"/>
          </p:cNvSpPr>
          <p:nvPr>
            <p:ph type="ftr" sz="quarter" idx="11"/>
          </p:nvPr>
        </p:nvSpPr>
        <p:spPr/>
        <p:txBody>
          <a:bodyPr/>
          <a:lstStyle/>
          <a:p>
            <a:r>
              <a:rPr lang="en-US"/>
              <a:t>Capstone Project: PGD in Artificial Intelligence and Machine Learning</a:t>
            </a:r>
          </a:p>
        </p:txBody>
      </p:sp>
      <p:sp>
        <p:nvSpPr>
          <p:cNvPr id="6" name="Slide Number Placeholder 5">
            <a:extLst>
              <a:ext uri="{FF2B5EF4-FFF2-40B4-BE49-F238E27FC236}">
                <a16:creationId xmlns:a16="http://schemas.microsoft.com/office/drawing/2014/main" id="{AE536BF3-6C23-3B47-53C4-E2A5FBD61A8C}"/>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14154199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slideLayout" Target="../slideLayouts/slideLayout40.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0917936" y="6385422"/>
            <a:ext cx="843264" cy="288000"/>
          </a:xfrm>
          <a:prstGeom prst="rect">
            <a:avLst/>
          </a:prstGeom>
          <a:noFill/>
        </p:spPr>
        <p:txBody>
          <a:bodyPr lIns="0" tIns="0" rIns="0" bIns="0" anchor="ctr"/>
          <a:lstStyle>
            <a:lvl1pPr algn="r">
              <a:defRPr lang="en-ZA" sz="1000" b="0" smtClean="0">
                <a:solidFill>
                  <a:sysClr val="windowText" lastClr="000000"/>
                </a:solidFill>
              </a:defRPr>
            </a:lvl1p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520291938"/>
      </p:ext>
    </p:extLst>
  </p:cSld>
  <p:clrMap bg1="lt1" tx1="dk1" bg2="lt2" tx2="dk2" accent1="accent1" accent2="accent2" accent3="accent3" accent4="accent4" accent5="accent5" accent6="accent6" hlink="hlink" folHlink="folHlink"/>
  <p:sldLayoutIdLst>
    <p:sldLayoutId id="2147483702"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86" r:id="rId15"/>
  </p:sldLayoutIdLst>
  <p:hf hd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347472" indent="-347472" algn="l" defTabSz="914400" rtl="0" eaLnBrk="1" latinLnBrk="0" hangingPunct="1">
        <a:lnSpc>
          <a:spcPct val="90000"/>
        </a:lnSpc>
        <a:spcBef>
          <a:spcPts val="0"/>
        </a:spcBef>
        <a:spcAft>
          <a:spcPts val="1800"/>
        </a:spcAft>
        <a:buSzPct val="75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9200" cy="432000"/>
          </a:xfrm>
          <a:prstGeom prst="rect">
            <a:avLst/>
          </a:prstGeom>
        </p:spPr>
        <p:txBody>
          <a:bodyPr vert="horz" lIns="0" tIns="0" rIns="0" bIns="0" rtlCol="0" anchor="ctr">
            <a:noAutofit/>
          </a:bodyPr>
          <a:lstStyle/>
          <a:p>
            <a:pPr lvl="0"/>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29200" cy="503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0917936" y="6385422"/>
            <a:ext cx="843264" cy="288000"/>
          </a:xfrm>
          <a:prstGeom prst="rect">
            <a:avLst/>
          </a:prstGeom>
          <a:noFill/>
        </p:spPr>
        <p:txBody>
          <a:bodyPr lIns="0" tIns="0" rIns="0" bIns="0" anchor="ctr"/>
          <a:lstStyle>
            <a:lvl1pPr algn="r">
              <a:defRPr lang="en-ZA" sz="1000" b="0" smtClean="0">
                <a:solidFill>
                  <a:sysClr val="windowText" lastClr="000000"/>
                </a:solidFill>
              </a:defRPr>
            </a:lvl1p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70947627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hf hd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347472" indent="-347472" algn="l" defTabSz="914400" rtl="0" eaLnBrk="1" latinLnBrk="0" hangingPunct="1">
        <a:lnSpc>
          <a:spcPct val="90000"/>
        </a:lnSpc>
        <a:spcBef>
          <a:spcPts val="0"/>
        </a:spcBef>
        <a:spcAft>
          <a:spcPts val="1800"/>
        </a:spcAft>
        <a:buSzPct val="75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035621-2E54-EF7D-875F-747EAD184B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C1BE6C-DE22-11C3-9BE9-3769FF577F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14DC20-7C31-68C9-CFFD-E81848F617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59FC4A3C-FC9D-4885-9C16-36E9B5D891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Capstone Project: PGD in Artificial Intelligence and Machine Learning</a:t>
            </a:r>
          </a:p>
        </p:txBody>
      </p:sp>
      <p:sp>
        <p:nvSpPr>
          <p:cNvPr id="6" name="Slide Number Placeholder 5">
            <a:extLst>
              <a:ext uri="{FF2B5EF4-FFF2-40B4-BE49-F238E27FC236}">
                <a16:creationId xmlns:a16="http://schemas.microsoft.com/office/drawing/2014/main" id="{BAA0BFD0-4D5D-E0B2-05B3-ABC67CDCCB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9561E1-3A8E-4607-885F-F55590AB9AD3}" type="slidenum">
              <a:rPr lang="en-US" smtClean="0"/>
              <a:t>‹#›</a:t>
            </a:fld>
            <a:endParaRPr lang="en-US"/>
          </a:p>
        </p:txBody>
      </p:sp>
    </p:spTree>
    <p:extLst>
      <p:ext uri="{BB962C8B-B14F-4D97-AF65-F5344CB8AC3E}">
        <p14:creationId xmlns:p14="http://schemas.microsoft.com/office/powerpoint/2010/main" val="67927260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xml"/><Relationship Id="rId7"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chart" Target="../charts/chart2.xml"/><Relationship Id="rId6"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6.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F76A4-E28D-100C-EB1C-CD1C8859BC0D}"/>
            </a:ext>
          </a:extLst>
        </p:cNvPr>
        <p:cNvGrpSpPr/>
        <p:nvPr/>
      </p:nvGrpSpPr>
      <p:grpSpPr>
        <a:xfrm>
          <a:off x="0" y="0"/>
          <a:ext cx="0" cy="0"/>
          <a:chOff x="0" y="0"/>
          <a:chExt cx="0" cy="0"/>
        </a:xfrm>
      </p:grpSpPr>
      <p:sp>
        <p:nvSpPr>
          <p:cNvPr id="2" name="TextBox 1"/>
          <p:cNvSpPr txBox="1"/>
          <p:nvPr/>
        </p:nvSpPr>
        <p:spPr>
          <a:xfrm>
            <a:off x="758952" y="548640"/>
            <a:ext cx="7315200" cy="228600"/>
          </a:xfrm>
          <a:prstGeom prst="rect">
            <a:avLst/>
          </a:prstGeom>
          <a:noFill/>
        </p:spPr>
        <p:txBody>
          <a:bodyPr wrap="square" lIns="0" rIns="0" tIns="0" bIns="0" anchor="t">
            <a:noAutofit/>
          </a:bodyPr>
          <a:lstStyle/>
          <a:p>
            <a:pPr algn="l"/>
            <a:r>
              <a:rPr sz="1050" b="1">
                <a:solidFill>
                  <a:srgbClr val="CBD5E1"/>
                </a:solidFill>
                <a:latin typeface="Aptos Narrow"/>
              </a:rPr>
              <a:t>CAPSTONE TECHNICAL DECK</a:t>
            </a:r>
          </a:p>
        </p:txBody>
      </p:sp>
      <p:sp>
        <p:nvSpPr>
          <p:cNvPr id="3" name="TextBox 2"/>
          <p:cNvSpPr txBox="1"/>
          <p:nvPr/>
        </p:nvSpPr>
        <p:spPr>
          <a:xfrm>
            <a:off x="758952" y="1417320"/>
            <a:ext cx="10515600" cy="1371600"/>
          </a:xfrm>
          <a:prstGeom prst="rect">
            <a:avLst/>
          </a:prstGeom>
          <a:noFill/>
        </p:spPr>
        <p:txBody>
          <a:bodyPr wrap="square" lIns="0" rIns="0" tIns="0" bIns="0" anchor="t">
            <a:noAutofit/>
          </a:bodyPr>
          <a:lstStyle/>
          <a:p>
            <a:pPr algn="l"/>
            <a:r>
              <a:rPr sz="4200" b="1">
                <a:solidFill>
                  <a:srgbClr val="FFFFFF"/>
                </a:solidFill>
                <a:latin typeface="Aptos Narrow"/>
              </a:rPr>
              <a:t>Early Warning Student Dropout</a:t>
            </a:r>
          </a:p>
          <a:p>
            <a:pPr algn="l"/>
            <a:r>
              <a:rPr sz="4200" b="1">
                <a:solidFill>
                  <a:srgbClr val="FFFFFF"/>
                </a:solidFill>
                <a:latin typeface="Aptos Narrow"/>
              </a:rPr>
              <a:t>Risk Prediction</a:t>
            </a:r>
          </a:p>
        </p:txBody>
      </p:sp>
      <p:sp>
        <p:nvSpPr>
          <p:cNvPr id="4" name="TextBox 3"/>
          <p:cNvSpPr txBox="1"/>
          <p:nvPr/>
        </p:nvSpPr>
        <p:spPr>
          <a:xfrm>
            <a:off x="758952" y="2971800"/>
            <a:ext cx="8961120" cy="822960"/>
          </a:xfrm>
          <a:prstGeom prst="rect">
            <a:avLst/>
          </a:prstGeom>
          <a:noFill/>
        </p:spPr>
        <p:txBody>
          <a:bodyPr wrap="square" lIns="0" rIns="0" tIns="0" bIns="0" anchor="t">
            <a:noAutofit/>
          </a:bodyPr>
          <a:lstStyle/>
          <a:p>
            <a:pPr algn="l"/>
            <a:r>
              <a:rPr sz="1600" b="0">
                <a:solidFill>
                  <a:srgbClr val="E2E8F0"/>
                </a:solidFill>
                <a:latin typeface="Aptos Narrow"/>
              </a:rPr>
              <a:t>An end-of-Semester-2 XGBoost classifier with SHAP and LIME explanations, a subgroup fairness audit and evaluated bias mitigation.</a:t>
            </a:r>
          </a:p>
        </p:txBody>
      </p:sp>
      <p:sp>
        <p:nvSpPr>
          <p:cNvPr id="5" name="Rounded Rectangle 4"/>
          <p:cNvSpPr/>
          <p:nvPr/>
        </p:nvSpPr>
        <p:spPr>
          <a:xfrm>
            <a:off x="758952" y="4114800"/>
            <a:ext cx="2560320" cy="1097280"/>
          </a:xfrm>
          <a:prstGeom prst="roundRect">
            <a:avLst>
              <a:gd name="adj" fmla="val 6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4224528"/>
            <a:ext cx="2340864" cy="548640"/>
          </a:xfrm>
          <a:prstGeom prst="rect">
            <a:avLst/>
          </a:prstGeom>
          <a:noFill/>
        </p:spPr>
        <p:txBody>
          <a:bodyPr wrap="square" lIns="0" rIns="0" tIns="0" bIns="0" anchor="t">
            <a:noAutofit/>
          </a:bodyPr>
          <a:lstStyle/>
          <a:p>
            <a:pPr algn="ctr"/>
            <a:r>
              <a:rPr sz="2600" b="1">
                <a:solidFill>
                  <a:srgbClr val="38BDF8"/>
                </a:solidFill>
                <a:latin typeface="Aptos Narrow"/>
              </a:rPr>
              <a:t>0.912</a:t>
            </a:r>
          </a:p>
        </p:txBody>
      </p:sp>
      <p:sp>
        <p:nvSpPr>
          <p:cNvPr id="7" name="TextBox 6"/>
          <p:cNvSpPr txBox="1"/>
          <p:nvPr/>
        </p:nvSpPr>
        <p:spPr>
          <a:xfrm>
            <a:off x="868680" y="4773168"/>
            <a:ext cx="2340864" cy="274320"/>
          </a:xfrm>
          <a:prstGeom prst="rect">
            <a:avLst/>
          </a:prstGeom>
          <a:noFill/>
        </p:spPr>
        <p:txBody>
          <a:bodyPr wrap="square" lIns="0" rIns="0" tIns="0" bIns="0" anchor="t">
            <a:noAutofit/>
          </a:bodyPr>
          <a:lstStyle/>
          <a:p>
            <a:pPr algn="ctr"/>
            <a:r>
              <a:rPr sz="950" b="1">
                <a:solidFill>
                  <a:srgbClr val="94A3B8"/>
                </a:solidFill>
                <a:latin typeface="Aptos Narrow"/>
              </a:rPr>
              <a:t>RECALL (HOLD-OUT)</a:t>
            </a:r>
          </a:p>
        </p:txBody>
      </p:sp>
      <p:sp>
        <p:nvSpPr>
          <p:cNvPr id="8" name="Rounded Rectangle 7"/>
          <p:cNvSpPr/>
          <p:nvPr/>
        </p:nvSpPr>
        <p:spPr>
          <a:xfrm>
            <a:off x="3456432" y="4114800"/>
            <a:ext cx="2560320" cy="1097280"/>
          </a:xfrm>
          <a:prstGeom prst="roundRect">
            <a:avLst>
              <a:gd name="adj" fmla="val 6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66160" y="4224528"/>
            <a:ext cx="2340864" cy="548640"/>
          </a:xfrm>
          <a:prstGeom prst="rect">
            <a:avLst/>
          </a:prstGeom>
          <a:noFill/>
        </p:spPr>
        <p:txBody>
          <a:bodyPr wrap="square" lIns="0" rIns="0" tIns="0" bIns="0" anchor="t">
            <a:noAutofit/>
          </a:bodyPr>
          <a:lstStyle/>
          <a:p>
            <a:pPr algn="ctr"/>
            <a:r>
              <a:rPr sz="2600" b="1">
                <a:solidFill>
                  <a:srgbClr val="FFFFFF"/>
                </a:solidFill>
                <a:latin typeface="Aptos Narrow"/>
              </a:rPr>
              <a:t>0.937</a:t>
            </a:r>
          </a:p>
        </p:txBody>
      </p:sp>
      <p:sp>
        <p:nvSpPr>
          <p:cNvPr id="10" name="TextBox 9"/>
          <p:cNvSpPr txBox="1"/>
          <p:nvPr/>
        </p:nvSpPr>
        <p:spPr>
          <a:xfrm>
            <a:off x="3566160" y="4773168"/>
            <a:ext cx="2340864" cy="274320"/>
          </a:xfrm>
          <a:prstGeom prst="rect">
            <a:avLst/>
          </a:prstGeom>
          <a:noFill/>
        </p:spPr>
        <p:txBody>
          <a:bodyPr wrap="square" lIns="0" rIns="0" tIns="0" bIns="0" anchor="t">
            <a:noAutofit/>
          </a:bodyPr>
          <a:lstStyle/>
          <a:p>
            <a:pPr algn="ctr"/>
            <a:r>
              <a:rPr sz="950" b="1">
                <a:solidFill>
                  <a:srgbClr val="94A3B8"/>
                </a:solidFill>
                <a:latin typeface="Aptos Narrow"/>
              </a:rPr>
              <a:t>ROC-AUC</a:t>
            </a:r>
          </a:p>
        </p:txBody>
      </p:sp>
      <p:sp>
        <p:nvSpPr>
          <p:cNvPr id="11" name="Rounded Rectangle 10"/>
          <p:cNvSpPr/>
          <p:nvPr/>
        </p:nvSpPr>
        <p:spPr>
          <a:xfrm>
            <a:off x="6153912" y="4114800"/>
            <a:ext cx="2560320" cy="1097280"/>
          </a:xfrm>
          <a:prstGeom prst="roundRect">
            <a:avLst>
              <a:gd name="adj" fmla="val 6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63640" y="4224528"/>
            <a:ext cx="2340864" cy="548640"/>
          </a:xfrm>
          <a:prstGeom prst="rect">
            <a:avLst/>
          </a:prstGeom>
          <a:noFill/>
        </p:spPr>
        <p:txBody>
          <a:bodyPr wrap="square" lIns="0" rIns="0" tIns="0" bIns="0" anchor="t">
            <a:noAutofit/>
          </a:bodyPr>
          <a:lstStyle/>
          <a:p>
            <a:pPr algn="ctr"/>
            <a:r>
              <a:rPr sz="2600" b="1">
                <a:solidFill>
                  <a:srgbClr val="FFFFFF"/>
                </a:solidFill>
                <a:latin typeface="Aptos Narrow"/>
              </a:rPr>
              <a:t>0.855</a:t>
            </a:r>
          </a:p>
        </p:txBody>
      </p:sp>
      <p:sp>
        <p:nvSpPr>
          <p:cNvPr id="13" name="TextBox 12"/>
          <p:cNvSpPr txBox="1"/>
          <p:nvPr/>
        </p:nvSpPr>
        <p:spPr>
          <a:xfrm>
            <a:off x="6263640" y="4773168"/>
            <a:ext cx="2340864" cy="274320"/>
          </a:xfrm>
          <a:prstGeom prst="rect">
            <a:avLst/>
          </a:prstGeom>
          <a:noFill/>
        </p:spPr>
        <p:txBody>
          <a:bodyPr wrap="square" lIns="0" rIns="0" tIns="0" bIns="0" anchor="t">
            <a:noAutofit/>
          </a:bodyPr>
          <a:lstStyle/>
          <a:p>
            <a:pPr algn="ctr"/>
            <a:r>
              <a:rPr sz="950" b="1">
                <a:solidFill>
                  <a:srgbClr val="94A3B8"/>
                </a:solidFill>
                <a:latin typeface="Aptos Narrow"/>
              </a:rPr>
              <a:t>F2 SCORE</a:t>
            </a:r>
          </a:p>
        </p:txBody>
      </p:sp>
      <p:sp>
        <p:nvSpPr>
          <p:cNvPr id="14" name="Rounded Rectangle 13"/>
          <p:cNvSpPr/>
          <p:nvPr/>
        </p:nvSpPr>
        <p:spPr>
          <a:xfrm>
            <a:off x="8851392" y="4114800"/>
            <a:ext cx="2560320" cy="1097280"/>
          </a:xfrm>
          <a:prstGeom prst="roundRect">
            <a:avLst>
              <a:gd name="adj" fmla="val 6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961120" y="4224528"/>
            <a:ext cx="2340864" cy="548640"/>
          </a:xfrm>
          <a:prstGeom prst="rect">
            <a:avLst/>
          </a:prstGeom>
          <a:noFill/>
        </p:spPr>
        <p:txBody>
          <a:bodyPr wrap="square" lIns="0" rIns="0" tIns="0" bIns="0" anchor="t">
            <a:noAutofit/>
          </a:bodyPr>
          <a:lstStyle/>
          <a:p>
            <a:pPr algn="ctr"/>
            <a:r>
              <a:rPr sz="2600" b="1">
                <a:solidFill>
                  <a:srgbClr val="F59E0B"/>
                </a:solidFill>
                <a:latin typeface="Aptos Narrow"/>
              </a:rPr>
              <a:t>0.18 → 0.07</a:t>
            </a:r>
          </a:p>
        </p:txBody>
      </p:sp>
      <p:sp>
        <p:nvSpPr>
          <p:cNvPr id="16" name="TextBox 15"/>
          <p:cNvSpPr txBox="1"/>
          <p:nvPr/>
        </p:nvSpPr>
        <p:spPr>
          <a:xfrm>
            <a:off x="8961120" y="4773168"/>
            <a:ext cx="2340864" cy="274320"/>
          </a:xfrm>
          <a:prstGeom prst="rect">
            <a:avLst/>
          </a:prstGeom>
          <a:noFill/>
        </p:spPr>
        <p:txBody>
          <a:bodyPr wrap="square" lIns="0" rIns="0" tIns="0" bIns="0" anchor="t">
            <a:noAutofit/>
          </a:bodyPr>
          <a:lstStyle/>
          <a:p>
            <a:pPr algn="ctr"/>
            <a:r>
              <a:rPr sz="950" b="1">
                <a:solidFill>
                  <a:srgbClr val="94A3B8"/>
                </a:solidFill>
                <a:latin typeface="Aptos Narrow"/>
              </a:rPr>
              <a:t>AGE-GROUP RECALL GAP</a:t>
            </a:r>
          </a:p>
        </p:txBody>
      </p:sp>
      <p:sp>
        <p:nvSpPr>
          <p:cNvPr id="17" name="TextBox 16"/>
          <p:cNvSpPr txBox="1"/>
          <p:nvPr/>
        </p:nvSpPr>
        <p:spPr>
          <a:xfrm>
            <a:off x="758952" y="5669280"/>
            <a:ext cx="10058400" cy="457200"/>
          </a:xfrm>
          <a:prstGeom prst="rect">
            <a:avLst/>
          </a:prstGeom>
          <a:noFill/>
        </p:spPr>
        <p:txBody>
          <a:bodyPr wrap="square" lIns="0" rIns="0" tIns="0" bIns="0" anchor="t">
            <a:noAutofit/>
          </a:bodyPr>
          <a:lstStyle/>
          <a:p>
            <a:pPr algn="l"/>
            <a:r>
              <a:rPr sz="1150" b="1">
                <a:solidFill>
                  <a:srgbClr val="F8FAFC"/>
                </a:solidFill>
                <a:latin typeface="Aptos Narrow"/>
              </a:rPr>
              <a:t>Rex Villamar  |  October 2026  |  PGD in Artificial Intelligence and Machine Learning</a:t>
            </a:r>
          </a:p>
          <a:p>
            <a:pPr algn="l"/>
            <a:r>
              <a:rPr sz="1000" b="0">
                <a:solidFill>
                  <a:srgbClr val="94A3B8"/>
                </a:solidFill>
                <a:latin typeface="Aptos Narrow"/>
              </a:rPr>
              <a:t>Data: UCI Predict Students' Dropout and Academic Success (Realinho et al., 2022), 4,424 students</a:t>
            </a:r>
          </a:p>
        </p:txBody>
      </p:sp>
    </p:spTree>
    <p:extLst>
      <p:ext uri="{BB962C8B-B14F-4D97-AF65-F5344CB8AC3E}">
        <p14:creationId xmlns:p14="http://schemas.microsoft.com/office/powerpoint/2010/main" val="525664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4EFC4883-13A3-34DC-205F-553FDE48C67B}"/>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11" name="Slide Number Placeholder 10">
            <a:extLst>
              <a:ext uri="{FF2B5EF4-FFF2-40B4-BE49-F238E27FC236}">
                <a16:creationId xmlns:a16="http://schemas.microsoft.com/office/drawing/2014/main" id="{8D381FD6-BEC8-20B8-76BC-B5AE8729B099}"/>
              </a:ext>
            </a:extLst>
          </p:cNvPr>
          <p:cNvSpPr>
            <a:spLocks noGrp="1"/>
          </p:cNvSpPr>
          <p:nvPr>
            <p:ph type="sldNum" sz="quarter" idx="11"/>
          </p:nvPr>
        </p:nvSpPr>
        <p:spPr/>
        <p:txBody>
          <a:bodyPr/>
          <a:lstStyle/>
          <a:p>
            <a:fld id="{B67B645E-C5E5-4727-B977-D372A0AA71D9}" type="slidenum">
              <a:rPr lang="en-US" smtClean="0"/>
              <a:pPr/>
              <a:t>2</a:t>
            </a:fld>
            <a:endParaRPr lang="en-US" dirty="0"/>
          </a:p>
        </p:txBody>
      </p:sp>
      <p:sp>
        <p:nvSpPr>
          <p:cNvPr id="12" name="TextBox 11"/>
          <p:cNvSpPr txBox="1"/>
          <p:nvPr/>
        </p:nvSpPr>
        <p:spPr>
          <a:xfrm>
            <a:off x="612648" y="457200"/>
            <a:ext cx="7315200" cy="182880"/>
          </a:xfrm>
          <a:prstGeom prst="rect">
            <a:avLst/>
          </a:prstGeom>
          <a:noFill/>
        </p:spPr>
        <p:txBody>
          <a:bodyPr wrap="square" lIns="0" rIns="0" tIns="0" bIns="0" anchor="t">
            <a:noAutofit/>
          </a:bodyPr>
          <a:lstStyle/>
          <a:p>
            <a:pPr algn="l"/>
            <a:r>
              <a:rPr sz="1000" b="1">
                <a:solidFill>
                  <a:srgbClr val="0284C7"/>
                </a:solidFill>
                <a:latin typeface="Aptos Narrow"/>
              </a:rPr>
              <a:t>STEP 1: PROBLEM FRAMING</a:t>
            </a:r>
          </a:p>
        </p:txBody>
      </p:sp>
      <p:sp>
        <p:nvSpPr>
          <p:cNvPr id="13" name="TextBox 12"/>
          <p:cNvSpPr txBox="1"/>
          <p:nvPr/>
        </p:nvSpPr>
        <p:spPr>
          <a:xfrm>
            <a:off x="612648" y="667512"/>
            <a:ext cx="10972800" cy="457200"/>
          </a:xfrm>
          <a:prstGeom prst="rect">
            <a:avLst/>
          </a:prstGeom>
          <a:noFill/>
        </p:spPr>
        <p:txBody>
          <a:bodyPr wrap="square" lIns="0" rIns="0" tIns="0" bIns="0" anchor="t">
            <a:noAutofit/>
          </a:bodyPr>
          <a:lstStyle/>
          <a:p>
            <a:pPr algn="l"/>
            <a:r>
              <a:rPr sz="2400" b="1">
                <a:solidFill>
                  <a:srgbClr val="0F172A"/>
                </a:solidFill>
                <a:latin typeface="Aptos Narrow"/>
              </a:rPr>
              <a:t>Task, Decision Point and Evaluation Protocol</a:t>
            </a:r>
          </a:p>
        </p:txBody>
      </p:sp>
      <p:sp>
        <p:nvSpPr>
          <p:cNvPr id="14" name="Rounded Rectangle 13"/>
          <p:cNvSpPr/>
          <p:nvPr/>
        </p:nvSpPr>
        <p:spPr>
          <a:xfrm>
            <a:off x="612648" y="1508760"/>
            <a:ext cx="5577840" cy="452628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8" y="1645920"/>
            <a:ext cx="5120640" cy="4297680"/>
          </a:xfrm>
          <a:prstGeom prst="rect">
            <a:avLst/>
          </a:prstGeom>
          <a:noFill/>
        </p:spPr>
        <p:txBody>
          <a:bodyPr wrap="square" lIns="0" rIns="0" tIns="0" bIns="0" anchor="t">
            <a:noAutofit/>
          </a:bodyPr>
          <a:lstStyle/>
          <a:p>
            <a:pPr algn="l">
              <a:spcAft>
                <a:spcPts val="400"/>
              </a:spcAft>
            </a:pPr>
            <a:r>
              <a:rPr sz="1000" b="1">
                <a:solidFill>
                  <a:srgbClr val="0284C7"/>
                </a:solidFill>
                <a:latin typeface="Aptos Narrow"/>
              </a:rPr>
              <a:t>TASK AND TARGET</a:t>
            </a:r>
          </a:p>
          <a:p>
            <a:pPr algn="l">
              <a:spcAft>
                <a:spcPts val="800"/>
              </a:spcAft>
            </a:pPr>
            <a:r>
              <a:rPr sz="1200" b="1">
                <a:solidFill>
                  <a:srgbClr val="0F172A"/>
                </a:solidFill>
                <a:latin typeface="Aptos Narrow"/>
              </a:rPr>
              <a:t>Task: </a:t>
            </a:r>
            <a:r>
              <a:rPr sz="1200" b="0">
                <a:solidFill>
                  <a:srgbClr val="475569"/>
                </a:solidFill>
                <a:latin typeface="Aptos Narrow"/>
              </a:rPr>
              <a:t>supervised binary classification; y = 1 for Dropout, y = 0 for Retained (Graduate or Enrolled).</a:t>
            </a:r>
          </a:p>
          <a:p>
            <a:pPr algn="l">
              <a:spcAft>
                <a:spcPts val="800"/>
              </a:spcAft>
            </a:pPr>
            <a:r>
              <a:rPr sz="1200" b="1">
                <a:solidFill>
                  <a:srgbClr val="0F172A"/>
                </a:solidFill>
                <a:latin typeface="Aptos Narrow"/>
              </a:rPr>
              <a:t>Decision point: </a:t>
            </a:r>
            <a:r>
              <a:rPr sz="1200" b="0">
                <a:solidFill>
                  <a:srgbClr val="475569"/>
                </a:solidFill>
                <a:latin typeface="Aptos Narrow"/>
              </a:rPr>
              <a:t>end of Semester 2, so Semester 1 and 2 records are legitimate inputs.</a:t>
            </a:r>
          </a:p>
          <a:p>
            <a:pPr algn="l">
              <a:spcAft>
                <a:spcPts val="800"/>
              </a:spcAft>
            </a:pPr>
            <a:r>
              <a:rPr sz="1200" b="1">
                <a:solidFill>
                  <a:srgbClr val="0F172A"/>
                </a:solidFill>
                <a:latin typeface="Aptos Narrow"/>
              </a:rPr>
              <a:t>Inputs: </a:t>
            </a:r>
            <a:r>
              <a:rPr sz="1200" b="0">
                <a:solidFill>
                  <a:srgbClr val="475569"/>
                </a:solidFill>
                <a:latin typeface="Aptos Narrow"/>
              </a:rPr>
              <a:t>38 features (34 raw plus 4 engineered). Gender and Marital status are withheld and used only to audit fairness.</a:t>
            </a:r>
          </a:p>
          <a:p>
            <a:pPr algn="l">
              <a:spcAft>
                <a:spcPts val="800"/>
              </a:spcAft>
            </a:pPr>
            <a:r>
              <a:rPr sz="1200" b="1">
                <a:solidFill>
                  <a:srgbClr val="0F172A"/>
                </a:solidFill>
                <a:latin typeface="Aptos Narrow"/>
              </a:rPr>
              <a:t>Success: </a:t>
            </a:r>
            <a:r>
              <a:rPr sz="1200" b="0">
                <a:solidFill>
                  <a:srgbClr val="475569"/>
                </a:solidFill>
                <a:latin typeface="Aptos Narrow"/>
              </a:rPr>
              <a:t>recall ≥ 0.85 is the deployment criterion; F2 ranks models; ROC-AUC and PR-AUC are reported.</a:t>
            </a:r>
          </a:p>
          <a:p>
            <a:pPr algn="l">
              <a:spcAft>
                <a:spcPts val="400"/>
              </a:spcAft>
            </a:pPr>
            <a:r>
              <a:rPr sz="1000" b="1">
                <a:solidFill>
                  <a:srgbClr val="0284C7"/>
                </a:solidFill>
                <a:latin typeface="Aptos Narrow"/>
              </a:rPr>
              <a:t>EVALUATION PROTOCOL</a:t>
            </a:r>
          </a:p>
          <a:p>
            <a:pPr algn="l">
              <a:spcAft>
                <a:spcPts val="500"/>
              </a:spcAft>
            </a:pPr>
            <a:r>
              <a:rPr sz="1200" b="0">
                <a:solidFill>
                  <a:srgbClr val="475569"/>
                </a:solidFill>
                <a:latin typeface="Aptos Narrow"/>
              </a:rPr>
              <a:t>Stratified 80/20 split (random_state = 42).</a:t>
            </a:r>
          </a:p>
          <a:p>
            <a:pPr algn="l">
              <a:spcAft>
                <a:spcPts val="500"/>
              </a:spcAft>
            </a:pPr>
            <a:r>
              <a:rPr sz="1200" b="0">
                <a:solidFill>
                  <a:srgbClr val="475569"/>
                </a:solidFill>
                <a:latin typeface="Aptos Narrow"/>
              </a:rPr>
              <a:t>Tuning and selection use 5-fold CV F2 on the training set only.</a:t>
            </a:r>
          </a:p>
          <a:p>
            <a:pPr algn="l">
              <a:spcAft>
                <a:spcPts val="500"/>
              </a:spcAft>
            </a:pPr>
            <a:r>
              <a:rPr sz="1200" b="0">
                <a:solidFill>
                  <a:srgbClr val="475569"/>
                </a:solidFill>
                <a:latin typeface="Aptos Narrow"/>
              </a:rPr>
              <a:t>Scaler, RFECV and PCA are fitted on training data only.</a:t>
            </a:r>
          </a:p>
          <a:p>
            <a:pPr algn="l">
              <a:spcAft>
                <a:spcPts val="500"/>
              </a:spcAft>
            </a:pPr>
            <a:r>
              <a:rPr sz="1200" b="0">
                <a:solidFill>
                  <a:srgbClr val="475569"/>
                </a:solidFill>
                <a:latin typeface="Aptos Narrow"/>
              </a:rPr>
              <a:t>The test set is scored once, at a fixed threshold of 0.50.</a:t>
            </a:r>
          </a:p>
        </p:txBody>
      </p:sp>
      <p:graphicFrame>
        <p:nvGraphicFramePr>
          <p:cNvPr id="16" name="Table 15"/>
          <p:cNvGraphicFramePr>
            <a:graphicFrameLocks noGrp="1"/>
          </p:cNvGraphicFramePr>
          <p:nvPr/>
        </p:nvGraphicFramePr>
        <p:xfrm>
          <a:off x="6400800" y="1554480"/>
          <a:ext cx="5184647" cy="2194560"/>
        </p:xfrm>
        <a:graphic>
          <a:graphicData uri="http://schemas.openxmlformats.org/drawingml/2006/table">
            <a:tbl>
              <a:tblPr firstRow="0" bandRow="0">
                <a:tableStyleId>{5C22544A-7EE6-4342-B048-85BDC9FD1C3A}</a:tableStyleId>
              </a:tblPr>
              <a:tblGrid>
                <a:gridCol w="1463040"/>
                <a:gridCol w="1828800"/>
                <a:gridCol w="1892807"/>
              </a:tblGrid>
              <a:tr h="731520">
                <a:tc>
                  <a:txBody>
                    <a:bodyPr wrap="square"/>
                    <a:lstStyle/>
                    <a:p>
                      <a:pPr algn="l"/>
                      <a:r>
                        <a:rPr sz="1100" b="1">
                          <a:solidFill>
                            <a:srgbClr val="FFFFFF"/>
                          </a:solidFill>
                          <a:latin typeface="Aptos Narrow"/>
                        </a:rPr>
                        <a:t/>
                      </a:r>
                    </a:p>
                  </a:txBody>
                  <a:tcPr marL="73152" marR="73152" marT="27432" marB="27432" anchor="ctr">
                    <a:solidFill>
                      <a:srgbClr val="0F172A"/>
                    </a:solidFill>
                  </a:tcPr>
                </a:tc>
                <a:tc>
                  <a:txBody>
                    <a:bodyPr wrap="square"/>
                    <a:lstStyle/>
                    <a:p>
                      <a:pPr algn="ctr"/>
                      <a:r>
                        <a:rPr sz="1100" b="1">
                          <a:solidFill>
                            <a:srgbClr val="FFFFFF"/>
                          </a:solidFill>
                          <a:latin typeface="Aptos Narrow"/>
                        </a:rPr>
                        <a:t>Flagged (ŷ = 1)</a:t>
                      </a:r>
                    </a:p>
                  </a:txBody>
                  <a:tcPr marL="73152" marR="73152" marT="27432" marB="27432" anchor="ctr">
                    <a:solidFill>
                      <a:srgbClr val="0F172A"/>
                    </a:solidFill>
                  </a:tcPr>
                </a:tc>
                <a:tc>
                  <a:txBody>
                    <a:bodyPr wrap="square"/>
                    <a:lstStyle/>
                    <a:p>
                      <a:pPr algn="ctr"/>
                      <a:r>
                        <a:rPr sz="1100" b="1">
                          <a:solidFill>
                            <a:srgbClr val="FFFFFF"/>
                          </a:solidFill>
                          <a:latin typeface="Aptos Narrow"/>
                        </a:rPr>
                        <a:t>Not flagged (ŷ = 0)</a:t>
                      </a:r>
                    </a:p>
                  </a:txBody>
                  <a:tcPr marL="73152" marR="73152" marT="27432" marB="27432" anchor="ctr">
                    <a:solidFill>
                      <a:srgbClr val="0F172A"/>
                    </a:solidFill>
                  </a:tcPr>
                </a:tc>
              </a:tr>
              <a:tr h="731520">
                <a:tc>
                  <a:txBody>
                    <a:bodyPr wrap="square"/>
                    <a:lstStyle/>
                    <a:p>
                      <a:pPr algn="l"/>
                      <a:r>
                        <a:rPr sz="1100" b="1">
                          <a:solidFill>
                            <a:srgbClr val="0F172A"/>
                          </a:solidFill>
                          <a:latin typeface="Aptos Narrow"/>
                        </a:rPr>
                        <a:t>Dropout (y = 1)</a:t>
                      </a:r>
                    </a:p>
                  </a:txBody>
                  <a:tcPr marL="73152" marR="73152" marT="27432" marB="27432" anchor="ctr">
                    <a:solidFill>
                      <a:srgbClr val="FFFFFF"/>
                    </a:solidFill>
                  </a:tcPr>
                </a:tc>
                <a:tc>
                  <a:txBody>
                    <a:bodyPr wrap="square"/>
                    <a:lstStyle/>
                    <a:p>
                      <a:pPr algn="ctr"/>
                      <a:r>
                        <a:rPr sz="1100" b="0">
                          <a:solidFill>
                            <a:srgbClr val="0F172A"/>
                          </a:solidFill>
                          <a:latin typeface="Aptos Narrow"/>
                        </a:rPr>
                        <a:t>TP: intervention possible</a:t>
                      </a:r>
                    </a:p>
                  </a:txBody>
                  <a:tcPr marL="73152" marR="73152" marT="27432" marB="27432" anchor="ctr">
                    <a:solidFill>
                      <a:srgbClr val="FFFFFF"/>
                    </a:solidFill>
                  </a:tcPr>
                </a:tc>
                <a:tc>
                  <a:txBody>
                    <a:bodyPr wrap="square"/>
                    <a:lstStyle/>
                    <a:p>
                      <a:pPr algn="ctr"/>
                      <a:r>
                        <a:rPr sz="1100" b="1">
                          <a:solidFill>
                            <a:srgbClr val="EF4444"/>
                          </a:solidFill>
                          <a:latin typeface="Aptos Narrow"/>
                        </a:rPr>
                        <a:t>FN: lost student (high cost)</a:t>
                      </a:r>
                    </a:p>
                  </a:txBody>
                  <a:tcPr marL="73152" marR="73152" marT="27432" marB="27432" anchor="ctr">
                    <a:solidFill>
                      <a:srgbClr val="FFFFFF"/>
                    </a:solidFill>
                  </a:tcPr>
                </a:tc>
              </a:tr>
              <a:tr h="731520">
                <a:tc>
                  <a:txBody>
                    <a:bodyPr wrap="square"/>
                    <a:lstStyle/>
                    <a:p>
                      <a:pPr algn="l"/>
                      <a:r>
                        <a:rPr sz="1100" b="1">
                          <a:solidFill>
                            <a:srgbClr val="0F172A"/>
                          </a:solidFill>
                          <a:latin typeface="Aptos Narrow"/>
                        </a:rPr>
                        <a:t>Retained (y = 0)</a:t>
                      </a:r>
                    </a:p>
                  </a:txBody>
                  <a:tcPr marL="73152" marR="73152" marT="27432" marB="27432" anchor="ctr">
                    <a:solidFill>
                      <a:srgbClr val="FFFFFF"/>
                    </a:solidFill>
                  </a:tcPr>
                </a:tc>
                <a:tc>
                  <a:txBody>
                    <a:bodyPr wrap="square"/>
                    <a:lstStyle/>
                    <a:p>
                      <a:pPr algn="ctr"/>
                      <a:r>
                        <a:rPr sz="1100" b="0">
                          <a:solidFill>
                            <a:srgbClr val="0F172A"/>
                          </a:solidFill>
                          <a:latin typeface="Aptos Narrow"/>
                        </a:rPr>
                        <a:t>FP: advisory check-in (low cost)</a:t>
                      </a:r>
                    </a:p>
                  </a:txBody>
                  <a:tcPr marL="73152" marR="73152" marT="27432" marB="27432" anchor="ctr">
                    <a:solidFill>
                      <a:srgbClr val="FFFFFF"/>
                    </a:solidFill>
                  </a:tcPr>
                </a:tc>
                <a:tc>
                  <a:txBody>
                    <a:bodyPr wrap="square"/>
                    <a:lstStyle/>
                    <a:p>
                      <a:pPr algn="ctr"/>
                      <a:r>
                        <a:rPr sz="1100" b="0">
                          <a:solidFill>
                            <a:srgbClr val="0F172A"/>
                          </a:solidFill>
                          <a:latin typeface="Aptos Narrow"/>
                        </a:rPr>
                        <a:t>TN: no action</a:t>
                      </a:r>
                    </a:p>
                  </a:txBody>
                  <a:tcPr marL="73152" marR="73152" marT="27432" marB="27432" anchor="ctr">
                    <a:solidFill>
                      <a:srgbClr val="FFFFFF"/>
                    </a:solidFill>
                  </a:tcPr>
                </a:tc>
              </a:tr>
            </a:tbl>
          </a:graphicData>
        </a:graphic>
      </p:graphicFrame>
      <p:sp>
        <p:nvSpPr>
          <p:cNvPr id="17" name="Rounded Rectangle 16"/>
          <p:cNvSpPr/>
          <p:nvPr/>
        </p:nvSpPr>
        <p:spPr>
          <a:xfrm>
            <a:off x="6400800" y="3931920"/>
            <a:ext cx="5184648" cy="210312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29400" y="4069080"/>
            <a:ext cx="4754880" cy="1874519"/>
          </a:xfrm>
          <a:prstGeom prst="rect">
            <a:avLst/>
          </a:prstGeom>
          <a:noFill/>
        </p:spPr>
        <p:txBody>
          <a:bodyPr wrap="square" lIns="0" rIns="0" tIns="0" bIns="0" anchor="t">
            <a:noAutofit/>
          </a:bodyPr>
          <a:lstStyle/>
          <a:p>
            <a:pPr algn="l">
              <a:spcAft>
                <a:spcPts val="400"/>
              </a:spcAft>
            </a:pPr>
            <a:r>
              <a:rPr sz="1000" b="1">
                <a:solidFill>
                  <a:srgbClr val="0284C7"/>
                </a:solidFill>
                <a:latin typeface="Aptos Narrow"/>
              </a:rPr>
              <a:t>WHY RECALL FIRST, AND WHY F2</a:t>
            </a:r>
          </a:p>
          <a:p>
            <a:pPr algn="l">
              <a:spcAft>
                <a:spcPts val="600"/>
              </a:spcAft>
            </a:pPr>
            <a:r>
              <a:rPr sz="1100" b="0">
                <a:solidFill>
                  <a:srgbClr val="475569"/>
                </a:solidFill>
                <a:latin typeface="Aptos Narrow"/>
              </a:rPr>
              <a:t>F2 = 5PR / (4P + R), the F-beta score with beta = 2, weighs recall twice as heavily as precision.</a:t>
            </a:r>
          </a:p>
          <a:p>
            <a:pPr algn="l"/>
            <a:r>
              <a:rPr sz="1100" b="0">
                <a:solidFill>
                  <a:srgbClr val="475569"/>
                </a:solidFill>
                <a:latin typeface="Aptos Narrow"/>
              </a:rPr>
              <a:t>A missed dropout costs far more than an unnecessary check-in, so recall leads and precision is tracked as the price of that recall.</a:t>
            </a:r>
          </a:p>
        </p:txBody>
      </p:sp>
    </p:spTree>
    <p:extLst>
      <p:ext uri="{BB962C8B-B14F-4D97-AF65-F5344CB8AC3E}">
        <p14:creationId xmlns:p14="http://schemas.microsoft.com/office/powerpoint/2010/main" val="4132634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67C5AF7-CDD6-56A5-5EB6-69E6D1E59026}"/>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6" name="Slide Number Placeholder 5">
            <a:extLst>
              <a:ext uri="{FF2B5EF4-FFF2-40B4-BE49-F238E27FC236}">
                <a16:creationId xmlns:a16="http://schemas.microsoft.com/office/drawing/2014/main" id="{C42266E9-E483-4DD9-B83F-8CFAD0932F58}"/>
              </a:ext>
            </a:extLst>
          </p:cNvPr>
          <p:cNvSpPr>
            <a:spLocks noGrp="1"/>
          </p:cNvSpPr>
          <p:nvPr>
            <p:ph type="sldNum" sz="quarter" idx="11"/>
          </p:nvPr>
        </p:nvSpPr>
        <p:spPr/>
        <p:txBody>
          <a:bodyPr/>
          <a:lstStyle/>
          <a:p>
            <a:fld id="{B67B645E-C5E5-4727-B977-D372A0AA71D9}" type="slidenum">
              <a:rPr lang="en-US" smtClean="0"/>
              <a:pPr/>
              <a:t>3</a:t>
            </a:fld>
            <a:endParaRPr lang="en-US" dirty="0"/>
          </a:p>
        </p:txBody>
      </p:sp>
      <p:sp>
        <p:nvSpPr>
          <p:cNvPr id="7" name="TextBox 6"/>
          <p:cNvSpPr txBox="1"/>
          <p:nvPr/>
        </p:nvSpPr>
        <p:spPr>
          <a:xfrm>
            <a:off x="612648" y="457200"/>
            <a:ext cx="7315200" cy="182880"/>
          </a:xfrm>
          <a:prstGeom prst="rect">
            <a:avLst/>
          </a:prstGeom>
          <a:noFill/>
        </p:spPr>
        <p:txBody>
          <a:bodyPr wrap="square" lIns="0" rIns="0" tIns="0" bIns="0" anchor="t">
            <a:noAutofit/>
          </a:bodyPr>
          <a:lstStyle/>
          <a:p>
            <a:pPr algn="l"/>
            <a:r>
              <a:rPr sz="1000" b="1">
                <a:solidFill>
                  <a:srgbClr val="0284C7"/>
                </a:solidFill>
                <a:latin typeface="Aptos Narrow"/>
              </a:rPr>
              <a:t>STEP 2: DATA UNDERSTANDING</a:t>
            </a:r>
          </a:p>
        </p:txBody>
      </p:sp>
      <p:sp>
        <p:nvSpPr>
          <p:cNvPr id="8" name="TextBox 7"/>
          <p:cNvSpPr txBox="1"/>
          <p:nvPr/>
        </p:nvSpPr>
        <p:spPr>
          <a:xfrm>
            <a:off x="612648" y="667512"/>
            <a:ext cx="10972800" cy="457200"/>
          </a:xfrm>
          <a:prstGeom prst="rect">
            <a:avLst/>
          </a:prstGeom>
          <a:noFill/>
        </p:spPr>
        <p:txBody>
          <a:bodyPr wrap="square" lIns="0" rIns="0" tIns="0" bIns="0" anchor="t">
            <a:noAutofit/>
          </a:bodyPr>
          <a:lstStyle/>
          <a:p>
            <a:pPr algn="l"/>
            <a:r>
              <a:rPr sz="2400" b="1">
                <a:solidFill>
                  <a:srgbClr val="0F172A"/>
                </a:solidFill>
                <a:latin typeface="Aptos Narrow"/>
              </a:rPr>
              <a:t>Dataset, Quality Audit and Feature Dictionary</a:t>
            </a:r>
          </a:p>
        </p:txBody>
      </p:sp>
      <p:sp>
        <p:nvSpPr>
          <p:cNvPr id="9" name="Rounded Rectangle 8"/>
          <p:cNvSpPr/>
          <p:nvPr/>
        </p:nvSpPr>
        <p:spPr>
          <a:xfrm>
            <a:off x="612648" y="1508760"/>
            <a:ext cx="2651760" cy="100584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04088" y="1581912"/>
            <a:ext cx="2468879" cy="553212"/>
          </a:xfrm>
          <a:prstGeom prst="rect">
            <a:avLst/>
          </a:prstGeom>
          <a:noFill/>
        </p:spPr>
        <p:txBody>
          <a:bodyPr wrap="square" lIns="0" rIns="0" tIns="0" bIns="0" anchor="t">
            <a:noAutofit/>
          </a:bodyPr>
          <a:lstStyle/>
          <a:p>
            <a:pPr algn="ctr"/>
            <a:r>
              <a:rPr sz="2800" b="1">
                <a:solidFill>
                  <a:srgbClr val="0284C7"/>
                </a:solidFill>
                <a:latin typeface="Aptos Narrow"/>
              </a:rPr>
              <a:t>4,424</a:t>
            </a:r>
          </a:p>
        </p:txBody>
      </p:sp>
      <p:sp>
        <p:nvSpPr>
          <p:cNvPr id="11" name="TextBox 10"/>
          <p:cNvSpPr txBox="1"/>
          <p:nvPr/>
        </p:nvSpPr>
        <p:spPr>
          <a:xfrm>
            <a:off x="704088" y="2132380"/>
            <a:ext cx="2468879" cy="352044"/>
          </a:xfrm>
          <a:prstGeom prst="rect">
            <a:avLst/>
          </a:prstGeom>
          <a:noFill/>
        </p:spPr>
        <p:txBody>
          <a:bodyPr wrap="square" lIns="0" rIns="0" tIns="0" bIns="0" anchor="t">
            <a:noAutofit/>
          </a:bodyPr>
          <a:lstStyle/>
          <a:p>
            <a:pPr algn="ctr"/>
            <a:r>
              <a:rPr sz="1000" b="1">
                <a:solidFill>
                  <a:srgbClr val="64748B"/>
                </a:solidFill>
                <a:latin typeface="Aptos Narrow"/>
              </a:rPr>
              <a:t>STUDENTS</a:t>
            </a:r>
          </a:p>
        </p:txBody>
      </p:sp>
      <p:sp>
        <p:nvSpPr>
          <p:cNvPr id="12" name="Rounded Rectangle 11"/>
          <p:cNvSpPr/>
          <p:nvPr/>
        </p:nvSpPr>
        <p:spPr>
          <a:xfrm>
            <a:off x="3401568" y="1508760"/>
            <a:ext cx="2651760" cy="100584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93008" y="1581912"/>
            <a:ext cx="2468879" cy="553212"/>
          </a:xfrm>
          <a:prstGeom prst="rect">
            <a:avLst/>
          </a:prstGeom>
          <a:noFill/>
        </p:spPr>
        <p:txBody>
          <a:bodyPr wrap="square" lIns="0" rIns="0" tIns="0" bIns="0" anchor="t">
            <a:noAutofit/>
          </a:bodyPr>
          <a:lstStyle/>
          <a:p>
            <a:pPr algn="ctr"/>
            <a:r>
              <a:rPr sz="2800" b="1">
                <a:solidFill>
                  <a:srgbClr val="0284C7"/>
                </a:solidFill>
                <a:latin typeface="Aptos Narrow"/>
              </a:rPr>
              <a:t>36</a:t>
            </a:r>
          </a:p>
        </p:txBody>
      </p:sp>
      <p:sp>
        <p:nvSpPr>
          <p:cNvPr id="14" name="TextBox 13"/>
          <p:cNvSpPr txBox="1"/>
          <p:nvPr/>
        </p:nvSpPr>
        <p:spPr>
          <a:xfrm>
            <a:off x="3493008" y="2132380"/>
            <a:ext cx="2468879" cy="352044"/>
          </a:xfrm>
          <a:prstGeom prst="rect">
            <a:avLst/>
          </a:prstGeom>
          <a:noFill/>
        </p:spPr>
        <p:txBody>
          <a:bodyPr wrap="square" lIns="0" rIns="0" tIns="0" bIns="0" anchor="t">
            <a:noAutofit/>
          </a:bodyPr>
          <a:lstStyle/>
          <a:p>
            <a:pPr algn="ctr"/>
            <a:r>
              <a:rPr sz="1000" b="1">
                <a:solidFill>
                  <a:srgbClr val="64748B"/>
                </a:solidFill>
                <a:latin typeface="Aptos Narrow"/>
              </a:rPr>
              <a:t>RAW FEATURES + TARGET</a:t>
            </a:r>
          </a:p>
        </p:txBody>
      </p:sp>
      <p:sp>
        <p:nvSpPr>
          <p:cNvPr id="15" name="Rounded Rectangle 14"/>
          <p:cNvSpPr/>
          <p:nvPr/>
        </p:nvSpPr>
        <p:spPr>
          <a:xfrm>
            <a:off x="6190488" y="1508760"/>
            <a:ext cx="2651760" cy="100584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281927" y="1581912"/>
            <a:ext cx="2468879" cy="553212"/>
          </a:xfrm>
          <a:prstGeom prst="rect">
            <a:avLst/>
          </a:prstGeom>
          <a:noFill/>
        </p:spPr>
        <p:txBody>
          <a:bodyPr wrap="square" lIns="0" rIns="0" tIns="0" bIns="0" anchor="t">
            <a:noAutofit/>
          </a:bodyPr>
          <a:lstStyle/>
          <a:p>
            <a:pPr algn="ctr"/>
            <a:r>
              <a:rPr sz="2800" b="1">
                <a:solidFill>
                  <a:srgbClr val="10B981"/>
                </a:solidFill>
                <a:latin typeface="Aptos Narrow"/>
              </a:rPr>
              <a:t>0</a:t>
            </a:r>
          </a:p>
        </p:txBody>
      </p:sp>
      <p:sp>
        <p:nvSpPr>
          <p:cNvPr id="17" name="TextBox 16"/>
          <p:cNvSpPr txBox="1"/>
          <p:nvPr/>
        </p:nvSpPr>
        <p:spPr>
          <a:xfrm>
            <a:off x="6281927" y="2132380"/>
            <a:ext cx="2468879" cy="352044"/>
          </a:xfrm>
          <a:prstGeom prst="rect">
            <a:avLst/>
          </a:prstGeom>
          <a:noFill/>
        </p:spPr>
        <p:txBody>
          <a:bodyPr wrap="square" lIns="0" rIns="0" tIns="0" bIns="0" anchor="t">
            <a:noAutofit/>
          </a:bodyPr>
          <a:lstStyle/>
          <a:p>
            <a:pPr algn="ctr"/>
            <a:r>
              <a:rPr sz="1000" b="1">
                <a:solidFill>
                  <a:srgbClr val="64748B"/>
                </a:solidFill>
                <a:latin typeface="Aptos Narrow"/>
              </a:rPr>
              <a:t>MISSING VALUES</a:t>
            </a:r>
          </a:p>
        </p:txBody>
      </p:sp>
      <p:sp>
        <p:nvSpPr>
          <p:cNvPr id="18" name="Rounded Rectangle 17"/>
          <p:cNvSpPr/>
          <p:nvPr/>
        </p:nvSpPr>
        <p:spPr>
          <a:xfrm>
            <a:off x="8979407" y="1508760"/>
            <a:ext cx="2651760" cy="100584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070847" y="1581912"/>
            <a:ext cx="2468879" cy="553212"/>
          </a:xfrm>
          <a:prstGeom prst="rect">
            <a:avLst/>
          </a:prstGeom>
          <a:noFill/>
        </p:spPr>
        <p:txBody>
          <a:bodyPr wrap="square" lIns="0" rIns="0" tIns="0" bIns="0" anchor="t">
            <a:noAutofit/>
          </a:bodyPr>
          <a:lstStyle/>
          <a:p>
            <a:pPr algn="ctr"/>
            <a:r>
              <a:rPr sz="2800" b="1">
                <a:solidFill>
                  <a:srgbClr val="10B981"/>
                </a:solidFill>
                <a:latin typeface="Aptos Narrow"/>
              </a:rPr>
              <a:t>0</a:t>
            </a:r>
          </a:p>
        </p:txBody>
      </p:sp>
      <p:sp>
        <p:nvSpPr>
          <p:cNvPr id="20" name="TextBox 19"/>
          <p:cNvSpPr txBox="1"/>
          <p:nvPr/>
        </p:nvSpPr>
        <p:spPr>
          <a:xfrm>
            <a:off x="9070847" y="2132380"/>
            <a:ext cx="2468879" cy="352044"/>
          </a:xfrm>
          <a:prstGeom prst="rect">
            <a:avLst/>
          </a:prstGeom>
          <a:noFill/>
        </p:spPr>
        <p:txBody>
          <a:bodyPr wrap="square" lIns="0" rIns="0" tIns="0" bIns="0" anchor="t">
            <a:noAutofit/>
          </a:bodyPr>
          <a:lstStyle/>
          <a:p>
            <a:pPr algn="ctr"/>
            <a:r>
              <a:rPr sz="1000" b="1">
                <a:solidFill>
                  <a:srgbClr val="64748B"/>
                </a:solidFill>
                <a:latin typeface="Aptos Narrow"/>
              </a:rPr>
              <a:t>DUPLICATE ROWS</a:t>
            </a:r>
          </a:p>
        </p:txBody>
      </p:sp>
      <p:sp>
        <p:nvSpPr>
          <p:cNvPr id="21" name="Rounded Rectangle 20"/>
          <p:cNvSpPr/>
          <p:nvPr/>
        </p:nvSpPr>
        <p:spPr>
          <a:xfrm>
            <a:off x="612648" y="2697480"/>
            <a:ext cx="5394960" cy="333756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22" name="Chart 21"/>
          <p:cNvGraphicFramePr>
            <a:graphicFrameLocks noGrp="1"/>
          </p:cNvGraphicFramePr>
          <p:nvPr/>
        </p:nvGraphicFramePr>
        <p:xfrm>
          <a:off x="731520" y="2743200"/>
          <a:ext cx="5166360" cy="3246120"/>
        </p:xfrm>
        <a:graphic>
          <a:graphicData uri="http://schemas.openxmlformats.org/drawingml/2006/chart">
            <c:chart xmlns:c="http://schemas.openxmlformats.org/drawingml/2006/chart" r:id="rId7"/>
          </a:graphicData>
        </a:graphic>
      </p:graphicFrame>
      <p:sp>
        <p:nvSpPr>
          <p:cNvPr id="23" name="Rounded Rectangle 22"/>
          <p:cNvSpPr/>
          <p:nvPr/>
        </p:nvSpPr>
        <p:spPr>
          <a:xfrm>
            <a:off x="6217920" y="2697480"/>
            <a:ext cx="5367528" cy="333756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24" name="Table 23"/>
          <p:cNvGraphicFramePr>
            <a:graphicFrameLocks noGrp="1"/>
          </p:cNvGraphicFramePr>
          <p:nvPr/>
        </p:nvGraphicFramePr>
        <p:xfrm>
          <a:off x="6355080" y="2834640"/>
          <a:ext cx="5074920" cy="2514600"/>
        </p:xfrm>
        <a:graphic>
          <a:graphicData uri="http://schemas.openxmlformats.org/drawingml/2006/table">
            <a:tbl>
              <a:tblPr firstRow="0" bandRow="0">
                <a:tableStyleId>{5C22544A-7EE6-4342-B048-85BDC9FD1C3A}</a:tableStyleId>
              </a:tblPr>
              <a:tblGrid>
                <a:gridCol w="1737360"/>
                <a:gridCol w="411480"/>
                <a:gridCol w="2926080"/>
              </a:tblGrid>
              <a:tr h="502920">
                <a:tc>
                  <a:txBody>
                    <a:bodyPr wrap="square"/>
                    <a:lstStyle/>
                    <a:p>
                      <a:pPr algn="l"/>
                      <a:r>
                        <a:rPr sz="1050" b="1">
                          <a:solidFill>
                            <a:srgbClr val="FFFFFF"/>
                          </a:solidFill>
                          <a:latin typeface="Aptos Narrow"/>
                        </a:rPr>
                        <a:t>Feature group</a:t>
                      </a:r>
                    </a:p>
                  </a:txBody>
                  <a:tcPr marL="73152" marR="73152" marT="27432" marB="27432" anchor="ctr">
                    <a:solidFill>
                      <a:srgbClr val="0F172A"/>
                    </a:solidFill>
                  </a:tcPr>
                </a:tc>
                <a:tc>
                  <a:txBody>
                    <a:bodyPr wrap="square"/>
                    <a:lstStyle/>
                    <a:p>
                      <a:pPr algn="ctr"/>
                      <a:r>
                        <a:rPr sz="1050" b="1">
                          <a:solidFill>
                            <a:srgbClr val="FFFFFF"/>
                          </a:solidFill>
                          <a:latin typeface="Aptos Narrow"/>
                        </a:rPr>
                        <a:t>#</a:t>
                      </a:r>
                    </a:p>
                  </a:txBody>
                  <a:tcPr marL="73152" marR="73152" marT="27432" marB="27432" anchor="ctr">
                    <a:solidFill>
                      <a:srgbClr val="0F172A"/>
                    </a:solidFill>
                  </a:tcPr>
                </a:tc>
                <a:tc>
                  <a:txBody>
                    <a:bodyPr wrap="square"/>
                    <a:lstStyle/>
                    <a:p>
                      <a:pPr algn="ctr"/>
                      <a:r>
                        <a:rPr sz="1050" b="1">
                          <a:solidFill>
                            <a:srgbClr val="FFFFFF"/>
                          </a:solidFill>
                          <a:latin typeface="Aptos Narrow"/>
                        </a:rPr>
                        <a:t>Examples</a:t>
                      </a:r>
                    </a:p>
                  </a:txBody>
                  <a:tcPr marL="73152" marR="73152" marT="27432" marB="27432" anchor="ctr">
                    <a:solidFill>
                      <a:srgbClr val="0F172A"/>
                    </a:solidFill>
                  </a:tcPr>
                </a:tc>
              </a:tr>
              <a:tr h="502920">
                <a:tc>
                  <a:txBody>
                    <a:bodyPr wrap="square"/>
                    <a:lstStyle/>
                    <a:p>
                      <a:pPr algn="l"/>
                      <a:r>
                        <a:rPr sz="1000" b="1">
                          <a:solidFill>
                            <a:srgbClr val="0F172A"/>
                          </a:solidFill>
                          <a:latin typeface="Aptos Narrow"/>
                        </a:rPr>
                        <a:t>Academic (Sem 1 and 2)</a:t>
                      </a:r>
                    </a:p>
                  </a:txBody>
                  <a:tcPr marL="73152" marR="73152" marT="27432" marB="27432" anchor="ctr">
                    <a:solidFill>
                      <a:srgbClr val="FFFFFF"/>
                    </a:solidFill>
                  </a:tcPr>
                </a:tc>
                <a:tc>
                  <a:txBody>
                    <a:bodyPr wrap="square"/>
                    <a:lstStyle/>
                    <a:p>
                      <a:pPr algn="ctr"/>
                      <a:r>
                        <a:rPr sz="1000" b="0">
                          <a:solidFill>
                            <a:srgbClr val="0F172A"/>
                          </a:solidFill>
                          <a:latin typeface="Aptos Narrow"/>
                        </a:rPr>
                        <a:t>12</a:t>
                      </a:r>
                    </a:p>
                  </a:txBody>
                  <a:tcPr marL="73152" marR="73152" marT="27432" marB="27432" anchor="ctr">
                    <a:solidFill>
                      <a:srgbClr val="FFFFFF"/>
                    </a:solidFill>
                  </a:tcPr>
                </a:tc>
                <a:tc>
                  <a:txBody>
                    <a:bodyPr wrap="square"/>
                    <a:lstStyle/>
                    <a:p>
                      <a:pPr algn="ctr"/>
                      <a:r>
                        <a:rPr sz="1000" b="0">
                          <a:solidFill>
                            <a:srgbClr val="0F172A"/>
                          </a:solidFill>
                          <a:latin typeface="Aptos Narrow"/>
                        </a:rPr>
                        <a:t>units credited, enrolled, evaluated, approved; grades</a:t>
                      </a:r>
                    </a:p>
                  </a:txBody>
                  <a:tcPr marL="73152" marR="73152" marT="27432" marB="27432" anchor="ctr">
                    <a:solidFill>
                      <a:srgbClr val="FFFFFF"/>
                    </a:solidFill>
                  </a:tcPr>
                </a:tc>
              </a:tr>
              <a:tr h="502920">
                <a:tc>
                  <a:txBody>
                    <a:bodyPr wrap="square"/>
                    <a:lstStyle/>
                    <a:p>
                      <a:pPr algn="l"/>
                      <a:r>
                        <a:rPr sz="1000" b="1">
                          <a:solidFill>
                            <a:srgbClr val="0F172A"/>
                          </a:solidFill>
                          <a:latin typeface="Aptos Narrow"/>
                        </a:rPr>
                        <a:t>Application and macro</a:t>
                      </a:r>
                    </a:p>
                  </a:txBody>
                  <a:tcPr marL="73152" marR="73152" marT="27432" marB="27432" anchor="ctr">
                    <a:solidFill>
                      <a:srgbClr val="FFFFFF"/>
                    </a:solidFill>
                  </a:tcPr>
                </a:tc>
                <a:tc>
                  <a:txBody>
                    <a:bodyPr wrap="square"/>
                    <a:lstStyle/>
                    <a:p>
                      <a:pPr algn="ctr"/>
                      <a:r>
                        <a:rPr sz="1000" b="0">
                          <a:solidFill>
                            <a:srgbClr val="0F172A"/>
                          </a:solidFill>
                          <a:latin typeface="Aptos Narrow"/>
                        </a:rPr>
                        <a:t>10</a:t>
                      </a:r>
                    </a:p>
                  </a:txBody>
                  <a:tcPr marL="73152" marR="73152" marT="27432" marB="27432" anchor="ctr">
                    <a:solidFill>
                      <a:srgbClr val="FFFFFF"/>
                    </a:solidFill>
                  </a:tcPr>
                </a:tc>
                <a:tc>
                  <a:txBody>
                    <a:bodyPr wrap="square"/>
                    <a:lstStyle/>
                    <a:p>
                      <a:pPr algn="ctr"/>
                      <a:r>
                        <a:rPr sz="1000" b="0">
                          <a:solidFill>
                            <a:srgbClr val="0F172A"/>
                          </a:solidFill>
                          <a:latin typeface="Aptos Narrow"/>
                        </a:rPr>
                        <a:t>course, application mode, admission grade, GDP</a:t>
                      </a:r>
                    </a:p>
                  </a:txBody>
                  <a:tcPr marL="73152" marR="73152" marT="27432" marB="27432" anchor="ctr">
                    <a:solidFill>
                      <a:srgbClr val="FFFFFF"/>
                    </a:solidFill>
                  </a:tcPr>
                </a:tc>
              </a:tr>
              <a:tr h="502920">
                <a:tc>
                  <a:txBody>
                    <a:bodyPr wrap="square"/>
                    <a:lstStyle/>
                    <a:p>
                      <a:pPr algn="l"/>
                      <a:r>
                        <a:rPr sz="1000" b="1">
                          <a:solidFill>
                            <a:srgbClr val="0F172A"/>
                          </a:solidFill>
                          <a:latin typeface="Aptos Narrow"/>
                        </a:rPr>
                        <a:t>Demographic</a:t>
                      </a:r>
                    </a:p>
                  </a:txBody>
                  <a:tcPr marL="73152" marR="73152" marT="27432" marB="27432" anchor="ctr">
                    <a:solidFill>
                      <a:srgbClr val="FFFFFF"/>
                    </a:solidFill>
                  </a:tcPr>
                </a:tc>
                <a:tc>
                  <a:txBody>
                    <a:bodyPr wrap="square"/>
                    <a:lstStyle/>
                    <a:p>
                      <a:pPr algn="ctr"/>
                      <a:r>
                        <a:rPr sz="1000" b="0">
                          <a:solidFill>
                            <a:srgbClr val="0F172A"/>
                          </a:solidFill>
                          <a:latin typeface="Aptos Narrow"/>
                        </a:rPr>
                        <a:t>7</a:t>
                      </a:r>
                    </a:p>
                  </a:txBody>
                  <a:tcPr marL="73152" marR="73152" marT="27432" marB="27432" anchor="ctr">
                    <a:solidFill>
                      <a:srgbClr val="FFFFFF"/>
                    </a:solidFill>
                  </a:tcPr>
                </a:tc>
                <a:tc>
                  <a:txBody>
                    <a:bodyPr wrap="square"/>
                    <a:lstStyle/>
                    <a:p>
                      <a:pPr algn="ctr"/>
                      <a:r>
                        <a:rPr sz="1000" b="0">
                          <a:solidFill>
                            <a:srgbClr val="0F172A"/>
                          </a:solidFill>
                          <a:latin typeface="Aptos Narrow"/>
                        </a:rPr>
                        <a:t>age, nationality, gender, displaced</a:t>
                      </a:r>
                    </a:p>
                  </a:txBody>
                  <a:tcPr marL="73152" marR="73152" marT="27432" marB="27432" anchor="ctr">
                    <a:solidFill>
                      <a:srgbClr val="FFFFFF"/>
                    </a:solidFill>
                  </a:tcPr>
                </a:tc>
              </a:tr>
              <a:tr h="502920">
                <a:tc>
                  <a:txBody>
                    <a:bodyPr wrap="square"/>
                    <a:lstStyle/>
                    <a:p>
                      <a:pPr algn="l"/>
                      <a:r>
                        <a:rPr sz="1000" b="1">
                          <a:solidFill>
                            <a:srgbClr val="0F172A"/>
                          </a:solidFill>
                          <a:latin typeface="Aptos Narrow"/>
                        </a:rPr>
                        <a:t>Socio-economic</a:t>
                      </a:r>
                    </a:p>
                  </a:txBody>
                  <a:tcPr marL="73152" marR="73152" marT="27432" marB="27432" anchor="ctr">
                    <a:solidFill>
                      <a:srgbClr val="FFFFFF"/>
                    </a:solidFill>
                  </a:tcPr>
                </a:tc>
                <a:tc>
                  <a:txBody>
                    <a:bodyPr wrap="square"/>
                    <a:lstStyle/>
                    <a:p>
                      <a:pPr algn="ctr"/>
                      <a:r>
                        <a:rPr sz="1000" b="0">
                          <a:solidFill>
                            <a:srgbClr val="0F172A"/>
                          </a:solidFill>
                          <a:latin typeface="Aptos Narrow"/>
                        </a:rPr>
                        <a:t>7</a:t>
                      </a:r>
                    </a:p>
                  </a:txBody>
                  <a:tcPr marL="73152" marR="73152" marT="27432" marB="27432" anchor="ctr">
                    <a:solidFill>
                      <a:srgbClr val="FFFFFF"/>
                    </a:solidFill>
                  </a:tcPr>
                </a:tc>
                <a:tc>
                  <a:txBody>
                    <a:bodyPr wrap="square"/>
                    <a:lstStyle/>
                    <a:p>
                      <a:pPr algn="ctr"/>
                      <a:r>
                        <a:rPr sz="1000" b="0">
                          <a:solidFill>
                            <a:srgbClr val="0F172A"/>
                          </a:solidFill>
                          <a:latin typeface="Aptos Narrow"/>
                        </a:rPr>
                        <a:t>parents' education and occupation, debtor, scholarship</a:t>
                      </a:r>
                    </a:p>
                  </a:txBody>
                  <a:tcPr marL="73152" marR="73152" marT="27432" marB="27432" anchor="ctr">
                    <a:solidFill>
                      <a:srgbClr val="FFFFFF"/>
                    </a:solidFill>
                  </a:tcPr>
                </a:tc>
              </a:tr>
            </a:tbl>
          </a:graphicData>
        </a:graphic>
      </p:graphicFrame>
      <p:sp>
        <p:nvSpPr>
          <p:cNvPr id="25" name="TextBox 24"/>
          <p:cNvSpPr txBox="1"/>
          <p:nvPr/>
        </p:nvSpPr>
        <p:spPr>
          <a:xfrm>
            <a:off x="6355080" y="5532120"/>
            <a:ext cx="5120640" cy="457200"/>
          </a:xfrm>
          <a:prstGeom prst="rect">
            <a:avLst/>
          </a:prstGeom>
          <a:noFill/>
        </p:spPr>
        <p:txBody>
          <a:bodyPr wrap="square" lIns="0" rIns="0" tIns="0" bIns="0" anchor="t">
            <a:noAutofit/>
          </a:bodyPr>
          <a:lstStyle/>
          <a:p>
            <a:pPr algn="l"/>
            <a:r>
              <a:rPr sz="950" b="0">
                <a:solidFill>
                  <a:srgbClr val="64748B"/>
                </a:solidFill>
                <a:latin typeface="Aptos Narrow"/>
              </a:rPr>
              <a:t>Categoricals arrive integer-coded (code meanings are in the UCI documentation). Source: UCI repository; Realinho et al. (2022); one Portuguese institution.</a:t>
            </a:r>
          </a:p>
        </p:txBody>
      </p:sp>
    </p:spTree>
    <p:extLst>
      <p:ext uri="{BB962C8B-B14F-4D97-AF65-F5344CB8AC3E}">
        <p14:creationId xmlns:p14="http://schemas.microsoft.com/office/powerpoint/2010/main" val="314132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047476C-1D48-6F35-36B1-B8F6DE653E38}"/>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7" name="Slide Number Placeholder 6">
            <a:extLst>
              <a:ext uri="{FF2B5EF4-FFF2-40B4-BE49-F238E27FC236}">
                <a16:creationId xmlns:a16="http://schemas.microsoft.com/office/drawing/2014/main" id="{81CAD791-81A9-0249-729B-1E4A719506B4}"/>
              </a:ext>
            </a:extLst>
          </p:cNvPr>
          <p:cNvSpPr>
            <a:spLocks noGrp="1"/>
          </p:cNvSpPr>
          <p:nvPr>
            <p:ph type="sldNum" sz="quarter" idx="11"/>
          </p:nvPr>
        </p:nvSpPr>
        <p:spPr/>
        <p:txBody>
          <a:bodyPr/>
          <a:lstStyle/>
          <a:p>
            <a:fld id="{B67B645E-C5E5-4727-B977-D372A0AA71D9}" type="slidenum">
              <a:rPr lang="en-US" smtClean="0"/>
              <a:pPr/>
              <a:t>5</a:t>
            </a:fld>
            <a:endParaRPr lang="en-US" dirty="0"/>
          </a:p>
        </p:txBody>
      </p:sp>
      <p:sp>
        <p:nvSpPr>
          <p:cNvPr id="8" name="TextBox 7"/>
          <p:cNvSpPr txBox="1"/>
          <p:nvPr/>
        </p:nvSpPr>
        <p:spPr>
          <a:xfrm>
            <a:off x="612648" y="457200"/>
            <a:ext cx="7315200" cy="182880"/>
          </a:xfrm>
          <a:prstGeom prst="rect">
            <a:avLst/>
          </a:prstGeom>
          <a:noFill/>
        </p:spPr>
        <p:txBody>
          <a:bodyPr wrap="square" lIns="0" rIns="0" tIns="0" bIns="0" anchor="t">
            <a:noAutofit/>
          </a:bodyPr>
          <a:lstStyle/>
          <a:p>
            <a:pPr algn="l"/>
            <a:r>
              <a:rPr sz="1000" b="1">
                <a:solidFill>
                  <a:srgbClr val="0284C7"/>
                </a:solidFill>
                <a:latin typeface="Aptos Narrow"/>
              </a:rPr>
              <a:t>STEP 3: PREPROCESSING &amp; FEATURES</a:t>
            </a:r>
          </a:p>
        </p:txBody>
      </p:sp>
      <p:sp>
        <p:nvSpPr>
          <p:cNvPr id="9" name="TextBox 8"/>
          <p:cNvSpPr txBox="1"/>
          <p:nvPr/>
        </p:nvSpPr>
        <p:spPr>
          <a:xfrm>
            <a:off x="612648" y="667512"/>
            <a:ext cx="10972800" cy="457200"/>
          </a:xfrm>
          <a:prstGeom prst="rect">
            <a:avLst/>
          </a:prstGeom>
          <a:noFill/>
        </p:spPr>
        <p:txBody>
          <a:bodyPr wrap="square" lIns="0" rIns="0" tIns="0" bIns="0" anchor="t">
            <a:noAutofit/>
          </a:bodyPr>
          <a:lstStyle/>
          <a:p>
            <a:pPr algn="l"/>
            <a:r>
              <a:rPr sz="2400" b="1">
                <a:solidFill>
                  <a:srgbClr val="0F172A"/>
                </a:solidFill>
                <a:latin typeface="Aptos Narrow"/>
              </a:rPr>
              <a:t>From Raw Records to Model Inputs</a:t>
            </a:r>
          </a:p>
        </p:txBody>
      </p:sp>
      <p:sp>
        <p:nvSpPr>
          <p:cNvPr id="10" name="Rounded Rectangle 9"/>
          <p:cNvSpPr/>
          <p:nvPr/>
        </p:nvSpPr>
        <p:spPr>
          <a:xfrm>
            <a:off x="612648" y="1508760"/>
            <a:ext cx="5577840" cy="452628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8" y="1645920"/>
            <a:ext cx="5120640" cy="4297680"/>
          </a:xfrm>
          <a:prstGeom prst="rect">
            <a:avLst/>
          </a:prstGeom>
          <a:noFill/>
        </p:spPr>
        <p:txBody>
          <a:bodyPr wrap="square" lIns="0" rIns="0" tIns="0" bIns="0" anchor="t">
            <a:noAutofit/>
          </a:bodyPr>
          <a:lstStyle/>
          <a:p>
            <a:pPr algn="l">
              <a:spcAft>
                <a:spcPts val="900"/>
              </a:spcAft>
            </a:pPr>
            <a:r>
              <a:rPr sz="1150" b="1">
                <a:solidFill>
                  <a:srgbClr val="0F172A"/>
                </a:solidFill>
                <a:latin typeface="Aptos Narrow"/>
              </a:rPr>
              <a:t>1. Target: </a:t>
            </a:r>
            <a:r>
              <a:rPr sz="1150" b="0">
                <a:solidFill>
                  <a:srgbClr val="475569"/>
                </a:solidFill>
                <a:latin typeface="Aptos Narrow"/>
              </a:rPr>
              <a:t>Dropout = 1; Graduate and Enrolled = 0 (32.1% positive).</a:t>
            </a:r>
          </a:p>
          <a:p>
            <a:pPr algn="l">
              <a:spcAft>
                <a:spcPts val="900"/>
              </a:spcAft>
            </a:pPr>
            <a:r>
              <a:rPr sz="1150" b="1">
                <a:solidFill>
                  <a:srgbClr val="0F172A"/>
                </a:solidFill>
                <a:latin typeface="Aptos Narrow"/>
              </a:rPr>
              <a:t>2. Quality: </a:t>
            </a:r>
            <a:r>
              <a:rPr sz="1150" b="0">
                <a:solidFill>
                  <a:srgbClr val="475569"/>
                </a:solidFill>
                <a:latin typeface="Aptos Narrow"/>
              </a:rPr>
              <a:t>0 nulls, 0 duplicates. An IQR outlier screen flags 9 of 12 numeric columns (up to 19.8% of rows); values are retained as genuine observations.</a:t>
            </a:r>
          </a:p>
          <a:p>
            <a:pPr algn="l">
              <a:spcAft>
                <a:spcPts val="900"/>
              </a:spcAft>
            </a:pPr>
            <a:r>
              <a:rPr sz="1150" b="1">
                <a:solidFill>
                  <a:srgbClr val="0F172A"/>
                </a:solidFill>
                <a:latin typeface="Aptos Narrow"/>
              </a:rPr>
              <a:t>3. Features: </a:t>
            </a:r>
            <a:r>
              <a:rPr sz="1150" b="0">
                <a:solidFill>
                  <a:srgbClr val="475569"/>
                </a:solidFill>
                <a:latin typeface="Aptos Narrow"/>
              </a:rPr>
              <a:t>Approval_Rate_s = approved_s / (enrolled_s + 1e-5) for each semester; Grade_Trend = Grade_Sem2 − Grade_Sem1; Financial_Stress_Index = Debtor + (1 − Tuition up to date) + (1 − Scholarship).</a:t>
            </a:r>
          </a:p>
          <a:p>
            <a:pPr algn="l">
              <a:spcAft>
                <a:spcPts val="900"/>
              </a:spcAft>
            </a:pPr>
            <a:r>
              <a:rPr sz="1150" b="1">
                <a:solidFill>
                  <a:srgbClr val="0F172A"/>
                </a:solidFill>
                <a:latin typeface="Aptos Narrow"/>
              </a:rPr>
              <a:t>4. Sensitive attributes: </a:t>
            </a:r>
            <a:r>
              <a:rPr sz="1150" b="0">
                <a:solidFill>
                  <a:srgbClr val="475569"/>
                </a:solidFill>
                <a:latin typeface="Aptos Narrow"/>
              </a:rPr>
              <a:t>Gender and Marital status go to an audit table, not the model.</a:t>
            </a:r>
          </a:p>
          <a:p>
            <a:pPr algn="l">
              <a:spcAft>
                <a:spcPts val="900"/>
              </a:spcAft>
            </a:pPr>
            <a:r>
              <a:rPr sz="1150" b="1">
                <a:solidFill>
                  <a:srgbClr val="0F172A"/>
                </a:solidFill>
                <a:latin typeface="Aptos Narrow"/>
              </a:rPr>
              <a:t>5. Split: </a:t>
            </a:r>
            <a:r>
              <a:rPr sz="1150" b="0">
                <a:solidFill>
                  <a:srgbClr val="475569"/>
                </a:solidFill>
                <a:latin typeface="Aptos Narrow"/>
              </a:rPr>
              <a:t>3,539 train / 885 test, stratified.</a:t>
            </a:r>
          </a:p>
          <a:p>
            <a:pPr algn="l">
              <a:spcAft>
                <a:spcPts val="900"/>
              </a:spcAft>
            </a:pPr>
            <a:r>
              <a:rPr sz="1150" b="1">
                <a:solidFill>
                  <a:srgbClr val="0F172A"/>
                </a:solidFill>
                <a:latin typeface="Aptos Narrow"/>
              </a:rPr>
              <a:t>6. Selection: </a:t>
            </a:r>
            <a:r>
              <a:rPr sz="1150" b="0">
                <a:solidFill>
                  <a:srgbClr val="475569"/>
                </a:solidFill>
                <a:latin typeface="Aptos Narrow"/>
              </a:rPr>
              <a:t>RFECV (random forest, recall) kept 38 of 38 features; PCA needs 24 components for 95% of the variance and is used only as a diagnostic.</a:t>
            </a:r>
          </a:p>
        </p:txBody>
      </p:sp>
      <p:sp>
        <p:nvSpPr>
          <p:cNvPr id="12" name="Rounded Rectangle 11"/>
          <p:cNvSpPr/>
          <p:nvPr/>
        </p:nvSpPr>
        <p:spPr>
          <a:xfrm>
            <a:off x="6309360" y="1508760"/>
            <a:ext cx="5303520" cy="1990598"/>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Figure 5_3" descr="Technical_Slides_Rex_Villamar_Pillar_5_Capstone_Project_5_3.png"/>
          <p:cNvPicPr>
            <a:picLocks noChangeAspect="1"/>
          </p:cNvPicPr>
          <p:nvPr/>
        </p:nvPicPr>
        <p:blipFill>
          <a:blip r:embed="rId3"/>
          <a:stretch>
            <a:fillRect/>
          </a:stretch>
        </p:blipFill>
        <p:spPr>
          <a:xfrm>
            <a:off x="6400800" y="1600200"/>
            <a:ext cx="5120640" cy="1807718"/>
          </a:xfrm>
          <a:prstGeom prst="rect">
            <a:avLst/>
          </a:prstGeom>
        </p:spPr>
      </p:pic>
      <p:sp>
        <p:nvSpPr>
          <p:cNvPr id="14" name="TextBox 13"/>
          <p:cNvSpPr txBox="1"/>
          <p:nvPr/>
        </p:nvSpPr>
        <p:spPr>
          <a:xfrm>
            <a:off x="6400800" y="3749039"/>
            <a:ext cx="5120640" cy="457200"/>
          </a:xfrm>
          <a:prstGeom prst="rect">
            <a:avLst/>
          </a:prstGeom>
          <a:noFill/>
        </p:spPr>
        <p:txBody>
          <a:bodyPr wrap="square" lIns="0" rIns="0" tIns="0" bIns="0" anchor="t">
            <a:noAutofit/>
          </a:bodyPr>
          <a:lstStyle/>
          <a:p>
            <a:pPr algn="l"/>
            <a:r>
              <a:rPr sz="1000" b="0">
                <a:solidFill>
                  <a:srgbClr val="475569"/>
                </a:solidFill>
                <a:latin typeface="Aptos Narrow"/>
              </a:rPr>
              <a:t>Classes overlap heavily in the first two principal components, so there is no clean linear separation. Models keep the original features so SHAP stays interpretable.</a:t>
            </a:r>
          </a:p>
        </p:txBody>
      </p:sp>
      <p:graphicFrame>
        <p:nvGraphicFramePr>
          <p:cNvPr id="15" name="Table 14"/>
          <p:cNvGraphicFramePr>
            <a:graphicFrameLocks noGrp="1"/>
          </p:cNvGraphicFramePr>
          <p:nvPr/>
        </p:nvGraphicFramePr>
        <p:xfrm>
          <a:off x="6400800" y="4297680"/>
          <a:ext cx="5029200" cy="1755648"/>
        </p:xfrm>
        <a:graphic>
          <a:graphicData uri="http://schemas.openxmlformats.org/drawingml/2006/table">
            <a:tbl>
              <a:tblPr firstRow="0" bandRow="0">
                <a:tableStyleId>{5C22544A-7EE6-4342-B048-85BDC9FD1C3A}</a:tableStyleId>
              </a:tblPr>
              <a:tblGrid>
                <a:gridCol w="3291840"/>
                <a:gridCol w="822960"/>
                <a:gridCol w="914400"/>
              </a:tblGrid>
              <a:tr h="292608">
                <a:tc>
                  <a:txBody>
                    <a:bodyPr wrap="square"/>
                    <a:lstStyle/>
                    <a:p>
                      <a:pPr algn="l"/>
                      <a:r>
                        <a:rPr sz="1000" b="1">
                          <a:solidFill>
                            <a:srgbClr val="FFFFFF"/>
                          </a:solidFill>
                          <a:latin typeface="Aptos Narrow"/>
                        </a:rPr>
                        <a:t>Outlier screen (IQR rule)</a:t>
                      </a:r>
                    </a:p>
                  </a:txBody>
                  <a:tcPr marL="73152" marR="73152" marT="27432" marB="27432" anchor="ctr">
                    <a:solidFill>
                      <a:srgbClr val="0F172A"/>
                    </a:solidFill>
                  </a:tcPr>
                </a:tc>
                <a:tc>
                  <a:txBody>
                    <a:bodyPr wrap="square"/>
                    <a:lstStyle/>
                    <a:p>
                      <a:pPr algn="ctr"/>
                      <a:r>
                        <a:rPr sz="1000" b="1">
                          <a:solidFill>
                            <a:srgbClr val="FFFFFF"/>
                          </a:solidFill>
                          <a:latin typeface="Aptos Narrow"/>
                        </a:rPr>
                        <a:t>Rows</a:t>
                      </a:r>
                    </a:p>
                  </a:txBody>
                  <a:tcPr marL="73152" marR="73152" marT="27432" marB="27432" anchor="ctr">
                    <a:solidFill>
                      <a:srgbClr val="0F172A"/>
                    </a:solidFill>
                  </a:tcPr>
                </a:tc>
                <a:tc>
                  <a:txBody>
                    <a:bodyPr wrap="square"/>
                    <a:lstStyle/>
                    <a:p>
                      <a:pPr algn="ctr"/>
                      <a:r>
                        <a:rPr sz="1000" b="1">
                          <a:solidFill>
                            <a:srgbClr val="FFFFFF"/>
                          </a:solidFill>
                          <a:latin typeface="Aptos Narrow"/>
                        </a:rPr>
                        <a:t>% of rows</a:t>
                      </a:r>
                    </a:p>
                  </a:txBody>
                  <a:tcPr marL="73152" marR="73152" marT="27432" marB="27432" anchor="ctr">
                    <a:solidFill>
                      <a:srgbClr val="0F172A"/>
                    </a:solidFill>
                  </a:tcPr>
                </a:tc>
              </a:tr>
              <a:tr h="292608">
                <a:tc>
                  <a:txBody>
                    <a:bodyPr wrap="square"/>
                    <a:lstStyle/>
                    <a:p>
                      <a:pPr algn="l"/>
                      <a:r>
                        <a:rPr sz="1000" b="1">
                          <a:solidFill>
                            <a:srgbClr val="0F172A"/>
                          </a:solidFill>
                          <a:latin typeface="Aptos Narrow"/>
                        </a:rPr>
                        <a:t>Curricular units 2nd sem (grade)</a:t>
                      </a:r>
                    </a:p>
                  </a:txBody>
                  <a:tcPr marL="73152" marR="73152" marT="27432" marB="27432" anchor="ctr">
                    <a:solidFill>
                      <a:srgbClr val="FFFFFF"/>
                    </a:solidFill>
                  </a:tcPr>
                </a:tc>
                <a:tc>
                  <a:txBody>
                    <a:bodyPr wrap="square"/>
                    <a:lstStyle/>
                    <a:p>
                      <a:pPr algn="ctr"/>
                      <a:r>
                        <a:rPr sz="1000" b="0">
                          <a:solidFill>
                            <a:srgbClr val="0F172A"/>
                          </a:solidFill>
                          <a:latin typeface="Aptos Narrow"/>
                        </a:rPr>
                        <a:t>877</a:t>
                      </a:r>
                    </a:p>
                  </a:txBody>
                  <a:tcPr marL="73152" marR="73152" marT="27432" marB="27432" anchor="ctr">
                    <a:solidFill>
                      <a:srgbClr val="FFFFFF"/>
                    </a:solidFill>
                  </a:tcPr>
                </a:tc>
                <a:tc>
                  <a:txBody>
                    <a:bodyPr wrap="square"/>
                    <a:lstStyle/>
                    <a:p>
                      <a:pPr algn="ctr"/>
                      <a:r>
                        <a:rPr sz="1000" b="0">
                          <a:solidFill>
                            <a:srgbClr val="0F172A"/>
                          </a:solidFill>
                          <a:latin typeface="Aptos Narrow"/>
                        </a:rPr>
                        <a:t>19.8</a:t>
                      </a:r>
                    </a:p>
                  </a:txBody>
                  <a:tcPr marL="73152" marR="73152" marT="27432" marB="27432" anchor="ctr">
                    <a:solidFill>
                      <a:srgbClr val="FFFFFF"/>
                    </a:solidFill>
                  </a:tcPr>
                </a:tc>
              </a:tr>
              <a:tr h="292608">
                <a:tc>
                  <a:txBody>
                    <a:bodyPr wrap="square"/>
                    <a:lstStyle/>
                    <a:p>
                      <a:pPr algn="l"/>
                      <a:r>
                        <a:rPr sz="1000" b="1">
                          <a:solidFill>
                            <a:srgbClr val="0F172A"/>
                          </a:solidFill>
                          <a:latin typeface="Aptos Narrow"/>
                        </a:rPr>
                        <a:t>Curricular units 1st sem (grade)</a:t>
                      </a:r>
                    </a:p>
                  </a:txBody>
                  <a:tcPr marL="73152" marR="73152" marT="27432" marB="27432" anchor="ctr">
                    <a:solidFill>
                      <a:srgbClr val="FFFFFF"/>
                    </a:solidFill>
                  </a:tcPr>
                </a:tc>
                <a:tc>
                  <a:txBody>
                    <a:bodyPr wrap="square"/>
                    <a:lstStyle/>
                    <a:p>
                      <a:pPr algn="ctr"/>
                      <a:r>
                        <a:rPr sz="1000" b="0">
                          <a:solidFill>
                            <a:srgbClr val="0F172A"/>
                          </a:solidFill>
                          <a:latin typeface="Aptos Narrow"/>
                        </a:rPr>
                        <a:t>726</a:t>
                      </a:r>
                    </a:p>
                  </a:txBody>
                  <a:tcPr marL="73152" marR="73152" marT="27432" marB="27432" anchor="ctr">
                    <a:solidFill>
                      <a:srgbClr val="FFFFFF"/>
                    </a:solidFill>
                  </a:tcPr>
                </a:tc>
                <a:tc>
                  <a:txBody>
                    <a:bodyPr wrap="square"/>
                    <a:lstStyle/>
                    <a:p>
                      <a:pPr algn="ctr"/>
                      <a:r>
                        <a:rPr sz="1000" b="0">
                          <a:solidFill>
                            <a:srgbClr val="0F172A"/>
                          </a:solidFill>
                          <a:latin typeface="Aptos Narrow"/>
                        </a:rPr>
                        <a:t>16.4</a:t>
                      </a:r>
                    </a:p>
                  </a:txBody>
                  <a:tcPr marL="73152" marR="73152" marT="27432" marB="27432" anchor="ctr">
                    <a:solidFill>
                      <a:srgbClr val="FFFFFF"/>
                    </a:solidFill>
                  </a:tcPr>
                </a:tc>
              </a:tr>
              <a:tr h="292608">
                <a:tc>
                  <a:txBody>
                    <a:bodyPr wrap="square"/>
                    <a:lstStyle/>
                    <a:p>
                      <a:pPr algn="l"/>
                      <a:r>
                        <a:rPr sz="1000" b="1">
                          <a:solidFill>
                            <a:srgbClr val="0F172A"/>
                          </a:solidFill>
                          <a:latin typeface="Aptos Narrow"/>
                        </a:rPr>
                        <a:t>Age at enrollment</a:t>
                      </a:r>
                    </a:p>
                  </a:txBody>
                  <a:tcPr marL="73152" marR="73152" marT="27432" marB="27432" anchor="ctr">
                    <a:solidFill>
                      <a:srgbClr val="FFFFFF"/>
                    </a:solidFill>
                  </a:tcPr>
                </a:tc>
                <a:tc>
                  <a:txBody>
                    <a:bodyPr wrap="square"/>
                    <a:lstStyle/>
                    <a:p>
                      <a:pPr algn="ctr"/>
                      <a:r>
                        <a:rPr sz="1000" b="0">
                          <a:solidFill>
                            <a:srgbClr val="0F172A"/>
                          </a:solidFill>
                          <a:latin typeface="Aptos Narrow"/>
                        </a:rPr>
                        <a:t>441</a:t>
                      </a:r>
                    </a:p>
                  </a:txBody>
                  <a:tcPr marL="73152" marR="73152" marT="27432" marB="27432" anchor="ctr">
                    <a:solidFill>
                      <a:srgbClr val="FFFFFF"/>
                    </a:solidFill>
                  </a:tcPr>
                </a:tc>
                <a:tc>
                  <a:txBody>
                    <a:bodyPr wrap="square"/>
                    <a:lstStyle/>
                    <a:p>
                      <a:pPr algn="ctr"/>
                      <a:r>
                        <a:rPr sz="1000" b="0">
                          <a:solidFill>
                            <a:srgbClr val="0F172A"/>
                          </a:solidFill>
                          <a:latin typeface="Aptos Narrow"/>
                        </a:rPr>
                        <a:t>10.0</a:t>
                      </a:r>
                    </a:p>
                  </a:txBody>
                  <a:tcPr marL="73152" marR="73152" marT="27432" marB="27432" anchor="ctr">
                    <a:solidFill>
                      <a:srgbClr val="FFFFFF"/>
                    </a:solidFill>
                  </a:tcPr>
                </a:tc>
              </a:tr>
              <a:tr h="292608">
                <a:tc>
                  <a:txBody>
                    <a:bodyPr wrap="square"/>
                    <a:lstStyle/>
                    <a:p>
                      <a:pPr algn="l"/>
                      <a:r>
                        <a:rPr sz="1000" b="1">
                          <a:solidFill>
                            <a:srgbClr val="0F172A"/>
                          </a:solidFill>
                          <a:latin typeface="Aptos Narrow"/>
                        </a:rPr>
                        <a:t>Curricular units 1st sem (enrolled)</a:t>
                      </a:r>
                    </a:p>
                  </a:txBody>
                  <a:tcPr marL="73152" marR="73152" marT="27432" marB="27432" anchor="ctr">
                    <a:solidFill>
                      <a:srgbClr val="FFFFFF"/>
                    </a:solidFill>
                  </a:tcPr>
                </a:tc>
                <a:tc>
                  <a:txBody>
                    <a:bodyPr wrap="square"/>
                    <a:lstStyle/>
                    <a:p>
                      <a:pPr algn="ctr"/>
                      <a:r>
                        <a:rPr sz="1000" b="0">
                          <a:solidFill>
                            <a:srgbClr val="0F172A"/>
                          </a:solidFill>
                          <a:latin typeface="Aptos Narrow"/>
                        </a:rPr>
                        <a:t>424</a:t>
                      </a:r>
                    </a:p>
                  </a:txBody>
                  <a:tcPr marL="73152" marR="73152" marT="27432" marB="27432" anchor="ctr">
                    <a:solidFill>
                      <a:srgbClr val="FFFFFF"/>
                    </a:solidFill>
                  </a:tcPr>
                </a:tc>
                <a:tc>
                  <a:txBody>
                    <a:bodyPr wrap="square"/>
                    <a:lstStyle/>
                    <a:p>
                      <a:pPr algn="ctr"/>
                      <a:r>
                        <a:rPr sz="1000" b="0">
                          <a:solidFill>
                            <a:srgbClr val="0F172A"/>
                          </a:solidFill>
                          <a:latin typeface="Aptos Narrow"/>
                        </a:rPr>
                        <a:t>9.6</a:t>
                      </a:r>
                    </a:p>
                  </a:txBody>
                  <a:tcPr marL="73152" marR="73152" marT="27432" marB="27432" anchor="ctr">
                    <a:solidFill>
                      <a:srgbClr val="FFFFFF"/>
                    </a:solidFill>
                  </a:tcPr>
                </a:tc>
              </a:tr>
              <a:tr h="292608">
                <a:tc>
                  <a:txBody>
                    <a:bodyPr wrap="square"/>
                    <a:lstStyle/>
                    <a:p>
                      <a:pPr algn="l"/>
                      <a:r>
                        <a:rPr sz="1000" b="1">
                          <a:solidFill>
                            <a:srgbClr val="0F172A"/>
                          </a:solidFill>
                          <a:latin typeface="Aptos Narrow"/>
                        </a:rPr>
                        <a:t>Curricular units 2nd sem (enrolled)</a:t>
                      </a:r>
                    </a:p>
                  </a:txBody>
                  <a:tcPr marL="73152" marR="73152" marT="27432" marB="27432" anchor="ctr">
                    <a:solidFill>
                      <a:srgbClr val="FFFFFF"/>
                    </a:solidFill>
                  </a:tcPr>
                </a:tc>
                <a:tc>
                  <a:txBody>
                    <a:bodyPr wrap="square"/>
                    <a:lstStyle/>
                    <a:p>
                      <a:pPr algn="ctr"/>
                      <a:r>
                        <a:rPr sz="1000" b="0">
                          <a:solidFill>
                            <a:srgbClr val="0F172A"/>
                          </a:solidFill>
                          <a:latin typeface="Aptos Narrow"/>
                        </a:rPr>
                        <a:t>369</a:t>
                      </a:r>
                    </a:p>
                  </a:txBody>
                  <a:tcPr marL="73152" marR="73152" marT="27432" marB="27432" anchor="ctr">
                    <a:solidFill>
                      <a:srgbClr val="FFFFFF"/>
                    </a:solidFill>
                  </a:tcPr>
                </a:tc>
                <a:tc>
                  <a:txBody>
                    <a:bodyPr wrap="square"/>
                    <a:lstStyle/>
                    <a:p>
                      <a:pPr algn="ctr"/>
                      <a:r>
                        <a:rPr sz="1000" b="0">
                          <a:solidFill>
                            <a:srgbClr val="0F172A"/>
                          </a:solidFill>
                          <a:latin typeface="Aptos Narrow"/>
                        </a:rPr>
                        <a:t>8.3</a:t>
                      </a:r>
                    </a:p>
                  </a:txBody>
                  <a:tcPr marL="73152" marR="73152" marT="27432" marB="27432" anchor="ctr">
                    <a:solidFill>
                      <a:srgbClr val="FFFFFF"/>
                    </a:solidFill>
                  </a:tcPr>
                </a:tc>
              </a:tr>
            </a:tbl>
          </a:graphicData>
        </a:graphic>
      </p:graphicFrame>
    </p:spTree>
    <p:extLst>
      <p:ext uri="{BB962C8B-B14F-4D97-AF65-F5344CB8AC3E}">
        <p14:creationId xmlns:p14="http://schemas.microsoft.com/office/powerpoint/2010/main" val="1239494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2D2CB65-175C-1ADE-8D89-344AFCEBE2E1}"/>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7" name="Slide Number Placeholder 6">
            <a:extLst>
              <a:ext uri="{FF2B5EF4-FFF2-40B4-BE49-F238E27FC236}">
                <a16:creationId xmlns:a16="http://schemas.microsoft.com/office/drawing/2014/main" id="{96CA13C2-6B85-5178-B426-0A5B6808D96E}"/>
              </a:ext>
            </a:extLst>
          </p:cNvPr>
          <p:cNvSpPr>
            <a:spLocks noGrp="1"/>
          </p:cNvSpPr>
          <p:nvPr>
            <p:ph type="sldNum" sz="quarter" idx="11"/>
          </p:nvPr>
        </p:nvSpPr>
        <p:spPr/>
        <p:txBody>
          <a:bodyPr/>
          <a:lstStyle/>
          <a:p>
            <a:fld id="{B67B645E-C5E5-4727-B977-D372A0AA71D9}" type="slidenum">
              <a:rPr lang="en-US" smtClean="0"/>
              <a:pPr/>
              <a:t>6</a:t>
            </a:fld>
            <a:endParaRPr lang="en-US" dirty="0"/>
          </a:p>
        </p:txBody>
      </p:sp>
      <p:sp>
        <p:nvSpPr>
          <p:cNvPr id="8" name="TextBox 7"/>
          <p:cNvSpPr txBox="1"/>
          <p:nvPr/>
        </p:nvSpPr>
        <p:spPr>
          <a:xfrm>
            <a:off x="612648" y="457200"/>
            <a:ext cx="7315200" cy="182880"/>
          </a:xfrm>
          <a:prstGeom prst="rect">
            <a:avLst/>
          </a:prstGeom>
          <a:noFill/>
        </p:spPr>
        <p:txBody>
          <a:bodyPr wrap="square" lIns="0" rIns="0" tIns="0" bIns="0" anchor="t">
            <a:noAutofit/>
          </a:bodyPr>
          <a:lstStyle/>
          <a:p>
            <a:pPr algn="l"/>
            <a:r>
              <a:rPr sz="1000" b="1">
                <a:solidFill>
                  <a:srgbClr val="0284C7"/>
                </a:solidFill>
                <a:latin typeface="Aptos Narrow"/>
              </a:rPr>
              <a:t>STEP 3: APPLIED EDA</a:t>
            </a:r>
          </a:p>
        </p:txBody>
      </p:sp>
      <p:sp>
        <p:nvSpPr>
          <p:cNvPr id="9" name="TextBox 8"/>
          <p:cNvSpPr txBox="1"/>
          <p:nvPr/>
        </p:nvSpPr>
        <p:spPr>
          <a:xfrm>
            <a:off x="612648" y="667512"/>
            <a:ext cx="10972800" cy="457200"/>
          </a:xfrm>
          <a:prstGeom prst="rect">
            <a:avLst/>
          </a:prstGeom>
          <a:noFill/>
        </p:spPr>
        <p:txBody>
          <a:bodyPr wrap="square" lIns="0" rIns="0" tIns="0" bIns="0" anchor="t">
            <a:noAutofit/>
          </a:bodyPr>
          <a:lstStyle/>
          <a:p>
            <a:pPr algn="l"/>
            <a:r>
              <a:rPr sz="2400" b="1">
                <a:solidFill>
                  <a:srgbClr val="0F172A"/>
                </a:solidFill>
                <a:latin typeface="Aptos Narrow"/>
              </a:rPr>
              <a:t>Which Ideas Carry Signal?</a:t>
            </a:r>
          </a:p>
        </p:txBody>
      </p:sp>
      <p:sp>
        <p:nvSpPr>
          <p:cNvPr id="10" name="Rounded Rectangle 9"/>
          <p:cNvSpPr/>
          <p:nvPr/>
        </p:nvSpPr>
        <p:spPr>
          <a:xfrm>
            <a:off x="612648" y="1508760"/>
            <a:ext cx="10972800" cy="2839694"/>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Figure 5_1" descr="Technical_Slides_Rex_Villamar_Pillar_5_Capstone_Project_5_1.png"/>
          <p:cNvPicPr>
            <a:picLocks noChangeAspect="1"/>
          </p:cNvPicPr>
          <p:nvPr/>
        </p:nvPicPr>
        <p:blipFill>
          <a:blip r:embed="rId9"/>
          <a:stretch>
            <a:fillRect/>
          </a:stretch>
        </p:blipFill>
        <p:spPr>
          <a:xfrm>
            <a:off x="704088" y="1600200"/>
            <a:ext cx="10789920" cy="2656814"/>
          </a:xfrm>
          <a:prstGeom prst="rect">
            <a:avLst/>
          </a:prstGeom>
        </p:spPr>
      </p:pic>
      <p:sp>
        <p:nvSpPr>
          <p:cNvPr id="12" name="Rounded Rectangle 11"/>
          <p:cNvSpPr/>
          <p:nvPr/>
        </p:nvSpPr>
        <p:spPr>
          <a:xfrm>
            <a:off x="612648" y="4434840"/>
            <a:ext cx="3520440" cy="160020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 y="4553712"/>
            <a:ext cx="3108960" cy="1371600"/>
          </a:xfrm>
          <a:prstGeom prst="rect">
            <a:avLst/>
          </a:prstGeom>
          <a:noFill/>
        </p:spPr>
        <p:txBody>
          <a:bodyPr wrap="square" lIns="0" rIns="0" tIns="0" bIns="0" anchor="t">
            <a:noAutofit/>
          </a:bodyPr>
          <a:lstStyle/>
          <a:p>
            <a:pPr algn="l">
              <a:spcAft>
                <a:spcPts val="500"/>
              </a:spcAft>
            </a:pPr>
            <a:r>
              <a:rPr sz="1400" b="1">
                <a:solidFill>
                  <a:srgbClr val="0F172A"/>
                </a:solidFill>
                <a:latin typeface="Aptos Narrow"/>
              </a:rPr>
              <a:t>Financial stress is steep</a:t>
            </a:r>
          </a:p>
          <a:p>
            <a:pPr algn="l"/>
            <a:r>
              <a:rPr sz="1150" b="0">
                <a:solidFill>
                  <a:srgbClr val="475569"/>
                </a:solidFill>
                <a:latin typeface="Aptos Narrow"/>
              </a:rPr>
              <a:t>Dropout rate by Financial_Stress_Index level: 9.3% → 29.3% → 69.2% → 88.8%.</a:t>
            </a:r>
          </a:p>
        </p:txBody>
      </p:sp>
      <p:sp>
        <p:nvSpPr>
          <p:cNvPr id="14" name="Rounded Rectangle 13"/>
          <p:cNvSpPr/>
          <p:nvPr/>
        </p:nvSpPr>
        <p:spPr>
          <a:xfrm>
            <a:off x="4347972" y="4434840"/>
            <a:ext cx="3520440" cy="160020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58284" y="4553712"/>
            <a:ext cx="3108960" cy="1371600"/>
          </a:xfrm>
          <a:prstGeom prst="rect">
            <a:avLst/>
          </a:prstGeom>
          <a:noFill/>
        </p:spPr>
        <p:txBody>
          <a:bodyPr wrap="square" lIns="0" rIns="0" tIns="0" bIns="0" anchor="t">
            <a:noAutofit/>
          </a:bodyPr>
          <a:lstStyle/>
          <a:p>
            <a:pPr algn="l">
              <a:spcAft>
                <a:spcPts val="500"/>
              </a:spcAft>
            </a:pPr>
            <a:r>
              <a:rPr sz="1400" b="1">
                <a:solidFill>
                  <a:srgbClr val="0F172A"/>
                </a:solidFill>
                <a:latin typeface="Aptos Narrow"/>
              </a:rPr>
              <a:t>Academic progress dominates</a:t>
            </a:r>
          </a:p>
          <a:p>
            <a:pPr algn="l"/>
            <a:r>
              <a:rPr sz="1150" b="0">
                <a:solidFill>
                  <a:srgbClr val="475569"/>
                </a:solidFill>
                <a:latin typeface="Aptos Narrow"/>
              </a:rPr>
              <a:t>The most correlated features are the Semester 2 and 1 approval rates, then grades and approved units (all negative), followed by financial stress and tuition status.</a:t>
            </a:r>
          </a:p>
        </p:txBody>
      </p:sp>
      <p:sp>
        <p:nvSpPr>
          <p:cNvPr id="16" name="Rounded Rectangle 15"/>
          <p:cNvSpPr/>
          <p:nvPr/>
        </p:nvSpPr>
        <p:spPr>
          <a:xfrm>
            <a:off x="8083296" y="4434840"/>
            <a:ext cx="3520440" cy="160020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93608" y="4553712"/>
            <a:ext cx="3108960" cy="1371600"/>
          </a:xfrm>
          <a:prstGeom prst="rect">
            <a:avLst/>
          </a:prstGeom>
          <a:noFill/>
        </p:spPr>
        <p:txBody>
          <a:bodyPr wrap="square" lIns="0" rIns="0" tIns="0" bIns="0" anchor="t">
            <a:noAutofit/>
          </a:bodyPr>
          <a:lstStyle/>
          <a:p>
            <a:pPr algn="l">
              <a:spcAft>
                <a:spcPts val="500"/>
              </a:spcAft>
            </a:pPr>
            <a:r>
              <a:rPr sz="1400" b="1">
                <a:solidFill>
                  <a:srgbClr val="0F172A"/>
                </a:solidFill>
                <a:latin typeface="Aptos Narrow"/>
              </a:rPr>
              <a:t>Momentum adds little</a:t>
            </a:r>
          </a:p>
          <a:p>
            <a:pPr algn="l"/>
            <a:r>
              <a:rPr sz="1150" b="0">
                <a:solidFill>
                  <a:srgbClr val="475569"/>
                </a:solidFill>
                <a:latin typeface="Aptos Narrow"/>
              </a:rPr>
              <a:t>Median Grade_Trend is 0.00 for both groups; the dropout box sits slightly lower, but the feature stays outside the top-10 SHAP drivers.</a:t>
            </a:r>
          </a:p>
        </p:txBody>
      </p:sp>
    </p:spTree>
    <p:extLst>
      <p:ext uri="{BB962C8B-B14F-4D97-AF65-F5344CB8AC3E}">
        <p14:creationId xmlns:p14="http://schemas.microsoft.com/office/powerpoint/2010/main" val="3809555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009FBBA-3894-78D3-7C10-FBF1D2955AC4}"/>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7" name="Slide Number Placeholder 6">
            <a:extLst>
              <a:ext uri="{FF2B5EF4-FFF2-40B4-BE49-F238E27FC236}">
                <a16:creationId xmlns:a16="http://schemas.microsoft.com/office/drawing/2014/main" id="{646504EC-8502-72AF-7157-3AE00C0945AB}"/>
              </a:ext>
            </a:extLst>
          </p:cNvPr>
          <p:cNvSpPr>
            <a:spLocks noGrp="1"/>
          </p:cNvSpPr>
          <p:nvPr>
            <p:ph type="sldNum" sz="quarter" idx="11"/>
          </p:nvPr>
        </p:nvSpPr>
        <p:spPr/>
        <p:txBody>
          <a:bodyPr/>
          <a:lstStyle/>
          <a:p>
            <a:fld id="{B67B645E-C5E5-4727-B977-D372A0AA71D9}" type="slidenum">
              <a:rPr lang="en-US" smtClean="0"/>
              <a:pPr/>
              <a:t>7</a:t>
            </a:fld>
            <a:endParaRPr lang="en-US" dirty="0"/>
          </a:p>
        </p:txBody>
      </p:sp>
      <p:sp>
        <p:nvSpPr>
          <p:cNvPr id="8" name="TextBox 7"/>
          <p:cNvSpPr txBox="1"/>
          <p:nvPr/>
        </p:nvSpPr>
        <p:spPr>
          <a:xfrm>
            <a:off x="612648" y="457200"/>
            <a:ext cx="7315200" cy="182880"/>
          </a:xfrm>
          <a:prstGeom prst="rect">
            <a:avLst/>
          </a:prstGeom>
          <a:noFill/>
        </p:spPr>
        <p:txBody>
          <a:bodyPr wrap="square" lIns="0" rIns="0" tIns="0" bIns="0" anchor="t">
            <a:noAutofit/>
          </a:bodyPr>
          <a:lstStyle/>
          <a:p>
            <a:pPr algn="l"/>
            <a:r>
              <a:rPr sz="1000" b="1">
                <a:solidFill>
                  <a:srgbClr val="0284C7"/>
                </a:solidFill>
                <a:latin typeface="Aptos Narrow"/>
              </a:rPr>
              <a:t>STEP 4: MODEL IMPLEMENTATION</a:t>
            </a:r>
          </a:p>
        </p:txBody>
      </p:sp>
      <p:sp>
        <p:nvSpPr>
          <p:cNvPr id="9" name="TextBox 8"/>
          <p:cNvSpPr txBox="1"/>
          <p:nvPr/>
        </p:nvSpPr>
        <p:spPr>
          <a:xfrm>
            <a:off x="612648" y="667512"/>
            <a:ext cx="10972800" cy="457200"/>
          </a:xfrm>
          <a:prstGeom prst="rect">
            <a:avLst/>
          </a:prstGeom>
          <a:noFill/>
        </p:spPr>
        <p:txBody>
          <a:bodyPr wrap="square" lIns="0" rIns="0" tIns="0" bIns="0" anchor="t">
            <a:noAutofit/>
          </a:bodyPr>
          <a:lstStyle/>
          <a:p>
            <a:pPr algn="l"/>
            <a:r>
              <a:rPr sz="2400" b="1">
                <a:solidFill>
                  <a:srgbClr val="0F172A"/>
                </a:solidFill>
                <a:latin typeface="Aptos Narrow"/>
              </a:rPr>
              <a:t>Four Algorithms, Tuned and Ranked on Cross-Validated F2</a:t>
            </a:r>
          </a:p>
        </p:txBody>
      </p:sp>
      <p:graphicFrame>
        <p:nvGraphicFramePr>
          <p:cNvPr id="10" name="Table 9"/>
          <p:cNvGraphicFramePr>
            <a:graphicFrameLocks noGrp="1"/>
          </p:cNvGraphicFramePr>
          <p:nvPr/>
        </p:nvGraphicFramePr>
        <p:xfrm>
          <a:off x="612648" y="1508760"/>
          <a:ext cx="7269480" cy="2286000"/>
        </p:xfrm>
        <a:graphic>
          <a:graphicData uri="http://schemas.openxmlformats.org/drawingml/2006/table">
            <a:tbl>
              <a:tblPr firstRow="0" bandRow="0">
                <a:tableStyleId>{5C22544A-7EE6-4342-B048-85BDC9FD1C3A}</a:tableStyleId>
              </a:tblPr>
              <a:tblGrid>
                <a:gridCol w="1828800"/>
                <a:gridCol w="1325880"/>
                <a:gridCol w="731520"/>
                <a:gridCol w="1005840"/>
                <a:gridCol w="640080"/>
                <a:gridCol w="868680"/>
                <a:gridCol w="868680"/>
              </a:tblGrid>
              <a:tr h="457200">
                <a:tc>
                  <a:txBody>
                    <a:bodyPr wrap="square"/>
                    <a:lstStyle/>
                    <a:p>
                      <a:pPr algn="l"/>
                      <a:r>
                        <a:rPr sz="1000" b="1">
                          <a:solidFill>
                            <a:srgbClr val="FFFFFF"/>
                          </a:solidFill>
                          <a:latin typeface="Aptos Narrow"/>
                        </a:rPr>
                        <a:t>Model</a:t>
                      </a:r>
                    </a:p>
                  </a:txBody>
                  <a:tcPr marL="73152" marR="73152" marT="27432" marB="27432" anchor="ctr">
                    <a:solidFill>
                      <a:srgbClr val="0F172A"/>
                    </a:solidFill>
                  </a:tcPr>
                </a:tc>
                <a:tc>
                  <a:txBody>
                    <a:bodyPr wrap="square"/>
                    <a:lstStyle/>
                    <a:p>
                      <a:pPr algn="ctr"/>
                      <a:r>
                        <a:rPr sz="1000" b="1">
                          <a:solidFill>
                            <a:srgbClr val="FFFFFF"/>
                          </a:solidFill>
                          <a:latin typeface="Aptos Narrow"/>
                        </a:rPr>
                        <a:t>CV F2 ± std</a:t>
                      </a:r>
                    </a:p>
                  </a:txBody>
                  <a:tcPr marL="73152" marR="73152" marT="27432" marB="27432" anchor="ctr">
                    <a:solidFill>
                      <a:srgbClr val="0F172A"/>
                    </a:solidFill>
                  </a:tcPr>
                </a:tc>
                <a:tc>
                  <a:txBody>
                    <a:bodyPr wrap="square"/>
                    <a:lstStyle/>
                    <a:p>
                      <a:pPr algn="ctr"/>
                      <a:r>
                        <a:rPr sz="1000" b="1">
                          <a:solidFill>
                            <a:srgbClr val="FFFFFF"/>
                          </a:solidFill>
                          <a:latin typeface="Aptos Narrow"/>
                        </a:rPr>
                        <a:t>Recall</a:t>
                      </a:r>
                    </a:p>
                  </a:txBody>
                  <a:tcPr marL="73152" marR="73152" marT="27432" marB="27432" anchor="ctr">
                    <a:solidFill>
                      <a:srgbClr val="0F172A"/>
                    </a:solidFill>
                  </a:tcPr>
                </a:tc>
                <a:tc>
                  <a:txBody>
                    <a:bodyPr wrap="square"/>
                    <a:lstStyle/>
                    <a:p>
                      <a:pPr algn="ctr"/>
                      <a:r>
                        <a:rPr sz="1000" b="1">
                          <a:solidFill>
                            <a:srgbClr val="FFFFFF"/>
                          </a:solidFill>
                          <a:latin typeface="Aptos Narrow"/>
                        </a:rPr>
                        <a:t>Precision</a:t>
                      </a:r>
                    </a:p>
                  </a:txBody>
                  <a:tcPr marL="73152" marR="73152" marT="27432" marB="27432" anchor="ctr">
                    <a:solidFill>
                      <a:srgbClr val="0F172A"/>
                    </a:solidFill>
                  </a:tcPr>
                </a:tc>
                <a:tc>
                  <a:txBody>
                    <a:bodyPr wrap="square"/>
                    <a:lstStyle/>
                    <a:p>
                      <a:pPr algn="ctr"/>
                      <a:r>
                        <a:rPr sz="1000" b="1">
                          <a:solidFill>
                            <a:srgbClr val="FFFFFF"/>
                          </a:solidFill>
                          <a:latin typeface="Aptos Narrow"/>
                        </a:rPr>
                        <a:t>F2</a:t>
                      </a:r>
                    </a:p>
                  </a:txBody>
                  <a:tcPr marL="73152" marR="73152" marT="27432" marB="27432" anchor="ctr">
                    <a:solidFill>
                      <a:srgbClr val="0F172A"/>
                    </a:solidFill>
                  </a:tcPr>
                </a:tc>
                <a:tc>
                  <a:txBody>
                    <a:bodyPr wrap="square"/>
                    <a:lstStyle/>
                    <a:p>
                      <a:pPr algn="ctr"/>
                      <a:r>
                        <a:rPr sz="1000" b="1">
                          <a:solidFill>
                            <a:srgbClr val="FFFFFF"/>
                          </a:solidFill>
                          <a:latin typeface="Aptos Narrow"/>
                        </a:rPr>
                        <a:t>ROC-AUC</a:t>
                      </a:r>
                    </a:p>
                  </a:txBody>
                  <a:tcPr marL="73152" marR="73152" marT="27432" marB="27432" anchor="ctr">
                    <a:solidFill>
                      <a:srgbClr val="0F172A"/>
                    </a:solidFill>
                  </a:tcPr>
                </a:tc>
                <a:tc>
                  <a:txBody>
                    <a:bodyPr wrap="square"/>
                    <a:lstStyle/>
                    <a:p>
                      <a:pPr algn="ctr"/>
                      <a:r>
                        <a:rPr sz="1000" b="1">
                          <a:solidFill>
                            <a:srgbClr val="FFFFFF"/>
                          </a:solidFill>
                          <a:latin typeface="Aptos Narrow"/>
                        </a:rPr>
                        <a:t>PR-AUC</a:t>
                      </a:r>
                    </a:p>
                  </a:txBody>
                  <a:tcPr marL="73152" marR="73152" marT="27432" marB="27432" anchor="ctr">
                    <a:solidFill>
                      <a:srgbClr val="0F172A"/>
                    </a:solidFill>
                  </a:tcPr>
                </a:tc>
              </a:tr>
              <a:tr h="457200">
                <a:tc>
                  <a:txBody>
                    <a:bodyPr wrap="square"/>
                    <a:lstStyle/>
                    <a:p>
                      <a:pPr algn="l"/>
                      <a:r>
                        <a:rPr sz="1100" b="1">
                          <a:solidFill>
                            <a:srgbClr val="0284C7"/>
                          </a:solidFill>
                          <a:latin typeface="Aptos Narrow"/>
                        </a:rPr>
                        <a:t>XGBoost (selected)</a:t>
                      </a:r>
                    </a:p>
                  </a:txBody>
                  <a:tcPr marL="73152" marR="73152" marT="27432" marB="27432" anchor="ctr">
                    <a:solidFill>
                      <a:srgbClr val="E0F2FE"/>
                    </a:solidFill>
                  </a:tcPr>
                </a:tc>
                <a:tc>
                  <a:txBody>
                    <a:bodyPr wrap="square"/>
                    <a:lstStyle/>
                    <a:p>
                      <a:pPr algn="ctr"/>
                      <a:r>
                        <a:rPr sz="1100" b="1">
                          <a:solidFill>
                            <a:srgbClr val="0284C7"/>
                          </a:solidFill>
                          <a:latin typeface="Aptos Narrow"/>
                        </a:rPr>
                        <a:t>0.825 ± 0.020</a:t>
                      </a:r>
                    </a:p>
                  </a:txBody>
                  <a:tcPr marL="73152" marR="73152" marT="27432" marB="27432" anchor="ctr">
                    <a:solidFill>
                      <a:srgbClr val="E0F2FE"/>
                    </a:solidFill>
                  </a:tcPr>
                </a:tc>
                <a:tc>
                  <a:txBody>
                    <a:bodyPr wrap="square"/>
                    <a:lstStyle/>
                    <a:p>
                      <a:pPr algn="ctr"/>
                      <a:r>
                        <a:rPr sz="1100" b="1">
                          <a:solidFill>
                            <a:srgbClr val="0284C7"/>
                          </a:solidFill>
                          <a:latin typeface="Aptos Narrow"/>
                        </a:rPr>
                        <a:t>0.912</a:t>
                      </a:r>
                    </a:p>
                  </a:txBody>
                  <a:tcPr marL="73152" marR="73152" marT="27432" marB="27432" anchor="ctr">
                    <a:solidFill>
                      <a:srgbClr val="E0F2FE"/>
                    </a:solidFill>
                  </a:tcPr>
                </a:tc>
                <a:tc>
                  <a:txBody>
                    <a:bodyPr wrap="square"/>
                    <a:lstStyle/>
                    <a:p>
                      <a:pPr algn="ctr"/>
                      <a:r>
                        <a:rPr sz="1100" b="1">
                          <a:solidFill>
                            <a:srgbClr val="0284C7"/>
                          </a:solidFill>
                          <a:latin typeface="Aptos Narrow"/>
                        </a:rPr>
                        <a:t>0.685</a:t>
                      </a:r>
                    </a:p>
                  </a:txBody>
                  <a:tcPr marL="73152" marR="73152" marT="27432" marB="27432" anchor="ctr">
                    <a:solidFill>
                      <a:srgbClr val="E0F2FE"/>
                    </a:solidFill>
                  </a:tcPr>
                </a:tc>
                <a:tc>
                  <a:txBody>
                    <a:bodyPr wrap="square"/>
                    <a:lstStyle/>
                    <a:p>
                      <a:pPr algn="ctr"/>
                      <a:r>
                        <a:rPr sz="1100" b="1">
                          <a:solidFill>
                            <a:srgbClr val="0284C7"/>
                          </a:solidFill>
                          <a:latin typeface="Aptos Narrow"/>
                        </a:rPr>
                        <a:t>0.855</a:t>
                      </a:r>
                    </a:p>
                  </a:txBody>
                  <a:tcPr marL="73152" marR="73152" marT="27432" marB="27432" anchor="ctr">
                    <a:solidFill>
                      <a:srgbClr val="E0F2FE"/>
                    </a:solidFill>
                  </a:tcPr>
                </a:tc>
                <a:tc>
                  <a:txBody>
                    <a:bodyPr wrap="square"/>
                    <a:lstStyle/>
                    <a:p>
                      <a:pPr algn="ctr"/>
                      <a:r>
                        <a:rPr sz="1100" b="1">
                          <a:solidFill>
                            <a:srgbClr val="0284C7"/>
                          </a:solidFill>
                          <a:latin typeface="Aptos Narrow"/>
                        </a:rPr>
                        <a:t>0.937</a:t>
                      </a:r>
                    </a:p>
                  </a:txBody>
                  <a:tcPr marL="73152" marR="73152" marT="27432" marB="27432" anchor="ctr">
                    <a:solidFill>
                      <a:srgbClr val="E0F2FE"/>
                    </a:solidFill>
                  </a:tcPr>
                </a:tc>
                <a:tc>
                  <a:txBody>
                    <a:bodyPr wrap="square"/>
                    <a:lstStyle/>
                    <a:p>
                      <a:pPr algn="ctr"/>
                      <a:r>
                        <a:rPr sz="1100" b="1">
                          <a:solidFill>
                            <a:srgbClr val="0284C7"/>
                          </a:solidFill>
                          <a:latin typeface="Aptos Narrow"/>
                        </a:rPr>
                        <a:t>0.911</a:t>
                      </a:r>
                    </a:p>
                  </a:txBody>
                  <a:tcPr marL="73152" marR="73152" marT="27432" marB="27432" anchor="ctr">
                    <a:solidFill>
                      <a:srgbClr val="E0F2FE"/>
                    </a:solidFill>
                  </a:tcPr>
                </a:tc>
              </a:tr>
              <a:tr h="457200">
                <a:tc>
                  <a:txBody>
                    <a:bodyPr wrap="square"/>
                    <a:lstStyle/>
                    <a:p>
                      <a:pPr algn="l"/>
                      <a:r>
                        <a:rPr sz="1100" b="1">
                          <a:solidFill>
                            <a:srgbClr val="0F172A"/>
                          </a:solidFill>
                          <a:latin typeface="Aptos Narrow"/>
                        </a:rPr>
                        <a:t>Logistic Regression</a:t>
                      </a:r>
                    </a:p>
                  </a:txBody>
                  <a:tcPr marL="73152" marR="73152" marT="27432" marB="27432" anchor="ctr">
                    <a:solidFill>
                      <a:srgbClr val="FFFFFF"/>
                    </a:solidFill>
                  </a:tcPr>
                </a:tc>
                <a:tc>
                  <a:txBody>
                    <a:bodyPr wrap="square"/>
                    <a:lstStyle/>
                    <a:p>
                      <a:pPr algn="ctr"/>
                      <a:r>
                        <a:rPr sz="1100" b="0">
                          <a:solidFill>
                            <a:srgbClr val="0F172A"/>
                          </a:solidFill>
                          <a:latin typeface="Aptos Narrow"/>
                        </a:rPr>
                        <a:t>0.806 ± 0.023</a:t>
                      </a:r>
                    </a:p>
                  </a:txBody>
                  <a:tcPr marL="73152" marR="73152" marT="27432" marB="27432" anchor="ctr">
                    <a:solidFill>
                      <a:srgbClr val="FFFFFF"/>
                    </a:solidFill>
                  </a:tcPr>
                </a:tc>
                <a:tc>
                  <a:txBody>
                    <a:bodyPr wrap="square"/>
                    <a:lstStyle/>
                    <a:p>
                      <a:pPr algn="ctr"/>
                      <a:r>
                        <a:rPr sz="1100" b="0">
                          <a:solidFill>
                            <a:srgbClr val="0F172A"/>
                          </a:solidFill>
                          <a:latin typeface="Aptos Narrow"/>
                        </a:rPr>
                        <a:t>0.835</a:t>
                      </a:r>
                    </a:p>
                  </a:txBody>
                  <a:tcPr marL="73152" marR="73152" marT="27432" marB="27432" anchor="ctr">
                    <a:solidFill>
                      <a:srgbClr val="FFFFFF"/>
                    </a:solidFill>
                  </a:tcPr>
                </a:tc>
                <a:tc>
                  <a:txBody>
                    <a:bodyPr wrap="square"/>
                    <a:lstStyle/>
                    <a:p>
                      <a:pPr algn="ctr"/>
                      <a:r>
                        <a:rPr sz="1100" b="0">
                          <a:solidFill>
                            <a:srgbClr val="0F172A"/>
                          </a:solidFill>
                          <a:latin typeface="Aptos Narrow"/>
                        </a:rPr>
                        <a:t>0.780</a:t>
                      </a:r>
                    </a:p>
                  </a:txBody>
                  <a:tcPr marL="73152" marR="73152" marT="27432" marB="27432" anchor="ctr">
                    <a:solidFill>
                      <a:srgbClr val="FFFFFF"/>
                    </a:solidFill>
                  </a:tcPr>
                </a:tc>
                <a:tc>
                  <a:txBody>
                    <a:bodyPr wrap="square"/>
                    <a:lstStyle/>
                    <a:p>
                      <a:pPr algn="ctr"/>
                      <a:r>
                        <a:rPr sz="1100" b="0">
                          <a:solidFill>
                            <a:srgbClr val="0F172A"/>
                          </a:solidFill>
                          <a:latin typeface="Aptos Narrow"/>
                        </a:rPr>
                        <a:t>0.823</a:t>
                      </a:r>
                    </a:p>
                  </a:txBody>
                  <a:tcPr marL="73152" marR="73152" marT="27432" marB="27432" anchor="ctr">
                    <a:solidFill>
                      <a:srgbClr val="FFFFFF"/>
                    </a:solidFill>
                  </a:tcPr>
                </a:tc>
                <a:tc>
                  <a:txBody>
                    <a:bodyPr wrap="square"/>
                    <a:lstStyle/>
                    <a:p>
                      <a:pPr algn="ctr"/>
                      <a:r>
                        <a:rPr sz="1100" b="0">
                          <a:solidFill>
                            <a:srgbClr val="0F172A"/>
                          </a:solidFill>
                          <a:latin typeface="Aptos Narrow"/>
                        </a:rPr>
                        <a:t>0.928</a:t>
                      </a:r>
                    </a:p>
                  </a:txBody>
                  <a:tcPr marL="73152" marR="73152" marT="27432" marB="27432" anchor="ctr">
                    <a:solidFill>
                      <a:srgbClr val="FFFFFF"/>
                    </a:solidFill>
                  </a:tcPr>
                </a:tc>
                <a:tc>
                  <a:txBody>
                    <a:bodyPr wrap="square"/>
                    <a:lstStyle/>
                    <a:p>
                      <a:pPr algn="ctr"/>
                      <a:r>
                        <a:rPr sz="1100" b="0">
                          <a:solidFill>
                            <a:srgbClr val="0F172A"/>
                          </a:solidFill>
                          <a:latin typeface="Aptos Narrow"/>
                        </a:rPr>
                        <a:t>0.898</a:t>
                      </a:r>
                    </a:p>
                  </a:txBody>
                  <a:tcPr marL="73152" marR="73152" marT="27432" marB="27432" anchor="ctr">
                    <a:solidFill>
                      <a:srgbClr val="FFFFFF"/>
                    </a:solidFill>
                  </a:tcPr>
                </a:tc>
              </a:tr>
              <a:tr h="457200">
                <a:tc>
                  <a:txBody>
                    <a:bodyPr wrap="square"/>
                    <a:lstStyle/>
                    <a:p>
                      <a:pPr algn="l"/>
                      <a:r>
                        <a:rPr sz="1100" b="1">
                          <a:solidFill>
                            <a:srgbClr val="0F172A"/>
                          </a:solidFill>
                          <a:latin typeface="Aptos Narrow"/>
                        </a:rPr>
                        <a:t>LightGBM</a:t>
                      </a:r>
                    </a:p>
                  </a:txBody>
                  <a:tcPr marL="73152" marR="73152" marT="27432" marB="27432" anchor="ctr">
                    <a:solidFill>
                      <a:srgbClr val="FFFFFF"/>
                    </a:solidFill>
                  </a:tcPr>
                </a:tc>
                <a:tc>
                  <a:txBody>
                    <a:bodyPr wrap="square"/>
                    <a:lstStyle/>
                    <a:p>
                      <a:pPr algn="ctr"/>
                      <a:r>
                        <a:rPr sz="1100" b="0">
                          <a:solidFill>
                            <a:srgbClr val="0F172A"/>
                          </a:solidFill>
                          <a:latin typeface="Aptos Narrow"/>
                        </a:rPr>
                        <a:t>0.803 ± 0.015</a:t>
                      </a:r>
                    </a:p>
                  </a:txBody>
                  <a:tcPr marL="73152" marR="73152" marT="27432" marB="27432" anchor="ctr">
                    <a:solidFill>
                      <a:srgbClr val="FFFFFF"/>
                    </a:solidFill>
                  </a:tcPr>
                </a:tc>
                <a:tc>
                  <a:txBody>
                    <a:bodyPr wrap="square"/>
                    <a:lstStyle/>
                    <a:p>
                      <a:pPr algn="ctr"/>
                      <a:r>
                        <a:rPr sz="1100" b="0">
                          <a:solidFill>
                            <a:srgbClr val="0F172A"/>
                          </a:solidFill>
                          <a:latin typeface="Aptos Narrow"/>
                        </a:rPr>
                        <a:t>0.852</a:t>
                      </a:r>
                    </a:p>
                  </a:txBody>
                  <a:tcPr marL="73152" marR="73152" marT="27432" marB="27432" anchor="ctr">
                    <a:solidFill>
                      <a:srgbClr val="FFFFFF"/>
                    </a:solidFill>
                  </a:tcPr>
                </a:tc>
                <a:tc>
                  <a:txBody>
                    <a:bodyPr wrap="square"/>
                    <a:lstStyle/>
                    <a:p>
                      <a:pPr algn="ctr"/>
                      <a:r>
                        <a:rPr sz="1100" b="0">
                          <a:solidFill>
                            <a:srgbClr val="0F172A"/>
                          </a:solidFill>
                          <a:latin typeface="Aptos Narrow"/>
                        </a:rPr>
                        <a:t>0.783</a:t>
                      </a:r>
                    </a:p>
                  </a:txBody>
                  <a:tcPr marL="73152" marR="73152" marT="27432" marB="27432" anchor="ctr">
                    <a:solidFill>
                      <a:srgbClr val="FFFFFF"/>
                    </a:solidFill>
                  </a:tcPr>
                </a:tc>
                <a:tc>
                  <a:txBody>
                    <a:bodyPr wrap="square"/>
                    <a:lstStyle/>
                    <a:p>
                      <a:pPr algn="ctr"/>
                      <a:r>
                        <a:rPr sz="1100" b="0">
                          <a:solidFill>
                            <a:srgbClr val="0F172A"/>
                          </a:solidFill>
                          <a:latin typeface="Aptos Narrow"/>
                        </a:rPr>
                        <a:t>0.837</a:t>
                      </a:r>
                    </a:p>
                  </a:txBody>
                  <a:tcPr marL="73152" marR="73152" marT="27432" marB="27432" anchor="ctr">
                    <a:solidFill>
                      <a:srgbClr val="FFFFFF"/>
                    </a:solidFill>
                  </a:tcPr>
                </a:tc>
                <a:tc>
                  <a:txBody>
                    <a:bodyPr wrap="square"/>
                    <a:lstStyle/>
                    <a:p>
                      <a:pPr algn="ctr"/>
                      <a:r>
                        <a:rPr sz="1100" b="0">
                          <a:solidFill>
                            <a:srgbClr val="0F172A"/>
                          </a:solidFill>
                          <a:latin typeface="Aptos Narrow"/>
                        </a:rPr>
                        <a:t>0.935</a:t>
                      </a:r>
                    </a:p>
                  </a:txBody>
                  <a:tcPr marL="73152" marR="73152" marT="27432" marB="27432" anchor="ctr">
                    <a:solidFill>
                      <a:srgbClr val="FFFFFF"/>
                    </a:solidFill>
                  </a:tcPr>
                </a:tc>
                <a:tc>
                  <a:txBody>
                    <a:bodyPr wrap="square"/>
                    <a:lstStyle/>
                    <a:p>
                      <a:pPr algn="ctr"/>
                      <a:r>
                        <a:rPr sz="1100" b="0">
                          <a:solidFill>
                            <a:srgbClr val="0F172A"/>
                          </a:solidFill>
                          <a:latin typeface="Aptos Narrow"/>
                        </a:rPr>
                        <a:t>0.910</a:t>
                      </a:r>
                    </a:p>
                  </a:txBody>
                  <a:tcPr marL="73152" marR="73152" marT="27432" marB="27432" anchor="ctr">
                    <a:solidFill>
                      <a:srgbClr val="FFFFFF"/>
                    </a:solidFill>
                  </a:tcPr>
                </a:tc>
              </a:tr>
              <a:tr h="457200">
                <a:tc>
                  <a:txBody>
                    <a:bodyPr wrap="square"/>
                    <a:lstStyle/>
                    <a:p>
                      <a:pPr algn="l"/>
                      <a:r>
                        <a:rPr sz="1100" b="1">
                          <a:solidFill>
                            <a:srgbClr val="0F172A"/>
                          </a:solidFill>
                          <a:latin typeface="Aptos Narrow"/>
                        </a:rPr>
                        <a:t>Random Forest</a:t>
                      </a:r>
                    </a:p>
                  </a:txBody>
                  <a:tcPr marL="73152" marR="73152" marT="27432" marB="27432" anchor="ctr">
                    <a:solidFill>
                      <a:srgbClr val="FFFFFF"/>
                    </a:solidFill>
                  </a:tcPr>
                </a:tc>
                <a:tc>
                  <a:txBody>
                    <a:bodyPr wrap="square"/>
                    <a:lstStyle/>
                    <a:p>
                      <a:pPr algn="ctr"/>
                      <a:r>
                        <a:rPr sz="1100" b="0">
                          <a:solidFill>
                            <a:srgbClr val="0F172A"/>
                          </a:solidFill>
                          <a:latin typeface="Aptos Narrow"/>
                        </a:rPr>
                        <a:t>0.793 ± 0.021</a:t>
                      </a:r>
                    </a:p>
                  </a:txBody>
                  <a:tcPr marL="73152" marR="73152" marT="27432" marB="27432" anchor="ctr">
                    <a:solidFill>
                      <a:srgbClr val="FFFFFF"/>
                    </a:solidFill>
                  </a:tcPr>
                </a:tc>
                <a:tc>
                  <a:txBody>
                    <a:bodyPr wrap="square"/>
                    <a:lstStyle/>
                    <a:p>
                      <a:pPr algn="ctr"/>
                      <a:r>
                        <a:rPr sz="1100" b="0">
                          <a:solidFill>
                            <a:srgbClr val="0F172A"/>
                          </a:solidFill>
                          <a:latin typeface="Aptos Narrow"/>
                        </a:rPr>
                        <a:t>0.835</a:t>
                      </a:r>
                    </a:p>
                  </a:txBody>
                  <a:tcPr marL="73152" marR="73152" marT="27432" marB="27432" anchor="ctr">
                    <a:solidFill>
                      <a:srgbClr val="FFFFFF"/>
                    </a:solidFill>
                  </a:tcPr>
                </a:tc>
                <a:tc>
                  <a:txBody>
                    <a:bodyPr wrap="square"/>
                    <a:lstStyle/>
                    <a:p>
                      <a:pPr algn="ctr"/>
                      <a:r>
                        <a:rPr sz="1100" b="0">
                          <a:solidFill>
                            <a:srgbClr val="0F172A"/>
                          </a:solidFill>
                          <a:latin typeface="Aptos Narrow"/>
                        </a:rPr>
                        <a:t>0.785</a:t>
                      </a:r>
                    </a:p>
                  </a:txBody>
                  <a:tcPr marL="73152" marR="73152" marT="27432" marB="27432" anchor="ctr">
                    <a:solidFill>
                      <a:srgbClr val="FFFFFF"/>
                    </a:solidFill>
                  </a:tcPr>
                </a:tc>
                <a:tc>
                  <a:txBody>
                    <a:bodyPr wrap="square"/>
                    <a:lstStyle/>
                    <a:p>
                      <a:pPr algn="ctr"/>
                      <a:r>
                        <a:rPr sz="1100" b="0">
                          <a:solidFill>
                            <a:srgbClr val="0F172A"/>
                          </a:solidFill>
                          <a:latin typeface="Aptos Narrow"/>
                        </a:rPr>
                        <a:t>0.824</a:t>
                      </a:r>
                    </a:p>
                  </a:txBody>
                  <a:tcPr marL="73152" marR="73152" marT="27432" marB="27432" anchor="ctr">
                    <a:solidFill>
                      <a:srgbClr val="FFFFFF"/>
                    </a:solidFill>
                  </a:tcPr>
                </a:tc>
                <a:tc>
                  <a:txBody>
                    <a:bodyPr wrap="square"/>
                    <a:lstStyle/>
                    <a:p>
                      <a:pPr algn="ctr"/>
                      <a:r>
                        <a:rPr sz="1100" b="0">
                          <a:solidFill>
                            <a:srgbClr val="0F172A"/>
                          </a:solidFill>
                          <a:latin typeface="Aptos Narrow"/>
                        </a:rPr>
                        <a:t>0.929</a:t>
                      </a:r>
                    </a:p>
                  </a:txBody>
                  <a:tcPr marL="73152" marR="73152" marT="27432" marB="27432" anchor="ctr">
                    <a:solidFill>
                      <a:srgbClr val="FFFFFF"/>
                    </a:solidFill>
                  </a:tcPr>
                </a:tc>
                <a:tc>
                  <a:txBody>
                    <a:bodyPr wrap="square"/>
                    <a:lstStyle/>
                    <a:p>
                      <a:pPr algn="ctr"/>
                      <a:r>
                        <a:rPr sz="1100" b="0">
                          <a:solidFill>
                            <a:srgbClr val="0F172A"/>
                          </a:solidFill>
                          <a:latin typeface="Aptos Narrow"/>
                        </a:rPr>
                        <a:t>0.897</a:t>
                      </a:r>
                    </a:p>
                  </a:txBody>
                  <a:tcPr marL="73152" marR="73152" marT="27432" marB="27432" anchor="ctr">
                    <a:solidFill>
                      <a:srgbClr val="FFFFFF"/>
                    </a:solidFill>
                  </a:tcPr>
                </a:tc>
              </a:tr>
            </a:tbl>
          </a:graphicData>
        </a:graphic>
      </p:graphicFrame>
      <p:sp>
        <p:nvSpPr>
          <p:cNvPr id="11" name="TextBox 10"/>
          <p:cNvSpPr txBox="1"/>
          <p:nvPr/>
        </p:nvSpPr>
        <p:spPr>
          <a:xfrm>
            <a:off x="612648" y="3840480"/>
            <a:ext cx="7315200" cy="228600"/>
          </a:xfrm>
          <a:prstGeom prst="rect">
            <a:avLst/>
          </a:prstGeom>
          <a:noFill/>
        </p:spPr>
        <p:txBody>
          <a:bodyPr wrap="square" lIns="0" rIns="0" tIns="0" bIns="0" anchor="t">
            <a:noAutofit/>
          </a:bodyPr>
          <a:lstStyle/>
          <a:p>
            <a:pPr algn="l"/>
            <a:r>
              <a:rPr sz="1000" b="0">
                <a:solidFill>
                  <a:srgbClr val="64748B"/>
                </a:solidFill>
                <a:latin typeface="Aptos Narrow"/>
              </a:rPr>
              <a:t>Recall, precision, F2, ROC-AUC and PR-AUC are hold-out results at threshold 0.50; models are ranked on training-set CV F2.</a:t>
            </a:r>
          </a:p>
        </p:txBody>
      </p:sp>
      <p:sp>
        <p:nvSpPr>
          <p:cNvPr id="12" name="Rounded Rectangle 11"/>
          <p:cNvSpPr/>
          <p:nvPr/>
        </p:nvSpPr>
        <p:spPr>
          <a:xfrm>
            <a:off x="612648" y="4206240"/>
            <a:ext cx="7360920" cy="182880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41248" y="4315968"/>
            <a:ext cx="6949440" cy="1645920"/>
          </a:xfrm>
          <a:prstGeom prst="rect">
            <a:avLst/>
          </a:prstGeom>
          <a:noFill/>
        </p:spPr>
        <p:txBody>
          <a:bodyPr wrap="square" lIns="0" rIns="0" tIns="0" bIns="0" anchor="t">
            <a:noAutofit/>
          </a:bodyPr>
          <a:lstStyle/>
          <a:p>
            <a:pPr algn="l">
              <a:spcAft>
                <a:spcPts val="400"/>
              </a:spcAft>
            </a:pPr>
            <a:r>
              <a:rPr sz="1000" b="1">
                <a:solidFill>
                  <a:srgbClr val="0284C7"/>
                </a:solidFill>
                <a:latin typeface="Aptos Narrow"/>
              </a:rPr>
              <a:t>SEARCH SPACE (GridSearchCV, stratified 5-fold, scoring = F2)</a:t>
            </a:r>
          </a:p>
          <a:p>
            <a:pPr algn="l">
              <a:spcAft>
                <a:spcPts val="200"/>
              </a:spcAft>
            </a:pPr>
            <a:r>
              <a:rPr sz="1050" b="1">
                <a:solidFill>
                  <a:srgbClr val="0F172A"/>
                </a:solidFill>
                <a:latin typeface="Aptos Narrow"/>
              </a:rPr>
              <a:t>Logistic Regression: </a:t>
            </a:r>
            <a:r>
              <a:rPr sz="1050" b="0">
                <a:solidFill>
                  <a:srgbClr val="475569"/>
                </a:solidFill>
                <a:latin typeface="Aptos Narrow"/>
              </a:rPr>
              <a:t>scaler + classifier; C, class_weight, solver.</a:t>
            </a:r>
          </a:p>
          <a:p>
            <a:pPr algn="l">
              <a:spcAft>
                <a:spcPts val="200"/>
              </a:spcAft>
            </a:pPr>
            <a:r>
              <a:rPr sz="1050" b="1">
                <a:solidFill>
                  <a:srgbClr val="0F172A"/>
                </a:solidFill>
                <a:latin typeface="Aptos Narrow"/>
              </a:rPr>
              <a:t>Random Forest: </a:t>
            </a:r>
            <a:r>
              <a:rPr sz="1050" b="0">
                <a:solidFill>
                  <a:srgbClr val="475569"/>
                </a:solidFill>
                <a:latin typeface="Aptos Narrow"/>
              </a:rPr>
              <a:t>n_estimators, max_depth, class_weight, min_samples_split.</a:t>
            </a:r>
          </a:p>
          <a:p>
            <a:pPr algn="l">
              <a:spcAft>
                <a:spcPts val="200"/>
              </a:spcAft>
            </a:pPr>
            <a:r>
              <a:rPr sz="1050" b="1">
                <a:solidFill>
                  <a:srgbClr val="0F172A"/>
                </a:solidFill>
                <a:latin typeface="Aptos Narrow"/>
              </a:rPr>
              <a:t>XGBoost: </a:t>
            </a:r>
            <a:r>
              <a:rPr sz="1050" b="0">
                <a:solidFill>
                  <a:srgbClr val="475569"/>
                </a:solidFill>
                <a:latin typeface="Aptos Narrow"/>
              </a:rPr>
              <a:t>n_estimators, max_depth, learning_rate, scale_pos_weight in {1, 3, 5}.</a:t>
            </a:r>
          </a:p>
          <a:p>
            <a:pPr algn="l">
              <a:spcAft>
                <a:spcPts val="200"/>
              </a:spcAft>
            </a:pPr>
            <a:r>
              <a:rPr sz="1050" b="1">
                <a:solidFill>
                  <a:srgbClr val="0F172A"/>
                </a:solidFill>
                <a:latin typeface="Aptos Narrow"/>
              </a:rPr>
              <a:t>LightGBM: </a:t>
            </a:r>
            <a:r>
              <a:rPr sz="1050" b="0">
                <a:solidFill>
                  <a:srgbClr val="475569"/>
                </a:solidFill>
                <a:latin typeface="Aptos Narrow"/>
              </a:rPr>
              <a:t>n_estimators, max_depth, learning_rate, class_weight.</a:t>
            </a:r>
          </a:p>
        </p:txBody>
      </p:sp>
      <p:sp>
        <p:nvSpPr>
          <p:cNvPr id="14" name="Rounded Rectangle 13"/>
          <p:cNvSpPr/>
          <p:nvPr/>
        </p:nvSpPr>
        <p:spPr>
          <a:xfrm>
            <a:off x="8183879" y="1508760"/>
            <a:ext cx="3401568" cy="452628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80" y="1645920"/>
            <a:ext cx="2971800" cy="4297680"/>
          </a:xfrm>
          <a:prstGeom prst="rect">
            <a:avLst/>
          </a:prstGeom>
          <a:noFill/>
        </p:spPr>
        <p:txBody>
          <a:bodyPr wrap="square" lIns="0" rIns="0" tIns="0" bIns="0" anchor="t">
            <a:noAutofit/>
          </a:bodyPr>
          <a:lstStyle/>
          <a:p>
            <a:pPr algn="l">
              <a:spcAft>
                <a:spcPts val="300"/>
              </a:spcAft>
            </a:pPr>
            <a:r>
              <a:rPr sz="1000" b="1">
                <a:solidFill>
                  <a:srgbClr val="0284C7"/>
                </a:solidFill>
                <a:latin typeface="Aptos Narrow"/>
              </a:rPr>
              <a:t>SELECTION</a:t>
            </a:r>
          </a:p>
          <a:p>
            <a:pPr algn="l">
              <a:spcAft>
                <a:spcPts val="600"/>
              </a:spcAft>
            </a:pPr>
            <a:r>
              <a:rPr sz="1800" b="1">
                <a:solidFill>
                  <a:srgbClr val="0F172A"/>
                </a:solidFill>
                <a:latin typeface="Aptos Narrow"/>
              </a:rPr>
              <a:t>Why XGBoost</a:t>
            </a:r>
          </a:p>
          <a:p>
            <a:pPr algn="l">
              <a:spcAft>
                <a:spcPts val="500"/>
              </a:spcAft>
            </a:pPr>
            <a:r>
              <a:rPr sz="1050" b="0">
                <a:solidFill>
                  <a:srgbClr val="475569"/>
                </a:solidFill>
                <a:latin typeface="Aptos Narrow"/>
              </a:rPr>
              <a:t>Ranked first on CV F2 (0.825); the test set played no part in the choice.</a:t>
            </a:r>
          </a:p>
          <a:p>
            <a:pPr algn="l">
              <a:spcAft>
                <a:spcPts val="500"/>
              </a:spcAft>
            </a:pPr>
            <a:r>
              <a:rPr sz="1050" b="0">
                <a:solidFill>
                  <a:srgbClr val="475569"/>
                </a:solidFill>
                <a:latin typeface="Aptos Narrow"/>
              </a:rPr>
              <a:t>Best parameters: learning rate 0.1, depth 3, 100 trees, scale_pos_weight 5.</a:t>
            </a:r>
          </a:p>
          <a:p>
            <a:pPr algn="l">
              <a:spcAft>
                <a:spcPts val="500"/>
              </a:spcAft>
            </a:pPr>
            <a:r>
              <a:rPr sz="1050" b="0">
                <a:solidFill>
                  <a:srgbClr val="475569"/>
                </a:solidFill>
                <a:latin typeface="Aptos Narrow"/>
              </a:rPr>
              <a:t>Margin over the runner-up is 0.019, smaller than one fold std (0.020): a judgement call, not a decisive win.</a:t>
            </a:r>
          </a:p>
          <a:p>
            <a:pPr algn="l">
              <a:spcAft>
                <a:spcPts val="500"/>
              </a:spcAft>
            </a:pPr>
            <a:r>
              <a:rPr sz="1050" b="0">
                <a:solidFill>
                  <a:srgbClr val="475569"/>
                </a:solidFill>
                <a:latin typeface="Aptos Narrow"/>
              </a:rPr>
              <a:t>Hold-out recall 0.912 meets the 0.85 target.</a:t>
            </a:r>
          </a:p>
          <a:p>
            <a:pPr algn="l">
              <a:spcAft>
                <a:spcPts val="500"/>
              </a:spcAft>
            </a:pPr>
            <a:r>
              <a:rPr sz="1050" b="0">
                <a:solidFill>
                  <a:srgbClr val="475569"/>
                </a:solidFill>
                <a:latin typeface="Aptos Narrow"/>
              </a:rPr>
              <a:t>Saved: every tuned model (.joblib), the comparison CSV and a config JSON.</a:t>
            </a:r>
          </a:p>
        </p:txBody>
      </p:sp>
    </p:spTree>
    <p:extLst>
      <p:ext uri="{BB962C8B-B14F-4D97-AF65-F5344CB8AC3E}">
        <p14:creationId xmlns:p14="http://schemas.microsoft.com/office/powerpoint/2010/main" val="3532973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BD5FD0E1-AB33-2C5B-6E7E-3260D8656BB6}"/>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7" name="Slide Number Placeholder 6">
            <a:extLst>
              <a:ext uri="{FF2B5EF4-FFF2-40B4-BE49-F238E27FC236}">
                <a16:creationId xmlns:a16="http://schemas.microsoft.com/office/drawing/2014/main" id="{0A853C79-7955-8264-BF54-2EA0881C4E25}"/>
              </a:ext>
            </a:extLst>
          </p:cNvPr>
          <p:cNvSpPr>
            <a:spLocks noGrp="1"/>
          </p:cNvSpPr>
          <p:nvPr>
            <p:ph type="sldNum" sz="quarter" idx="11"/>
          </p:nvPr>
        </p:nvSpPr>
        <p:spPr/>
        <p:txBody>
          <a:bodyPr/>
          <a:lstStyle/>
          <a:p>
            <a:fld id="{B67B645E-C5E5-4727-B977-D372A0AA71D9}" type="slidenum">
              <a:rPr lang="en-US" smtClean="0"/>
              <a:pPr/>
              <a:t>8</a:t>
            </a:fld>
            <a:endParaRPr lang="en-US" dirty="0"/>
          </a:p>
        </p:txBody>
      </p:sp>
      <p:sp>
        <p:nvSpPr>
          <p:cNvPr id="8" name="TextBox 7"/>
          <p:cNvSpPr txBox="1"/>
          <p:nvPr/>
        </p:nvSpPr>
        <p:spPr>
          <a:xfrm>
            <a:off x="612648" y="457200"/>
            <a:ext cx="7315200" cy="182880"/>
          </a:xfrm>
          <a:prstGeom prst="rect">
            <a:avLst/>
          </a:prstGeom>
          <a:noFill/>
        </p:spPr>
        <p:txBody>
          <a:bodyPr wrap="square" lIns="0" rIns="0" tIns="0" bIns="0" anchor="t">
            <a:noAutofit/>
          </a:bodyPr>
          <a:lstStyle/>
          <a:p>
            <a:pPr algn="l"/>
            <a:r>
              <a:rPr sz="1000" b="1">
                <a:solidFill>
                  <a:srgbClr val="0284C7"/>
                </a:solidFill>
                <a:latin typeface="Aptos Narrow"/>
              </a:rPr>
              <a:t>STEP 5A: EVALUATION &amp; LIMITATIONS AUDIT</a:t>
            </a:r>
          </a:p>
        </p:txBody>
      </p:sp>
      <p:sp>
        <p:nvSpPr>
          <p:cNvPr id="9" name="TextBox 8"/>
          <p:cNvSpPr txBox="1"/>
          <p:nvPr/>
        </p:nvSpPr>
        <p:spPr>
          <a:xfrm>
            <a:off x="612648" y="667512"/>
            <a:ext cx="10972800" cy="457200"/>
          </a:xfrm>
          <a:prstGeom prst="rect">
            <a:avLst/>
          </a:prstGeom>
          <a:noFill/>
        </p:spPr>
        <p:txBody>
          <a:bodyPr wrap="square" lIns="0" rIns="0" tIns="0" bIns="0" anchor="t">
            <a:noAutofit/>
          </a:bodyPr>
          <a:lstStyle/>
          <a:p>
            <a:pPr algn="l"/>
            <a:r>
              <a:rPr sz="2400" b="1">
                <a:solidFill>
                  <a:srgbClr val="0F172A"/>
                </a:solidFill>
                <a:latin typeface="Aptos Narrow"/>
              </a:rPr>
              <a:t>Is the Model Strong, Leakage-Free and Generalising?</a:t>
            </a:r>
          </a:p>
        </p:txBody>
      </p:sp>
      <p:sp>
        <p:nvSpPr>
          <p:cNvPr id="10" name="Rounded Rectangle 9"/>
          <p:cNvSpPr/>
          <p:nvPr/>
        </p:nvSpPr>
        <p:spPr>
          <a:xfrm>
            <a:off x="612648" y="1508760"/>
            <a:ext cx="6858000" cy="2439112"/>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Figure 9_1" descr="Technical_Slides_Rex_Villamar_Pillar_5_Capstone_Project_9_1.png"/>
          <p:cNvPicPr>
            <a:picLocks noChangeAspect="1"/>
          </p:cNvPicPr>
          <p:nvPr/>
        </p:nvPicPr>
        <p:blipFill>
          <a:blip r:embed="rId6"/>
          <a:stretch>
            <a:fillRect/>
          </a:stretch>
        </p:blipFill>
        <p:spPr>
          <a:xfrm>
            <a:off x="704088" y="1600200"/>
            <a:ext cx="6675120" cy="2256232"/>
          </a:xfrm>
          <a:prstGeom prst="rect">
            <a:avLst/>
          </a:prstGeom>
        </p:spPr>
      </p:pic>
      <p:sp>
        <p:nvSpPr>
          <p:cNvPr id="12" name="Rounded Rectangle 11"/>
          <p:cNvSpPr/>
          <p:nvPr/>
        </p:nvSpPr>
        <p:spPr>
          <a:xfrm>
            <a:off x="7772400" y="1508760"/>
            <a:ext cx="1828800" cy="73152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63840" y="1581912"/>
            <a:ext cx="1645920" cy="402336"/>
          </a:xfrm>
          <a:prstGeom prst="rect">
            <a:avLst/>
          </a:prstGeom>
          <a:noFill/>
        </p:spPr>
        <p:txBody>
          <a:bodyPr wrap="square" lIns="0" rIns="0" tIns="0" bIns="0" anchor="t">
            <a:noAutofit/>
          </a:bodyPr>
          <a:lstStyle/>
          <a:p>
            <a:pPr algn="ctr"/>
            <a:r>
              <a:rPr sz="1800" b="1">
                <a:solidFill>
                  <a:srgbClr val="0284C7"/>
                </a:solidFill>
                <a:latin typeface="Aptos Narrow"/>
              </a:rPr>
              <a:t>0.912</a:t>
            </a:r>
          </a:p>
        </p:txBody>
      </p:sp>
      <p:sp>
        <p:nvSpPr>
          <p:cNvPr id="14" name="TextBox 13"/>
          <p:cNvSpPr txBox="1"/>
          <p:nvPr/>
        </p:nvSpPr>
        <p:spPr>
          <a:xfrm>
            <a:off x="7863840" y="1962302"/>
            <a:ext cx="1645920" cy="256031"/>
          </a:xfrm>
          <a:prstGeom prst="rect">
            <a:avLst/>
          </a:prstGeom>
          <a:noFill/>
        </p:spPr>
        <p:txBody>
          <a:bodyPr wrap="square" lIns="0" rIns="0" tIns="0" bIns="0" anchor="t">
            <a:noAutofit/>
          </a:bodyPr>
          <a:lstStyle/>
          <a:p>
            <a:pPr algn="ctr"/>
            <a:r>
              <a:rPr sz="1000" b="1">
                <a:solidFill>
                  <a:srgbClr val="64748B"/>
                </a:solidFill>
                <a:latin typeface="Aptos Narrow"/>
              </a:rPr>
              <a:t>RECALL</a:t>
            </a:r>
          </a:p>
        </p:txBody>
      </p:sp>
      <p:sp>
        <p:nvSpPr>
          <p:cNvPr id="15" name="Rounded Rectangle 14"/>
          <p:cNvSpPr/>
          <p:nvPr/>
        </p:nvSpPr>
        <p:spPr>
          <a:xfrm>
            <a:off x="9710928" y="1508760"/>
            <a:ext cx="1828800" cy="73152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802368" y="1581912"/>
            <a:ext cx="1645920" cy="402336"/>
          </a:xfrm>
          <a:prstGeom prst="rect">
            <a:avLst/>
          </a:prstGeom>
          <a:noFill/>
        </p:spPr>
        <p:txBody>
          <a:bodyPr wrap="square" lIns="0" rIns="0" tIns="0" bIns="0" anchor="t">
            <a:noAutofit/>
          </a:bodyPr>
          <a:lstStyle/>
          <a:p>
            <a:pPr algn="ctr"/>
            <a:r>
              <a:rPr sz="1800" b="1">
                <a:solidFill>
                  <a:srgbClr val="0F172A"/>
                </a:solidFill>
                <a:latin typeface="Aptos Narrow"/>
              </a:rPr>
              <a:t>0.685</a:t>
            </a:r>
          </a:p>
        </p:txBody>
      </p:sp>
      <p:sp>
        <p:nvSpPr>
          <p:cNvPr id="17" name="TextBox 16"/>
          <p:cNvSpPr txBox="1"/>
          <p:nvPr/>
        </p:nvSpPr>
        <p:spPr>
          <a:xfrm>
            <a:off x="9802368" y="1962302"/>
            <a:ext cx="1645920" cy="256031"/>
          </a:xfrm>
          <a:prstGeom prst="rect">
            <a:avLst/>
          </a:prstGeom>
          <a:noFill/>
        </p:spPr>
        <p:txBody>
          <a:bodyPr wrap="square" lIns="0" rIns="0" tIns="0" bIns="0" anchor="t">
            <a:noAutofit/>
          </a:bodyPr>
          <a:lstStyle/>
          <a:p>
            <a:pPr algn="ctr"/>
            <a:r>
              <a:rPr sz="1000" b="1">
                <a:solidFill>
                  <a:srgbClr val="64748B"/>
                </a:solidFill>
                <a:latin typeface="Aptos Narrow"/>
              </a:rPr>
              <a:t>PRECISION</a:t>
            </a:r>
          </a:p>
        </p:txBody>
      </p:sp>
      <p:sp>
        <p:nvSpPr>
          <p:cNvPr id="18" name="Rounded Rectangle 17"/>
          <p:cNvSpPr/>
          <p:nvPr/>
        </p:nvSpPr>
        <p:spPr>
          <a:xfrm>
            <a:off x="7772400" y="2331720"/>
            <a:ext cx="1828800" cy="73152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863840" y="2404872"/>
            <a:ext cx="1645920" cy="402336"/>
          </a:xfrm>
          <a:prstGeom prst="rect">
            <a:avLst/>
          </a:prstGeom>
          <a:noFill/>
        </p:spPr>
        <p:txBody>
          <a:bodyPr wrap="square" lIns="0" rIns="0" tIns="0" bIns="0" anchor="t">
            <a:noAutofit/>
          </a:bodyPr>
          <a:lstStyle/>
          <a:p>
            <a:pPr algn="ctr"/>
            <a:r>
              <a:rPr sz="1800" b="1">
                <a:solidFill>
                  <a:srgbClr val="0F172A"/>
                </a:solidFill>
                <a:latin typeface="Aptos Narrow"/>
              </a:rPr>
              <a:t>0.855</a:t>
            </a:r>
          </a:p>
        </p:txBody>
      </p:sp>
      <p:sp>
        <p:nvSpPr>
          <p:cNvPr id="20" name="TextBox 19"/>
          <p:cNvSpPr txBox="1"/>
          <p:nvPr/>
        </p:nvSpPr>
        <p:spPr>
          <a:xfrm>
            <a:off x="7863840" y="2785262"/>
            <a:ext cx="1645920" cy="256031"/>
          </a:xfrm>
          <a:prstGeom prst="rect">
            <a:avLst/>
          </a:prstGeom>
          <a:noFill/>
        </p:spPr>
        <p:txBody>
          <a:bodyPr wrap="square" lIns="0" rIns="0" tIns="0" bIns="0" anchor="t">
            <a:noAutofit/>
          </a:bodyPr>
          <a:lstStyle/>
          <a:p>
            <a:pPr algn="ctr"/>
            <a:r>
              <a:rPr sz="1000" b="1">
                <a:solidFill>
                  <a:srgbClr val="64748B"/>
                </a:solidFill>
                <a:latin typeface="Aptos Narrow"/>
              </a:rPr>
              <a:t>F2</a:t>
            </a:r>
          </a:p>
        </p:txBody>
      </p:sp>
      <p:sp>
        <p:nvSpPr>
          <p:cNvPr id="21" name="Rounded Rectangle 20"/>
          <p:cNvSpPr/>
          <p:nvPr/>
        </p:nvSpPr>
        <p:spPr>
          <a:xfrm>
            <a:off x="9710928" y="2331720"/>
            <a:ext cx="1828800" cy="73152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02368" y="2404872"/>
            <a:ext cx="1645920" cy="402336"/>
          </a:xfrm>
          <a:prstGeom prst="rect">
            <a:avLst/>
          </a:prstGeom>
          <a:noFill/>
        </p:spPr>
        <p:txBody>
          <a:bodyPr wrap="square" lIns="0" rIns="0" tIns="0" bIns="0" anchor="t">
            <a:noAutofit/>
          </a:bodyPr>
          <a:lstStyle/>
          <a:p>
            <a:pPr algn="ctr"/>
            <a:r>
              <a:rPr sz="1800" b="1">
                <a:solidFill>
                  <a:srgbClr val="0F172A"/>
                </a:solidFill>
                <a:latin typeface="Aptos Narrow"/>
              </a:rPr>
              <a:t>0.937</a:t>
            </a:r>
          </a:p>
        </p:txBody>
      </p:sp>
      <p:sp>
        <p:nvSpPr>
          <p:cNvPr id="23" name="TextBox 22"/>
          <p:cNvSpPr txBox="1"/>
          <p:nvPr/>
        </p:nvSpPr>
        <p:spPr>
          <a:xfrm>
            <a:off x="9802368" y="2785262"/>
            <a:ext cx="1645920" cy="256031"/>
          </a:xfrm>
          <a:prstGeom prst="rect">
            <a:avLst/>
          </a:prstGeom>
          <a:noFill/>
        </p:spPr>
        <p:txBody>
          <a:bodyPr wrap="square" lIns="0" rIns="0" tIns="0" bIns="0" anchor="t">
            <a:noAutofit/>
          </a:bodyPr>
          <a:lstStyle/>
          <a:p>
            <a:pPr algn="ctr"/>
            <a:r>
              <a:rPr sz="1000" b="1">
                <a:solidFill>
                  <a:srgbClr val="64748B"/>
                </a:solidFill>
                <a:latin typeface="Aptos Narrow"/>
              </a:rPr>
              <a:t>ROC-AUC</a:t>
            </a:r>
          </a:p>
        </p:txBody>
      </p:sp>
      <p:sp>
        <p:nvSpPr>
          <p:cNvPr id="24" name="Rounded Rectangle 23"/>
          <p:cNvSpPr/>
          <p:nvPr/>
        </p:nvSpPr>
        <p:spPr>
          <a:xfrm>
            <a:off x="7772400" y="3154680"/>
            <a:ext cx="1828800" cy="73152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863840" y="3227832"/>
            <a:ext cx="1645920" cy="402336"/>
          </a:xfrm>
          <a:prstGeom prst="rect">
            <a:avLst/>
          </a:prstGeom>
          <a:noFill/>
        </p:spPr>
        <p:txBody>
          <a:bodyPr wrap="square" lIns="0" rIns="0" tIns="0" bIns="0" anchor="t">
            <a:noAutofit/>
          </a:bodyPr>
          <a:lstStyle/>
          <a:p>
            <a:pPr algn="ctr"/>
            <a:r>
              <a:rPr sz="1800" b="1">
                <a:solidFill>
                  <a:srgbClr val="0F172A"/>
                </a:solidFill>
                <a:latin typeface="Aptos Narrow"/>
              </a:rPr>
              <a:t>0.911</a:t>
            </a:r>
          </a:p>
        </p:txBody>
      </p:sp>
      <p:sp>
        <p:nvSpPr>
          <p:cNvPr id="26" name="TextBox 25"/>
          <p:cNvSpPr txBox="1"/>
          <p:nvPr/>
        </p:nvSpPr>
        <p:spPr>
          <a:xfrm>
            <a:off x="7863840" y="3608222"/>
            <a:ext cx="1645920" cy="256031"/>
          </a:xfrm>
          <a:prstGeom prst="rect">
            <a:avLst/>
          </a:prstGeom>
          <a:noFill/>
        </p:spPr>
        <p:txBody>
          <a:bodyPr wrap="square" lIns="0" rIns="0" tIns="0" bIns="0" anchor="t">
            <a:noAutofit/>
          </a:bodyPr>
          <a:lstStyle/>
          <a:p>
            <a:pPr algn="ctr"/>
            <a:r>
              <a:rPr sz="1000" b="1">
                <a:solidFill>
                  <a:srgbClr val="64748B"/>
                </a:solidFill>
                <a:latin typeface="Aptos Narrow"/>
              </a:rPr>
              <a:t>PR-AUC</a:t>
            </a:r>
          </a:p>
        </p:txBody>
      </p:sp>
      <p:sp>
        <p:nvSpPr>
          <p:cNvPr id="27" name="Rounded Rectangle 26"/>
          <p:cNvSpPr/>
          <p:nvPr/>
        </p:nvSpPr>
        <p:spPr>
          <a:xfrm>
            <a:off x="9710928" y="3154680"/>
            <a:ext cx="1828800" cy="73152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802368" y="3227832"/>
            <a:ext cx="1645920" cy="402336"/>
          </a:xfrm>
          <a:prstGeom prst="rect">
            <a:avLst/>
          </a:prstGeom>
          <a:noFill/>
        </p:spPr>
        <p:txBody>
          <a:bodyPr wrap="square" lIns="0" rIns="0" tIns="0" bIns="0" anchor="t">
            <a:noAutofit/>
          </a:bodyPr>
          <a:lstStyle/>
          <a:p>
            <a:pPr algn="ctr"/>
            <a:r>
              <a:rPr sz="1800" b="1">
                <a:solidFill>
                  <a:srgbClr val="D97706"/>
                </a:solidFill>
                <a:latin typeface="Aptos Narrow"/>
              </a:rPr>
              <a:t>42.7%</a:t>
            </a:r>
          </a:p>
        </p:txBody>
      </p:sp>
      <p:sp>
        <p:nvSpPr>
          <p:cNvPr id="29" name="TextBox 28"/>
          <p:cNvSpPr txBox="1"/>
          <p:nvPr/>
        </p:nvSpPr>
        <p:spPr>
          <a:xfrm>
            <a:off x="9802368" y="3608222"/>
            <a:ext cx="1645920" cy="256031"/>
          </a:xfrm>
          <a:prstGeom prst="rect">
            <a:avLst/>
          </a:prstGeom>
          <a:noFill/>
        </p:spPr>
        <p:txBody>
          <a:bodyPr wrap="square" lIns="0" rIns="0" tIns="0" bIns="0" anchor="t">
            <a:noAutofit/>
          </a:bodyPr>
          <a:lstStyle/>
          <a:p>
            <a:pPr algn="ctr"/>
            <a:r>
              <a:rPr sz="1000" b="1">
                <a:solidFill>
                  <a:srgbClr val="64748B"/>
                </a:solidFill>
                <a:latin typeface="Aptos Narrow"/>
              </a:rPr>
              <a:t>STUDENTS FLAGGED</a:t>
            </a:r>
          </a:p>
        </p:txBody>
      </p:sp>
      <p:sp>
        <p:nvSpPr>
          <p:cNvPr id="30" name="Rounded Rectangle 29"/>
          <p:cNvSpPr/>
          <p:nvPr/>
        </p:nvSpPr>
        <p:spPr>
          <a:xfrm>
            <a:off x="612648" y="4023360"/>
            <a:ext cx="4206240" cy="201168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7240" y="4096512"/>
            <a:ext cx="3931920" cy="228600"/>
          </a:xfrm>
          <a:prstGeom prst="rect">
            <a:avLst/>
          </a:prstGeom>
          <a:noFill/>
        </p:spPr>
        <p:txBody>
          <a:bodyPr wrap="square" lIns="0" rIns="0" tIns="0" bIns="0" anchor="t">
            <a:noAutofit/>
          </a:bodyPr>
          <a:lstStyle/>
          <a:p>
            <a:pPr algn="l"/>
            <a:r>
              <a:rPr sz="950" b="1">
                <a:solidFill>
                  <a:srgbClr val="0284C7"/>
                </a:solidFill>
                <a:latin typeface="Aptos Narrow"/>
              </a:rPr>
              <a:t>OVERFITTING CHECK (5-fold CV)</a:t>
            </a:r>
          </a:p>
        </p:txBody>
      </p:sp>
      <p:graphicFrame>
        <p:nvGraphicFramePr>
          <p:cNvPr id="32" name="Table 31"/>
          <p:cNvGraphicFramePr>
            <a:graphicFrameLocks noGrp="1"/>
          </p:cNvGraphicFramePr>
          <p:nvPr/>
        </p:nvGraphicFramePr>
        <p:xfrm>
          <a:off x="731520" y="4370832"/>
          <a:ext cx="3886200" cy="1554480"/>
        </p:xfrm>
        <a:graphic>
          <a:graphicData uri="http://schemas.openxmlformats.org/drawingml/2006/table">
            <a:tbl>
              <a:tblPr firstRow="0" bandRow="0">
                <a:tableStyleId>{5C22544A-7EE6-4342-B048-85BDC9FD1C3A}</a:tableStyleId>
              </a:tblPr>
              <a:tblGrid>
                <a:gridCol w="1280160"/>
                <a:gridCol w="868680"/>
                <a:gridCol w="868680"/>
                <a:gridCol w="868680"/>
              </a:tblGrid>
              <a:tr h="310896">
                <a:tc>
                  <a:txBody>
                    <a:bodyPr wrap="square"/>
                    <a:lstStyle/>
                    <a:p>
                      <a:pPr algn="l"/>
                      <a:r>
                        <a:rPr sz="1000" b="1">
                          <a:solidFill>
                            <a:srgbClr val="FFFFFF"/>
                          </a:solidFill>
                          <a:latin typeface="Aptos Narrow"/>
                        </a:rPr>
                        <a:t>Metric</a:t>
                      </a:r>
                    </a:p>
                  </a:txBody>
                  <a:tcPr marL="73152" marR="73152" marT="27432" marB="27432" anchor="ctr">
                    <a:solidFill>
                      <a:srgbClr val="0F172A"/>
                    </a:solidFill>
                  </a:tcPr>
                </a:tc>
                <a:tc>
                  <a:txBody>
                    <a:bodyPr wrap="square"/>
                    <a:lstStyle/>
                    <a:p>
                      <a:pPr algn="ctr"/>
                      <a:r>
                        <a:rPr sz="1000" b="1">
                          <a:solidFill>
                            <a:srgbClr val="FFFFFF"/>
                          </a:solidFill>
                          <a:latin typeface="Aptos Narrow"/>
                        </a:rPr>
                        <a:t>Train</a:t>
                      </a:r>
                    </a:p>
                  </a:txBody>
                  <a:tcPr marL="73152" marR="73152" marT="27432" marB="27432" anchor="ctr">
                    <a:solidFill>
                      <a:srgbClr val="0F172A"/>
                    </a:solidFill>
                  </a:tcPr>
                </a:tc>
                <a:tc>
                  <a:txBody>
                    <a:bodyPr wrap="square"/>
                    <a:lstStyle/>
                    <a:p>
                      <a:pPr algn="ctr"/>
                      <a:r>
                        <a:rPr sz="1000" b="1">
                          <a:solidFill>
                            <a:srgbClr val="FFFFFF"/>
                          </a:solidFill>
                          <a:latin typeface="Aptos Narrow"/>
                        </a:rPr>
                        <a:t>Valid.</a:t>
                      </a:r>
                    </a:p>
                  </a:txBody>
                  <a:tcPr marL="73152" marR="73152" marT="27432" marB="27432" anchor="ctr">
                    <a:solidFill>
                      <a:srgbClr val="0F172A"/>
                    </a:solidFill>
                  </a:tcPr>
                </a:tc>
                <a:tc>
                  <a:txBody>
                    <a:bodyPr wrap="square"/>
                    <a:lstStyle/>
                    <a:p>
                      <a:pPr algn="ctr"/>
                      <a:r>
                        <a:rPr sz="1000" b="1">
                          <a:solidFill>
                            <a:srgbClr val="FFFFFF"/>
                          </a:solidFill>
                          <a:latin typeface="Aptos Narrow"/>
                        </a:rPr>
                        <a:t>Gap</a:t>
                      </a:r>
                    </a:p>
                  </a:txBody>
                  <a:tcPr marL="73152" marR="73152" marT="27432" marB="27432" anchor="ctr">
                    <a:solidFill>
                      <a:srgbClr val="0F172A"/>
                    </a:solidFill>
                  </a:tcPr>
                </a:tc>
              </a:tr>
              <a:tr h="310896">
                <a:tc>
                  <a:txBody>
                    <a:bodyPr wrap="square"/>
                    <a:lstStyle/>
                    <a:p>
                      <a:pPr algn="l"/>
                      <a:r>
                        <a:rPr sz="1000" b="1">
                          <a:solidFill>
                            <a:srgbClr val="0F172A"/>
                          </a:solidFill>
                          <a:latin typeface="Aptos Narrow"/>
                        </a:rPr>
                        <a:t>Recall</a:t>
                      </a:r>
                    </a:p>
                  </a:txBody>
                  <a:tcPr marL="73152" marR="73152" marT="27432" marB="27432" anchor="ctr">
                    <a:solidFill>
                      <a:srgbClr val="FFFFFF"/>
                    </a:solidFill>
                  </a:tcPr>
                </a:tc>
                <a:tc>
                  <a:txBody>
                    <a:bodyPr wrap="square"/>
                    <a:lstStyle/>
                    <a:p>
                      <a:pPr algn="ctr"/>
                      <a:r>
                        <a:rPr sz="1000" b="0">
                          <a:solidFill>
                            <a:srgbClr val="0F172A"/>
                          </a:solidFill>
                          <a:latin typeface="Aptos Narrow"/>
                        </a:rPr>
                        <a:t>0.932</a:t>
                      </a:r>
                    </a:p>
                  </a:txBody>
                  <a:tcPr marL="73152" marR="73152" marT="27432" marB="27432" anchor="ctr">
                    <a:solidFill>
                      <a:srgbClr val="FFFFFF"/>
                    </a:solidFill>
                  </a:tcPr>
                </a:tc>
                <a:tc>
                  <a:txBody>
                    <a:bodyPr wrap="square"/>
                    <a:lstStyle/>
                    <a:p>
                      <a:pPr algn="ctr"/>
                      <a:r>
                        <a:rPr sz="1000" b="0">
                          <a:solidFill>
                            <a:srgbClr val="0F172A"/>
                          </a:solidFill>
                          <a:latin typeface="Aptos Narrow"/>
                        </a:rPr>
                        <a:t>0.880</a:t>
                      </a:r>
                    </a:p>
                  </a:txBody>
                  <a:tcPr marL="73152" marR="73152" marT="27432" marB="27432" anchor="ctr">
                    <a:solidFill>
                      <a:srgbClr val="FFFFFF"/>
                    </a:solidFill>
                  </a:tcPr>
                </a:tc>
                <a:tc>
                  <a:txBody>
                    <a:bodyPr wrap="square"/>
                    <a:lstStyle/>
                    <a:p>
                      <a:pPr algn="ctr"/>
                      <a:r>
                        <a:rPr sz="1000" b="0">
                          <a:solidFill>
                            <a:srgbClr val="0F172A"/>
                          </a:solidFill>
                          <a:latin typeface="Aptos Narrow"/>
                        </a:rPr>
                        <a:t>+0.053</a:t>
                      </a:r>
                    </a:p>
                  </a:txBody>
                  <a:tcPr marL="73152" marR="73152" marT="27432" marB="27432" anchor="ctr">
                    <a:solidFill>
                      <a:srgbClr val="FFFFFF"/>
                    </a:solidFill>
                  </a:tcPr>
                </a:tc>
              </a:tr>
              <a:tr h="310896">
                <a:tc>
                  <a:txBody>
                    <a:bodyPr wrap="square"/>
                    <a:lstStyle/>
                    <a:p>
                      <a:pPr algn="l"/>
                      <a:r>
                        <a:rPr sz="1000" b="1">
                          <a:solidFill>
                            <a:srgbClr val="0F172A"/>
                          </a:solidFill>
                          <a:latin typeface="Aptos Narrow"/>
                        </a:rPr>
                        <a:t>Precision</a:t>
                      </a:r>
                    </a:p>
                  </a:txBody>
                  <a:tcPr marL="73152" marR="73152" marT="27432" marB="27432" anchor="ctr">
                    <a:solidFill>
                      <a:srgbClr val="FFFFFF"/>
                    </a:solidFill>
                  </a:tcPr>
                </a:tc>
                <a:tc>
                  <a:txBody>
                    <a:bodyPr wrap="square"/>
                    <a:lstStyle/>
                    <a:p>
                      <a:pPr algn="ctr"/>
                      <a:r>
                        <a:rPr sz="1000" b="0">
                          <a:solidFill>
                            <a:srgbClr val="0F172A"/>
                          </a:solidFill>
                          <a:latin typeface="Aptos Narrow"/>
                        </a:rPr>
                        <a:t>0.699</a:t>
                      </a:r>
                    </a:p>
                  </a:txBody>
                  <a:tcPr marL="73152" marR="73152" marT="27432" marB="27432" anchor="ctr">
                    <a:solidFill>
                      <a:srgbClr val="FFFFFF"/>
                    </a:solidFill>
                  </a:tcPr>
                </a:tc>
                <a:tc>
                  <a:txBody>
                    <a:bodyPr wrap="square"/>
                    <a:lstStyle/>
                    <a:p>
                      <a:pPr algn="ctr"/>
                      <a:r>
                        <a:rPr sz="1000" b="0">
                          <a:solidFill>
                            <a:srgbClr val="0F172A"/>
                          </a:solidFill>
                          <a:latin typeface="Aptos Narrow"/>
                        </a:rPr>
                        <a:t>0.661</a:t>
                      </a:r>
                    </a:p>
                  </a:txBody>
                  <a:tcPr marL="73152" marR="73152" marT="27432" marB="27432" anchor="ctr">
                    <a:solidFill>
                      <a:srgbClr val="FFFFFF"/>
                    </a:solidFill>
                  </a:tcPr>
                </a:tc>
                <a:tc>
                  <a:txBody>
                    <a:bodyPr wrap="square"/>
                    <a:lstStyle/>
                    <a:p>
                      <a:pPr algn="ctr"/>
                      <a:r>
                        <a:rPr sz="1000" b="0">
                          <a:solidFill>
                            <a:srgbClr val="0F172A"/>
                          </a:solidFill>
                          <a:latin typeface="Aptos Narrow"/>
                        </a:rPr>
                        <a:t>+0.038</a:t>
                      </a:r>
                    </a:p>
                  </a:txBody>
                  <a:tcPr marL="73152" marR="73152" marT="27432" marB="27432" anchor="ctr">
                    <a:solidFill>
                      <a:srgbClr val="FFFFFF"/>
                    </a:solidFill>
                  </a:tcPr>
                </a:tc>
              </a:tr>
              <a:tr h="310896">
                <a:tc>
                  <a:txBody>
                    <a:bodyPr wrap="square"/>
                    <a:lstStyle/>
                    <a:p>
                      <a:pPr algn="l"/>
                      <a:r>
                        <a:rPr sz="1000" b="1">
                          <a:solidFill>
                            <a:srgbClr val="0F172A"/>
                          </a:solidFill>
                          <a:latin typeface="Aptos Narrow"/>
                        </a:rPr>
                        <a:t>F2</a:t>
                      </a:r>
                    </a:p>
                  </a:txBody>
                  <a:tcPr marL="73152" marR="73152" marT="27432" marB="27432" anchor="ctr">
                    <a:solidFill>
                      <a:srgbClr val="FFFFFF"/>
                    </a:solidFill>
                  </a:tcPr>
                </a:tc>
                <a:tc>
                  <a:txBody>
                    <a:bodyPr wrap="square"/>
                    <a:lstStyle/>
                    <a:p>
                      <a:pPr algn="ctr"/>
                      <a:r>
                        <a:rPr sz="1000" b="0">
                          <a:solidFill>
                            <a:srgbClr val="0F172A"/>
                          </a:solidFill>
                          <a:latin typeface="Aptos Narrow"/>
                        </a:rPr>
                        <a:t>0.874</a:t>
                      </a:r>
                    </a:p>
                  </a:txBody>
                  <a:tcPr marL="73152" marR="73152" marT="27432" marB="27432" anchor="ctr">
                    <a:solidFill>
                      <a:srgbClr val="FFFFFF"/>
                    </a:solidFill>
                  </a:tcPr>
                </a:tc>
                <a:tc>
                  <a:txBody>
                    <a:bodyPr wrap="square"/>
                    <a:lstStyle/>
                    <a:p>
                      <a:pPr algn="ctr"/>
                      <a:r>
                        <a:rPr sz="1000" b="0">
                          <a:solidFill>
                            <a:srgbClr val="0F172A"/>
                          </a:solidFill>
                          <a:latin typeface="Aptos Narrow"/>
                        </a:rPr>
                        <a:t>0.825</a:t>
                      </a:r>
                    </a:p>
                  </a:txBody>
                  <a:tcPr marL="73152" marR="73152" marT="27432" marB="27432" anchor="ctr">
                    <a:solidFill>
                      <a:srgbClr val="FFFFFF"/>
                    </a:solidFill>
                  </a:tcPr>
                </a:tc>
                <a:tc>
                  <a:txBody>
                    <a:bodyPr wrap="square"/>
                    <a:lstStyle/>
                    <a:p>
                      <a:pPr algn="ctr"/>
                      <a:r>
                        <a:rPr sz="1000" b="0">
                          <a:solidFill>
                            <a:srgbClr val="0F172A"/>
                          </a:solidFill>
                          <a:latin typeface="Aptos Narrow"/>
                        </a:rPr>
                        <a:t>+0.049</a:t>
                      </a:r>
                    </a:p>
                  </a:txBody>
                  <a:tcPr marL="73152" marR="73152" marT="27432" marB="27432" anchor="ctr">
                    <a:solidFill>
                      <a:srgbClr val="FFFFFF"/>
                    </a:solidFill>
                  </a:tcPr>
                </a:tc>
              </a:tr>
              <a:tr h="310896">
                <a:tc>
                  <a:txBody>
                    <a:bodyPr wrap="square"/>
                    <a:lstStyle/>
                    <a:p>
                      <a:pPr algn="l"/>
                      <a:r>
                        <a:rPr sz="1000" b="1">
                          <a:solidFill>
                            <a:srgbClr val="0F172A"/>
                          </a:solidFill>
                          <a:latin typeface="Aptos Narrow"/>
                        </a:rPr>
                        <a:t>ROC-AUC</a:t>
                      </a:r>
                    </a:p>
                  </a:txBody>
                  <a:tcPr marL="73152" marR="73152" marT="27432" marB="27432" anchor="ctr">
                    <a:solidFill>
                      <a:srgbClr val="FFFFFF"/>
                    </a:solidFill>
                  </a:tcPr>
                </a:tc>
                <a:tc>
                  <a:txBody>
                    <a:bodyPr wrap="square"/>
                    <a:lstStyle/>
                    <a:p>
                      <a:pPr algn="ctr"/>
                      <a:r>
                        <a:rPr sz="1000" b="0">
                          <a:solidFill>
                            <a:srgbClr val="0F172A"/>
                          </a:solidFill>
                          <a:latin typeface="Aptos Narrow"/>
                        </a:rPr>
                        <a:t>0.959</a:t>
                      </a:r>
                    </a:p>
                  </a:txBody>
                  <a:tcPr marL="73152" marR="73152" marT="27432" marB="27432" anchor="ctr">
                    <a:solidFill>
                      <a:srgbClr val="FFFFFF"/>
                    </a:solidFill>
                  </a:tcPr>
                </a:tc>
                <a:tc>
                  <a:txBody>
                    <a:bodyPr wrap="square"/>
                    <a:lstStyle/>
                    <a:p>
                      <a:pPr algn="ctr"/>
                      <a:r>
                        <a:rPr sz="1000" b="0">
                          <a:solidFill>
                            <a:srgbClr val="0F172A"/>
                          </a:solidFill>
                          <a:latin typeface="Aptos Narrow"/>
                        </a:rPr>
                        <a:t>0.923</a:t>
                      </a:r>
                    </a:p>
                  </a:txBody>
                  <a:tcPr marL="73152" marR="73152" marT="27432" marB="27432" anchor="ctr">
                    <a:solidFill>
                      <a:srgbClr val="FFFFFF"/>
                    </a:solidFill>
                  </a:tcPr>
                </a:tc>
                <a:tc>
                  <a:txBody>
                    <a:bodyPr wrap="square"/>
                    <a:lstStyle/>
                    <a:p>
                      <a:pPr algn="ctr"/>
                      <a:r>
                        <a:rPr sz="1000" b="0">
                          <a:solidFill>
                            <a:srgbClr val="0F172A"/>
                          </a:solidFill>
                          <a:latin typeface="Aptos Narrow"/>
                        </a:rPr>
                        <a:t>+0.036</a:t>
                      </a:r>
                    </a:p>
                  </a:txBody>
                  <a:tcPr marL="73152" marR="73152" marT="27432" marB="27432" anchor="ctr">
                    <a:solidFill>
                      <a:srgbClr val="FFFFFF"/>
                    </a:solidFill>
                  </a:tcPr>
                </a:tc>
              </a:tr>
            </a:tbl>
          </a:graphicData>
        </a:graphic>
      </p:graphicFrame>
      <p:sp>
        <p:nvSpPr>
          <p:cNvPr id="33" name="Rounded Rectangle 32"/>
          <p:cNvSpPr/>
          <p:nvPr/>
        </p:nvSpPr>
        <p:spPr>
          <a:xfrm>
            <a:off x="4983480" y="4023360"/>
            <a:ext cx="3566160" cy="201168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120640" y="4096512"/>
            <a:ext cx="3291840" cy="228600"/>
          </a:xfrm>
          <a:prstGeom prst="rect">
            <a:avLst/>
          </a:prstGeom>
          <a:noFill/>
        </p:spPr>
        <p:txBody>
          <a:bodyPr wrap="square" lIns="0" rIns="0" tIns="0" bIns="0" anchor="t">
            <a:noAutofit/>
          </a:bodyPr>
          <a:lstStyle/>
          <a:p>
            <a:pPr algn="l"/>
            <a:r>
              <a:rPr sz="950" b="1">
                <a:solidFill>
                  <a:srgbClr val="0284C7"/>
                </a:solidFill>
                <a:latin typeface="Aptos Narrow"/>
              </a:rPr>
              <a:t>LEAKAGE SCREEN (single-feature AUC)</a:t>
            </a:r>
          </a:p>
        </p:txBody>
      </p:sp>
      <p:graphicFrame>
        <p:nvGraphicFramePr>
          <p:cNvPr id="35" name="Table 34"/>
          <p:cNvGraphicFramePr>
            <a:graphicFrameLocks noGrp="1"/>
          </p:cNvGraphicFramePr>
          <p:nvPr/>
        </p:nvGraphicFramePr>
        <p:xfrm>
          <a:off x="5102352" y="4370832"/>
          <a:ext cx="3246120" cy="1645920"/>
        </p:xfrm>
        <a:graphic>
          <a:graphicData uri="http://schemas.openxmlformats.org/drawingml/2006/table">
            <a:tbl>
              <a:tblPr firstRow="0" bandRow="0">
                <a:tableStyleId>{5C22544A-7EE6-4342-B048-85BDC9FD1C3A}</a:tableStyleId>
              </a:tblPr>
              <a:tblGrid>
                <a:gridCol w="2423160"/>
                <a:gridCol w="822960"/>
              </a:tblGrid>
              <a:tr h="274320">
                <a:tc>
                  <a:txBody>
                    <a:bodyPr wrap="square"/>
                    <a:lstStyle/>
                    <a:p>
                      <a:pPr algn="l"/>
                      <a:r>
                        <a:rPr sz="1000" b="1">
                          <a:solidFill>
                            <a:srgbClr val="FFFFFF"/>
                          </a:solidFill>
                          <a:latin typeface="Aptos Narrow"/>
                        </a:rPr>
                        <a:t>Feature</a:t>
                      </a:r>
                    </a:p>
                  </a:txBody>
                  <a:tcPr marL="73152" marR="73152" marT="27432" marB="27432" anchor="ctr">
                    <a:solidFill>
                      <a:srgbClr val="0F172A"/>
                    </a:solidFill>
                  </a:tcPr>
                </a:tc>
                <a:tc>
                  <a:txBody>
                    <a:bodyPr wrap="square"/>
                    <a:lstStyle/>
                    <a:p>
                      <a:pPr algn="ctr"/>
                      <a:r>
                        <a:rPr sz="1000" b="1">
                          <a:solidFill>
                            <a:srgbClr val="FFFFFF"/>
                          </a:solidFill>
                          <a:latin typeface="Aptos Narrow"/>
                        </a:rPr>
                        <a:t>AUC</a:t>
                      </a:r>
                    </a:p>
                  </a:txBody>
                  <a:tcPr marL="73152" marR="73152" marT="27432" marB="27432" anchor="ctr">
                    <a:solidFill>
                      <a:srgbClr val="0F172A"/>
                    </a:solidFill>
                  </a:tcPr>
                </a:tc>
              </a:tr>
              <a:tr h="274320">
                <a:tc>
                  <a:txBody>
                    <a:bodyPr wrap="square"/>
                    <a:lstStyle/>
                    <a:p>
                      <a:pPr algn="l"/>
                      <a:r>
                        <a:rPr sz="1000" b="1">
                          <a:solidFill>
                            <a:srgbClr val="0F172A"/>
                          </a:solidFill>
                          <a:latin typeface="Aptos Narrow"/>
                        </a:rPr>
                        <a:t>Approval_Rate_Sem2</a:t>
                      </a:r>
                    </a:p>
                  </a:txBody>
                  <a:tcPr marL="73152" marR="73152" marT="27432" marB="27432" anchor="ctr">
                    <a:solidFill>
                      <a:srgbClr val="FFFFFF"/>
                    </a:solidFill>
                  </a:tcPr>
                </a:tc>
                <a:tc>
                  <a:txBody>
                    <a:bodyPr wrap="square"/>
                    <a:lstStyle/>
                    <a:p>
                      <a:pPr algn="ctr"/>
                      <a:r>
                        <a:rPr sz="1000" b="0">
                          <a:solidFill>
                            <a:srgbClr val="0F172A"/>
                          </a:solidFill>
                          <a:latin typeface="Aptos Narrow"/>
                        </a:rPr>
                        <a:t>0.871</a:t>
                      </a:r>
                    </a:p>
                  </a:txBody>
                  <a:tcPr marL="73152" marR="73152" marT="27432" marB="27432" anchor="ctr">
                    <a:solidFill>
                      <a:srgbClr val="FFFFFF"/>
                    </a:solidFill>
                  </a:tcPr>
                </a:tc>
              </a:tr>
              <a:tr h="274320">
                <a:tc>
                  <a:txBody>
                    <a:bodyPr wrap="square"/>
                    <a:lstStyle/>
                    <a:p>
                      <a:pPr algn="l"/>
                      <a:r>
                        <a:rPr sz="1000" b="1">
                          <a:solidFill>
                            <a:srgbClr val="0F172A"/>
                          </a:solidFill>
                          <a:latin typeface="Aptos Narrow"/>
                        </a:rPr>
                        <a:t>Units approved, Sem 2</a:t>
                      </a:r>
                    </a:p>
                  </a:txBody>
                  <a:tcPr marL="73152" marR="73152" marT="27432" marB="27432" anchor="ctr">
                    <a:solidFill>
                      <a:srgbClr val="FFFFFF"/>
                    </a:solidFill>
                  </a:tcPr>
                </a:tc>
                <a:tc>
                  <a:txBody>
                    <a:bodyPr wrap="square"/>
                    <a:lstStyle/>
                    <a:p>
                      <a:pPr algn="ctr"/>
                      <a:r>
                        <a:rPr sz="1000" b="0">
                          <a:solidFill>
                            <a:srgbClr val="0F172A"/>
                          </a:solidFill>
                          <a:latin typeface="Aptos Narrow"/>
                        </a:rPr>
                        <a:t>0.853</a:t>
                      </a:r>
                    </a:p>
                  </a:txBody>
                  <a:tcPr marL="73152" marR="73152" marT="27432" marB="27432" anchor="ctr">
                    <a:solidFill>
                      <a:srgbClr val="FFFFFF"/>
                    </a:solidFill>
                  </a:tcPr>
                </a:tc>
              </a:tr>
              <a:tr h="274320">
                <a:tc>
                  <a:txBody>
                    <a:bodyPr wrap="square"/>
                    <a:lstStyle/>
                    <a:p>
                      <a:pPr algn="l"/>
                      <a:r>
                        <a:rPr sz="1000" b="1">
                          <a:solidFill>
                            <a:srgbClr val="0F172A"/>
                          </a:solidFill>
                          <a:latin typeface="Aptos Narrow"/>
                        </a:rPr>
                        <a:t>Approval_Rate_Sem1</a:t>
                      </a:r>
                    </a:p>
                  </a:txBody>
                  <a:tcPr marL="73152" marR="73152" marT="27432" marB="27432" anchor="ctr">
                    <a:solidFill>
                      <a:srgbClr val="FFFFFF"/>
                    </a:solidFill>
                  </a:tcPr>
                </a:tc>
                <a:tc>
                  <a:txBody>
                    <a:bodyPr wrap="square"/>
                    <a:lstStyle/>
                    <a:p>
                      <a:pPr algn="ctr"/>
                      <a:r>
                        <a:rPr sz="1000" b="0">
                          <a:solidFill>
                            <a:srgbClr val="0F172A"/>
                          </a:solidFill>
                          <a:latin typeface="Aptos Narrow"/>
                        </a:rPr>
                        <a:t>0.836</a:t>
                      </a:r>
                    </a:p>
                  </a:txBody>
                  <a:tcPr marL="73152" marR="73152" marT="27432" marB="27432" anchor="ctr">
                    <a:solidFill>
                      <a:srgbClr val="FFFFFF"/>
                    </a:solidFill>
                  </a:tcPr>
                </a:tc>
              </a:tr>
              <a:tr h="274320">
                <a:tc>
                  <a:txBody>
                    <a:bodyPr wrap="square"/>
                    <a:lstStyle/>
                    <a:p>
                      <a:pPr algn="l"/>
                      <a:r>
                        <a:rPr sz="1000" b="1">
                          <a:solidFill>
                            <a:srgbClr val="0F172A"/>
                          </a:solidFill>
                          <a:latin typeface="Aptos Narrow"/>
                        </a:rPr>
                        <a:t>Units approved, Sem 1</a:t>
                      </a:r>
                    </a:p>
                  </a:txBody>
                  <a:tcPr marL="73152" marR="73152" marT="27432" marB="27432" anchor="ctr">
                    <a:solidFill>
                      <a:srgbClr val="FFFFFF"/>
                    </a:solidFill>
                  </a:tcPr>
                </a:tc>
                <a:tc>
                  <a:txBody>
                    <a:bodyPr wrap="square"/>
                    <a:lstStyle/>
                    <a:p>
                      <a:pPr algn="ctr"/>
                      <a:r>
                        <a:rPr sz="1000" b="0">
                          <a:solidFill>
                            <a:srgbClr val="0F172A"/>
                          </a:solidFill>
                          <a:latin typeface="Aptos Narrow"/>
                        </a:rPr>
                        <a:t>0.816</a:t>
                      </a:r>
                    </a:p>
                  </a:txBody>
                  <a:tcPr marL="73152" marR="73152" marT="27432" marB="27432" anchor="ctr">
                    <a:solidFill>
                      <a:srgbClr val="FFFFFF"/>
                    </a:solidFill>
                  </a:tcPr>
                </a:tc>
              </a:tr>
              <a:tr h="274320">
                <a:tc>
                  <a:txBody>
                    <a:bodyPr wrap="square"/>
                    <a:lstStyle/>
                    <a:p>
                      <a:pPr algn="l"/>
                      <a:r>
                        <a:rPr sz="1000" b="1">
                          <a:solidFill>
                            <a:srgbClr val="0F172A"/>
                          </a:solidFill>
                          <a:latin typeface="Aptos Narrow"/>
                        </a:rPr>
                        <a:t>Grade, Sem 2</a:t>
                      </a:r>
                    </a:p>
                  </a:txBody>
                  <a:tcPr marL="73152" marR="73152" marT="27432" marB="27432" anchor="ctr">
                    <a:solidFill>
                      <a:srgbClr val="FFFFFF"/>
                    </a:solidFill>
                  </a:tcPr>
                </a:tc>
                <a:tc>
                  <a:txBody>
                    <a:bodyPr wrap="square"/>
                    <a:lstStyle/>
                    <a:p>
                      <a:pPr algn="ctr"/>
                      <a:r>
                        <a:rPr sz="1000" b="0">
                          <a:solidFill>
                            <a:srgbClr val="0F172A"/>
                          </a:solidFill>
                          <a:latin typeface="Aptos Narrow"/>
                        </a:rPr>
                        <a:t>0.805</a:t>
                      </a:r>
                    </a:p>
                  </a:txBody>
                  <a:tcPr marL="73152" marR="73152" marT="27432" marB="27432" anchor="ctr">
                    <a:solidFill>
                      <a:srgbClr val="FFFFFF"/>
                    </a:solidFill>
                  </a:tcPr>
                </a:tc>
              </a:tr>
            </a:tbl>
          </a:graphicData>
        </a:graphic>
      </p:graphicFrame>
      <p:sp>
        <p:nvSpPr>
          <p:cNvPr id="36" name="Rounded Rectangle 35"/>
          <p:cNvSpPr/>
          <p:nvPr/>
        </p:nvSpPr>
        <p:spPr>
          <a:xfrm>
            <a:off x="8732520" y="4023360"/>
            <a:ext cx="2852928" cy="201168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887968" y="4114800"/>
            <a:ext cx="2560320" cy="1828800"/>
          </a:xfrm>
          <a:prstGeom prst="rect">
            <a:avLst/>
          </a:prstGeom>
          <a:noFill/>
        </p:spPr>
        <p:txBody>
          <a:bodyPr wrap="square" lIns="0" rIns="0" tIns="0" bIns="0" anchor="t">
            <a:noAutofit/>
          </a:bodyPr>
          <a:lstStyle/>
          <a:p>
            <a:pPr algn="l">
              <a:spcAft>
                <a:spcPts val="300"/>
              </a:spcAft>
            </a:pPr>
            <a:r>
              <a:rPr sz="950" b="1">
                <a:solidFill>
                  <a:srgbClr val="0284C7"/>
                </a:solidFill>
                <a:latin typeface="Aptos Narrow"/>
              </a:rPr>
              <a:t>VALUE OF SEMESTER 2</a:t>
            </a:r>
          </a:p>
          <a:p>
            <a:pPr algn="l">
              <a:spcAft>
                <a:spcPts val="500"/>
              </a:spcAft>
            </a:pPr>
            <a:r>
              <a:rPr sz="1000" b="0">
                <a:solidFill>
                  <a:srgbClr val="475569"/>
                </a:solidFill>
                <a:latin typeface="Aptos Narrow"/>
              </a:rPr>
              <a:t>ROC-AUC 0.912 → 0.937; recall 0.880 → 0.912 when Semester 2 data is added to the same model.</a:t>
            </a:r>
          </a:p>
          <a:p>
            <a:pPr algn="l">
              <a:spcAft>
                <a:spcPts val="300"/>
              </a:spcAft>
            </a:pPr>
            <a:r>
              <a:rPr sz="950" b="1">
                <a:solidFill>
                  <a:srgbClr val="0284C7"/>
                </a:solidFill>
                <a:latin typeface="Aptos Narrow"/>
              </a:rPr>
              <a:t>TIMING</a:t>
            </a:r>
          </a:p>
          <a:p>
            <a:pPr algn="l"/>
            <a:r>
              <a:rPr sz="1000" b="0">
                <a:solidFill>
                  <a:srgbClr val="475569"/>
                </a:solidFill>
                <a:latin typeface="Aptos Narrow"/>
              </a:rPr>
              <a:t>23 pre-enrolment, 7 Semester 1 and 8 Semester 2 features, all known at the decision point.</a:t>
            </a:r>
          </a:p>
        </p:txBody>
      </p:sp>
    </p:spTree>
    <p:extLst>
      <p:ext uri="{BB962C8B-B14F-4D97-AF65-F5344CB8AC3E}">
        <p14:creationId xmlns:p14="http://schemas.microsoft.com/office/powerpoint/2010/main" val="1658995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ooter Placeholder 21">
            <a:extLst>
              <a:ext uri="{FF2B5EF4-FFF2-40B4-BE49-F238E27FC236}">
                <a16:creationId xmlns:a16="http://schemas.microsoft.com/office/drawing/2014/main" id="{232EF2CF-EDBF-BBDD-3F93-C1260C9E7678}"/>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23" name="Slide Number Placeholder 22">
            <a:extLst>
              <a:ext uri="{FF2B5EF4-FFF2-40B4-BE49-F238E27FC236}">
                <a16:creationId xmlns:a16="http://schemas.microsoft.com/office/drawing/2014/main" id="{FCC68750-B07A-D7AF-D4CA-16CBA55BC17B}"/>
              </a:ext>
            </a:extLst>
          </p:cNvPr>
          <p:cNvSpPr>
            <a:spLocks noGrp="1"/>
          </p:cNvSpPr>
          <p:nvPr>
            <p:ph type="sldNum" sz="quarter" idx="11"/>
          </p:nvPr>
        </p:nvSpPr>
        <p:spPr/>
        <p:txBody>
          <a:bodyPr/>
          <a:lstStyle/>
          <a:p>
            <a:fld id="{B67B645E-C5E5-4727-B977-D372A0AA71D9}" type="slidenum">
              <a:rPr lang="en-US" smtClean="0"/>
              <a:pPr/>
              <a:t>9</a:t>
            </a:fld>
            <a:endParaRPr lang="en-US" dirty="0"/>
          </a:p>
        </p:txBody>
      </p:sp>
      <p:sp>
        <p:nvSpPr>
          <p:cNvPr id="24" name="TextBox 23"/>
          <p:cNvSpPr txBox="1"/>
          <p:nvPr/>
        </p:nvSpPr>
        <p:spPr>
          <a:xfrm>
            <a:off x="612648" y="457200"/>
            <a:ext cx="7315200" cy="182880"/>
          </a:xfrm>
          <a:prstGeom prst="rect">
            <a:avLst/>
          </a:prstGeom>
          <a:noFill/>
        </p:spPr>
        <p:txBody>
          <a:bodyPr wrap="square" lIns="0" rIns="0" tIns="0" bIns="0" anchor="t">
            <a:noAutofit/>
          </a:bodyPr>
          <a:lstStyle/>
          <a:p>
            <a:pPr algn="l"/>
            <a:r>
              <a:rPr sz="1000" b="1">
                <a:solidFill>
                  <a:srgbClr val="0284C7"/>
                </a:solidFill>
                <a:latin typeface="Aptos Narrow"/>
              </a:rPr>
              <a:t>STEP 5B: EXPLAINABILITY</a:t>
            </a:r>
          </a:p>
        </p:txBody>
      </p:sp>
      <p:sp>
        <p:nvSpPr>
          <p:cNvPr id="25" name="TextBox 24"/>
          <p:cNvSpPr txBox="1"/>
          <p:nvPr/>
        </p:nvSpPr>
        <p:spPr>
          <a:xfrm>
            <a:off x="612648" y="667512"/>
            <a:ext cx="10972800" cy="457200"/>
          </a:xfrm>
          <a:prstGeom prst="rect">
            <a:avLst/>
          </a:prstGeom>
          <a:noFill/>
        </p:spPr>
        <p:txBody>
          <a:bodyPr wrap="square" lIns="0" rIns="0" tIns="0" bIns="0" anchor="t">
            <a:noAutofit/>
          </a:bodyPr>
          <a:lstStyle/>
          <a:p>
            <a:pPr algn="l"/>
            <a:r>
              <a:rPr sz="2400" b="1">
                <a:solidFill>
                  <a:srgbClr val="0F172A"/>
                </a:solidFill>
                <a:latin typeface="Aptos Narrow"/>
              </a:rPr>
              <a:t>Why Does the Model Flag a Student? SHAP and LIME</a:t>
            </a:r>
          </a:p>
        </p:txBody>
      </p:sp>
      <p:sp>
        <p:nvSpPr>
          <p:cNvPr id="26" name="Rounded Rectangle 25"/>
          <p:cNvSpPr/>
          <p:nvPr/>
        </p:nvSpPr>
        <p:spPr>
          <a:xfrm>
            <a:off x="612648" y="1508760"/>
            <a:ext cx="5218308" cy="448056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Figure 11_1" descr="Technical_Slides_Rex_Villamar_Pillar_5_Capstone_Project_11_1.png"/>
          <p:cNvPicPr>
            <a:picLocks noChangeAspect="1"/>
          </p:cNvPicPr>
          <p:nvPr/>
        </p:nvPicPr>
        <p:blipFill>
          <a:blip r:embed="rId3"/>
          <a:stretch>
            <a:fillRect/>
          </a:stretch>
        </p:blipFill>
        <p:spPr>
          <a:xfrm>
            <a:off x="704088" y="1600200"/>
            <a:ext cx="5035428" cy="4297680"/>
          </a:xfrm>
          <a:prstGeom prst="rect">
            <a:avLst/>
          </a:prstGeom>
        </p:spPr>
      </p:pic>
      <p:sp>
        <p:nvSpPr>
          <p:cNvPr id="28" name="Rounded Rectangle 27"/>
          <p:cNvSpPr/>
          <p:nvPr/>
        </p:nvSpPr>
        <p:spPr>
          <a:xfrm>
            <a:off x="5806440" y="1508760"/>
            <a:ext cx="5779008" cy="233172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989320" y="1572768"/>
            <a:ext cx="5394960" cy="228600"/>
          </a:xfrm>
          <a:prstGeom prst="rect">
            <a:avLst/>
          </a:prstGeom>
          <a:noFill/>
        </p:spPr>
        <p:txBody>
          <a:bodyPr wrap="square" lIns="0" rIns="0" tIns="0" bIns="0" anchor="t">
            <a:noAutofit/>
          </a:bodyPr>
          <a:lstStyle/>
          <a:p>
            <a:pPr algn="l"/>
            <a:r>
              <a:rPr sz="950" b="1">
                <a:solidFill>
                  <a:srgbClr val="0284C7"/>
                </a:solidFill>
                <a:latin typeface="Aptos Narrow"/>
              </a:rPr>
              <a:t>GLOBAL DRIVERS: mean |SHAP|, log-odds of dropout</a:t>
            </a:r>
          </a:p>
        </p:txBody>
      </p:sp>
      <p:graphicFrame>
        <p:nvGraphicFramePr>
          <p:cNvPr id="30" name="Table 29"/>
          <p:cNvGraphicFramePr>
            <a:graphicFrameLocks noGrp="1"/>
          </p:cNvGraphicFramePr>
          <p:nvPr/>
        </p:nvGraphicFramePr>
        <p:xfrm>
          <a:off x="5943600" y="1828800"/>
          <a:ext cx="5212080" cy="1984248"/>
        </p:xfrm>
        <a:graphic>
          <a:graphicData uri="http://schemas.openxmlformats.org/drawingml/2006/table">
            <a:tbl>
              <a:tblPr firstRow="0" bandRow="0">
                <a:tableStyleId>{5C22544A-7EE6-4342-B048-85BDC9FD1C3A}</a:tableStyleId>
              </a:tblPr>
              <a:tblGrid>
                <a:gridCol w="2286000"/>
                <a:gridCol w="1371600"/>
                <a:gridCol w="1554480"/>
              </a:tblGrid>
              <a:tr h="283464">
                <a:tc>
                  <a:txBody>
                    <a:bodyPr wrap="square"/>
                    <a:lstStyle/>
                    <a:p>
                      <a:pPr algn="l"/>
                      <a:r>
                        <a:rPr sz="1000" b="1">
                          <a:solidFill>
                            <a:srgbClr val="FFFFFF"/>
                          </a:solidFill>
                          <a:latin typeface="Aptos Narrow"/>
                        </a:rPr>
                        <a:t>Feature</a:t>
                      </a:r>
                    </a:p>
                  </a:txBody>
                  <a:tcPr marL="73152" marR="73152" marT="27432" marB="27432" anchor="ctr">
                    <a:solidFill>
                      <a:srgbClr val="0F172A"/>
                    </a:solidFill>
                  </a:tcPr>
                </a:tc>
                <a:tc>
                  <a:txBody>
                    <a:bodyPr wrap="square"/>
                    <a:lstStyle/>
                    <a:p>
                      <a:pPr algn="ctr"/>
                      <a:r>
                        <a:rPr sz="1000" b="1">
                          <a:solidFill>
                            <a:srgbClr val="FFFFFF"/>
                          </a:solidFill>
                          <a:latin typeface="Aptos Narrow"/>
                        </a:rPr>
                        <a:t>Mean |SHAP|</a:t>
                      </a:r>
                    </a:p>
                  </a:txBody>
                  <a:tcPr marL="73152" marR="73152" marT="27432" marB="27432" anchor="ctr">
                    <a:solidFill>
                      <a:srgbClr val="0F172A"/>
                    </a:solidFill>
                  </a:tcPr>
                </a:tc>
                <a:tc>
                  <a:txBody>
                    <a:bodyPr wrap="square"/>
                    <a:lstStyle/>
                    <a:p>
                      <a:pPr algn="ctr"/>
                      <a:r>
                        <a:rPr sz="1000" b="1">
                          <a:solidFill>
                            <a:srgbClr val="FFFFFF"/>
                          </a:solidFill>
                          <a:latin typeface="Aptos Narrow"/>
                        </a:rPr>
                        <a:t>Higher value</a:t>
                      </a:r>
                    </a:p>
                  </a:txBody>
                  <a:tcPr marL="73152" marR="73152" marT="27432" marB="27432" anchor="ctr">
                    <a:solidFill>
                      <a:srgbClr val="0F172A"/>
                    </a:solidFill>
                  </a:tcPr>
                </a:tc>
              </a:tr>
              <a:tr h="283464">
                <a:tc>
                  <a:txBody>
                    <a:bodyPr wrap="square"/>
                    <a:lstStyle/>
                    <a:p>
                      <a:pPr algn="l"/>
                      <a:r>
                        <a:rPr sz="1000" b="1">
                          <a:solidFill>
                            <a:srgbClr val="0F172A"/>
                          </a:solidFill>
                          <a:latin typeface="Aptos Narrow"/>
                        </a:rPr>
                        <a:t>Approval_Rate_Sem2</a:t>
                      </a:r>
                    </a:p>
                  </a:txBody>
                  <a:tcPr marL="73152" marR="73152" marT="27432" marB="27432" anchor="ctr">
                    <a:solidFill>
                      <a:srgbClr val="FFFFFF"/>
                    </a:solidFill>
                  </a:tcPr>
                </a:tc>
                <a:tc>
                  <a:txBody>
                    <a:bodyPr wrap="square"/>
                    <a:lstStyle/>
                    <a:p>
                      <a:pPr algn="ctr"/>
                      <a:r>
                        <a:rPr sz="1000" b="0">
                          <a:solidFill>
                            <a:srgbClr val="0F172A"/>
                          </a:solidFill>
                          <a:latin typeface="Aptos Narrow"/>
                        </a:rPr>
                        <a:t>1.052</a:t>
                      </a:r>
                    </a:p>
                  </a:txBody>
                  <a:tcPr marL="73152" marR="73152" marT="27432" marB="27432" anchor="ctr">
                    <a:solidFill>
                      <a:srgbClr val="FFFFFF"/>
                    </a:solidFill>
                  </a:tcPr>
                </a:tc>
                <a:tc>
                  <a:txBody>
                    <a:bodyPr wrap="square"/>
                    <a:lstStyle/>
                    <a:p>
                      <a:pPr algn="ctr"/>
                      <a:r>
                        <a:rPr sz="1000" b="0">
                          <a:solidFill>
                            <a:srgbClr val="0F172A"/>
                          </a:solidFill>
                          <a:latin typeface="Aptos Narrow"/>
                        </a:rPr>
                        <a:t>lowers risk</a:t>
                      </a:r>
                    </a:p>
                  </a:txBody>
                  <a:tcPr marL="73152" marR="73152" marT="27432" marB="27432" anchor="ctr">
                    <a:solidFill>
                      <a:srgbClr val="FFFFFF"/>
                    </a:solidFill>
                  </a:tcPr>
                </a:tc>
              </a:tr>
              <a:tr h="283464">
                <a:tc>
                  <a:txBody>
                    <a:bodyPr wrap="square"/>
                    <a:lstStyle/>
                    <a:p>
                      <a:pPr algn="l"/>
                      <a:r>
                        <a:rPr sz="1000" b="1">
                          <a:solidFill>
                            <a:srgbClr val="0F172A"/>
                          </a:solidFill>
                          <a:latin typeface="Aptos Narrow"/>
                        </a:rPr>
                        <a:t>Approval_Rate_Sem1</a:t>
                      </a:r>
                    </a:p>
                  </a:txBody>
                  <a:tcPr marL="73152" marR="73152" marT="27432" marB="27432" anchor="ctr">
                    <a:solidFill>
                      <a:srgbClr val="FFFFFF"/>
                    </a:solidFill>
                  </a:tcPr>
                </a:tc>
                <a:tc>
                  <a:txBody>
                    <a:bodyPr wrap="square"/>
                    <a:lstStyle/>
                    <a:p>
                      <a:pPr algn="ctr"/>
                      <a:r>
                        <a:rPr sz="1000" b="0">
                          <a:solidFill>
                            <a:srgbClr val="0F172A"/>
                          </a:solidFill>
                          <a:latin typeface="Aptos Narrow"/>
                        </a:rPr>
                        <a:t>0.409</a:t>
                      </a:r>
                    </a:p>
                  </a:txBody>
                  <a:tcPr marL="73152" marR="73152" marT="27432" marB="27432" anchor="ctr">
                    <a:solidFill>
                      <a:srgbClr val="FFFFFF"/>
                    </a:solidFill>
                  </a:tcPr>
                </a:tc>
                <a:tc>
                  <a:txBody>
                    <a:bodyPr wrap="square"/>
                    <a:lstStyle/>
                    <a:p>
                      <a:pPr algn="ctr"/>
                      <a:r>
                        <a:rPr sz="1000" b="0">
                          <a:solidFill>
                            <a:srgbClr val="0F172A"/>
                          </a:solidFill>
                          <a:latin typeface="Aptos Narrow"/>
                        </a:rPr>
                        <a:t>lowers risk</a:t>
                      </a:r>
                    </a:p>
                  </a:txBody>
                  <a:tcPr marL="73152" marR="73152" marT="27432" marB="27432" anchor="ctr">
                    <a:solidFill>
                      <a:srgbClr val="FFFFFF"/>
                    </a:solidFill>
                  </a:tcPr>
                </a:tc>
              </a:tr>
              <a:tr h="283464">
                <a:tc>
                  <a:txBody>
                    <a:bodyPr wrap="square"/>
                    <a:lstStyle/>
                    <a:p>
                      <a:pPr algn="l"/>
                      <a:r>
                        <a:rPr sz="1000" b="1">
                          <a:solidFill>
                            <a:srgbClr val="0F172A"/>
                          </a:solidFill>
                          <a:latin typeface="Aptos Narrow"/>
                        </a:rPr>
                        <a:t>Tuition fees up to date</a:t>
                      </a:r>
                    </a:p>
                  </a:txBody>
                  <a:tcPr marL="73152" marR="73152" marT="27432" marB="27432" anchor="ctr">
                    <a:solidFill>
                      <a:srgbClr val="FFFFFF"/>
                    </a:solidFill>
                  </a:tcPr>
                </a:tc>
                <a:tc>
                  <a:txBody>
                    <a:bodyPr wrap="square"/>
                    <a:lstStyle/>
                    <a:p>
                      <a:pPr algn="ctr"/>
                      <a:r>
                        <a:rPr sz="1000" b="0">
                          <a:solidFill>
                            <a:srgbClr val="0F172A"/>
                          </a:solidFill>
                          <a:latin typeface="Aptos Narrow"/>
                        </a:rPr>
                        <a:t>0.262</a:t>
                      </a:r>
                    </a:p>
                  </a:txBody>
                  <a:tcPr marL="73152" marR="73152" marT="27432" marB="27432" anchor="ctr">
                    <a:solidFill>
                      <a:srgbClr val="FFFFFF"/>
                    </a:solidFill>
                  </a:tcPr>
                </a:tc>
                <a:tc>
                  <a:txBody>
                    <a:bodyPr wrap="square"/>
                    <a:lstStyle/>
                    <a:p>
                      <a:pPr algn="ctr"/>
                      <a:r>
                        <a:rPr sz="1000" b="0">
                          <a:solidFill>
                            <a:srgbClr val="0F172A"/>
                          </a:solidFill>
                          <a:latin typeface="Aptos Narrow"/>
                        </a:rPr>
                        <a:t>lowers risk</a:t>
                      </a:r>
                    </a:p>
                  </a:txBody>
                  <a:tcPr marL="73152" marR="73152" marT="27432" marB="27432" anchor="ctr">
                    <a:solidFill>
                      <a:srgbClr val="FFFFFF"/>
                    </a:solidFill>
                  </a:tcPr>
                </a:tc>
              </a:tr>
              <a:tr h="283464">
                <a:tc>
                  <a:txBody>
                    <a:bodyPr wrap="square"/>
                    <a:lstStyle/>
                    <a:p>
                      <a:pPr algn="l"/>
                      <a:r>
                        <a:rPr sz="1000" b="1">
                          <a:solidFill>
                            <a:srgbClr val="0F172A"/>
                          </a:solidFill>
                          <a:latin typeface="Aptos Narrow"/>
                        </a:rPr>
                        <a:t>Age at enrollment</a:t>
                      </a:r>
                    </a:p>
                  </a:txBody>
                  <a:tcPr marL="73152" marR="73152" marT="27432" marB="27432" anchor="ctr">
                    <a:solidFill>
                      <a:srgbClr val="FFFFFF"/>
                    </a:solidFill>
                  </a:tcPr>
                </a:tc>
                <a:tc>
                  <a:txBody>
                    <a:bodyPr wrap="square"/>
                    <a:lstStyle/>
                    <a:p>
                      <a:pPr algn="ctr"/>
                      <a:r>
                        <a:rPr sz="1000" b="0">
                          <a:solidFill>
                            <a:srgbClr val="0F172A"/>
                          </a:solidFill>
                          <a:latin typeface="Aptos Narrow"/>
                        </a:rPr>
                        <a:t>0.238</a:t>
                      </a:r>
                    </a:p>
                  </a:txBody>
                  <a:tcPr marL="73152" marR="73152" marT="27432" marB="27432" anchor="ctr">
                    <a:solidFill>
                      <a:srgbClr val="FFFFFF"/>
                    </a:solidFill>
                  </a:tcPr>
                </a:tc>
                <a:tc>
                  <a:txBody>
                    <a:bodyPr wrap="square"/>
                    <a:lstStyle/>
                    <a:p>
                      <a:pPr algn="ctr"/>
                      <a:r>
                        <a:rPr sz="1000" b="0">
                          <a:solidFill>
                            <a:srgbClr val="0F172A"/>
                          </a:solidFill>
                          <a:latin typeface="Aptos Narrow"/>
                        </a:rPr>
                        <a:t>raises risk</a:t>
                      </a:r>
                    </a:p>
                  </a:txBody>
                  <a:tcPr marL="73152" marR="73152" marT="27432" marB="27432" anchor="ctr">
                    <a:solidFill>
                      <a:srgbClr val="FFFFFF"/>
                    </a:solidFill>
                  </a:tcPr>
                </a:tc>
              </a:tr>
              <a:tr h="283464">
                <a:tc>
                  <a:txBody>
                    <a:bodyPr wrap="square"/>
                    <a:lstStyle/>
                    <a:p>
                      <a:pPr algn="l"/>
                      <a:r>
                        <a:rPr sz="1000" b="1">
                          <a:solidFill>
                            <a:srgbClr val="0F172A"/>
                          </a:solidFill>
                          <a:latin typeface="Aptos Narrow"/>
                        </a:rPr>
                        <a:t>Course</a:t>
                      </a:r>
                    </a:p>
                  </a:txBody>
                  <a:tcPr marL="73152" marR="73152" marT="27432" marB="27432" anchor="ctr">
                    <a:solidFill>
                      <a:srgbClr val="FFFFFF"/>
                    </a:solidFill>
                  </a:tcPr>
                </a:tc>
                <a:tc>
                  <a:txBody>
                    <a:bodyPr wrap="square"/>
                    <a:lstStyle/>
                    <a:p>
                      <a:pPr algn="ctr"/>
                      <a:r>
                        <a:rPr sz="1000" b="0">
                          <a:solidFill>
                            <a:srgbClr val="0F172A"/>
                          </a:solidFill>
                          <a:latin typeface="Aptos Narrow"/>
                        </a:rPr>
                        <a:t>0.230</a:t>
                      </a:r>
                    </a:p>
                  </a:txBody>
                  <a:tcPr marL="73152" marR="73152" marT="27432" marB="27432" anchor="ctr">
                    <a:solidFill>
                      <a:srgbClr val="FFFFFF"/>
                    </a:solidFill>
                  </a:tcPr>
                </a:tc>
                <a:tc>
                  <a:txBody>
                    <a:bodyPr wrap="square"/>
                    <a:lstStyle/>
                    <a:p>
                      <a:pPr algn="ctr"/>
                      <a:r>
                        <a:rPr sz="1000" b="0">
                          <a:solidFill>
                            <a:srgbClr val="0F172A"/>
                          </a:solidFill>
                          <a:latin typeface="Aptos Narrow"/>
                        </a:rPr>
                        <a:t>mixed</a:t>
                      </a:r>
                    </a:p>
                  </a:txBody>
                  <a:tcPr marL="73152" marR="73152" marT="27432" marB="27432" anchor="ctr">
                    <a:solidFill>
                      <a:srgbClr val="FFFFFF"/>
                    </a:solidFill>
                  </a:tcPr>
                </a:tc>
              </a:tr>
              <a:tr h="283464">
                <a:tc>
                  <a:txBody>
                    <a:bodyPr wrap="square"/>
                    <a:lstStyle/>
                    <a:p>
                      <a:pPr algn="l"/>
                      <a:r>
                        <a:rPr sz="1000" b="1">
                          <a:solidFill>
                            <a:srgbClr val="0F172A"/>
                          </a:solidFill>
                          <a:latin typeface="Aptos Narrow"/>
                        </a:rPr>
                        <a:t>Financial_Stress_Index</a:t>
                      </a:r>
                    </a:p>
                  </a:txBody>
                  <a:tcPr marL="73152" marR="73152" marT="27432" marB="27432" anchor="ctr">
                    <a:solidFill>
                      <a:srgbClr val="FFFFFF"/>
                    </a:solidFill>
                  </a:tcPr>
                </a:tc>
                <a:tc>
                  <a:txBody>
                    <a:bodyPr wrap="square"/>
                    <a:lstStyle/>
                    <a:p>
                      <a:pPr algn="ctr"/>
                      <a:r>
                        <a:rPr sz="1000" b="0">
                          <a:solidFill>
                            <a:srgbClr val="0F172A"/>
                          </a:solidFill>
                          <a:latin typeface="Aptos Narrow"/>
                        </a:rPr>
                        <a:t>0.199</a:t>
                      </a:r>
                    </a:p>
                  </a:txBody>
                  <a:tcPr marL="73152" marR="73152" marT="27432" marB="27432" anchor="ctr">
                    <a:solidFill>
                      <a:srgbClr val="FFFFFF"/>
                    </a:solidFill>
                  </a:tcPr>
                </a:tc>
                <a:tc>
                  <a:txBody>
                    <a:bodyPr wrap="square"/>
                    <a:lstStyle/>
                    <a:p>
                      <a:pPr algn="ctr"/>
                      <a:r>
                        <a:rPr sz="1000" b="0">
                          <a:solidFill>
                            <a:srgbClr val="0F172A"/>
                          </a:solidFill>
                          <a:latin typeface="Aptos Narrow"/>
                        </a:rPr>
                        <a:t>raises risk</a:t>
                      </a:r>
                    </a:p>
                  </a:txBody>
                  <a:tcPr marL="73152" marR="73152" marT="27432" marB="27432" anchor="ctr">
                    <a:solidFill>
                      <a:srgbClr val="FFFFFF"/>
                    </a:solidFill>
                  </a:tcPr>
                </a:tc>
              </a:tr>
            </a:tbl>
          </a:graphicData>
        </a:graphic>
      </p:graphicFrame>
      <p:sp>
        <p:nvSpPr>
          <p:cNvPr id="31" name="Rounded Rectangle 30"/>
          <p:cNvSpPr/>
          <p:nvPr/>
        </p:nvSpPr>
        <p:spPr>
          <a:xfrm>
            <a:off x="5824728" y="4041648"/>
            <a:ext cx="3227706" cy="1975104"/>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Figure 11_5" descr="Technical_Slides_Rex_Villamar_Pillar_5_Capstone_Project_11_5.png"/>
          <p:cNvPicPr>
            <a:picLocks noChangeAspect="1"/>
          </p:cNvPicPr>
          <p:nvPr/>
        </p:nvPicPr>
        <p:blipFill>
          <a:blip r:embed="rId4"/>
          <a:stretch>
            <a:fillRect/>
          </a:stretch>
        </p:blipFill>
        <p:spPr>
          <a:xfrm>
            <a:off x="5897880" y="4114800"/>
            <a:ext cx="3081402" cy="1828800"/>
          </a:xfrm>
          <a:prstGeom prst="rect">
            <a:avLst/>
          </a:prstGeom>
        </p:spPr>
      </p:pic>
      <p:sp>
        <p:nvSpPr>
          <p:cNvPr id="33" name="TextBox 32"/>
          <p:cNvSpPr txBox="1"/>
          <p:nvPr/>
        </p:nvSpPr>
        <p:spPr>
          <a:xfrm>
            <a:off x="9601200" y="4069080"/>
            <a:ext cx="1984248" cy="1965960"/>
          </a:xfrm>
          <a:prstGeom prst="rect">
            <a:avLst/>
          </a:prstGeom>
          <a:noFill/>
        </p:spPr>
        <p:txBody>
          <a:bodyPr wrap="square" lIns="0" rIns="0" tIns="0" bIns="0" anchor="t">
            <a:noAutofit/>
          </a:bodyPr>
          <a:lstStyle/>
          <a:p>
            <a:pPr algn="l">
              <a:spcAft>
                <a:spcPts val="300"/>
              </a:spcAft>
            </a:pPr>
            <a:r>
              <a:rPr sz="1000" b="1">
                <a:solidFill>
                  <a:srgbClr val="0F172A"/>
                </a:solidFill>
                <a:latin typeface="Aptos Narrow"/>
              </a:rPr>
              <a:t>LIME, student 3744 (97% risk)</a:t>
            </a:r>
          </a:p>
          <a:p>
            <a:pPr algn="l"/>
            <a:r>
              <a:rPr sz="950" b="0">
                <a:solidFill>
                  <a:srgbClr val="475569"/>
                </a:solidFill>
                <a:latin typeface="Aptos Narrow"/>
              </a:rPr>
              <a:t>Sem 2 approval ≤ 0.40 (+0.25); financial stress ≤ 1 (−0.16); nationality ≤ 1 (+0.11). 2 of the top 3 LIME features are also in the SHAP top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A2146499-2B2D-F6AB-3E07-861B4BDC985A}"/>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13" name="Slide Number Placeholder 12">
            <a:extLst>
              <a:ext uri="{FF2B5EF4-FFF2-40B4-BE49-F238E27FC236}">
                <a16:creationId xmlns:a16="http://schemas.microsoft.com/office/drawing/2014/main" id="{A302231B-583C-99B8-9153-6218B9D7AA9D}"/>
              </a:ext>
            </a:extLst>
          </p:cNvPr>
          <p:cNvSpPr>
            <a:spLocks noGrp="1"/>
          </p:cNvSpPr>
          <p:nvPr>
            <p:ph type="sldNum" sz="quarter" idx="11"/>
          </p:nvPr>
        </p:nvSpPr>
        <p:spPr/>
        <p:txBody>
          <a:bodyPr/>
          <a:lstStyle/>
          <a:p>
            <a:fld id="{B67B645E-C5E5-4727-B977-D372A0AA71D9}" type="slidenum">
              <a:rPr lang="en-US" smtClean="0"/>
              <a:pPr/>
              <a:t>11</a:t>
            </a:fld>
            <a:endParaRPr lang="en-US" dirty="0"/>
          </a:p>
        </p:txBody>
      </p:sp>
      <p:sp>
        <p:nvSpPr>
          <p:cNvPr id="14" name="TextBox 13"/>
          <p:cNvSpPr txBox="1"/>
          <p:nvPr/>
        </p:nvSpPr>
        <p:spPr>
          <a:xfrm>
            <a:off x="612648" y="457200"/>
            <a:ext cx="7315200" cy="182880"/>
          </a:xfrm>
          <a:prstGeom prst="rect">
            <a:avLst/>
          </a:prstGeom>
          <a:noFill/>
        </p:spPr>
        <p:txBody>
          <a:bodyPr wrap="square" lIns="0" rIns="0" tIns="0" bIns="0" anchor="t">
            <a:noAutofit/>
          </a:bodyPr>
          <a:lstStyle/>
          <a:p>
            <a:pPr algn="l"/>
            <a:r>
              <a:rPr sz="1000" b="1">
                <a:solidFill>
                  <a:srgbClr val="0284C7"/>
                </a:solidFill>
                <a:latin typeface="Aptos Narrow"/>
              </a:rPr>
              <a:t>STEP 5C: BIAS &amp; FAIRNESS AUDIT</a:t>
            </a:r>
          </a:p>
        </p:txBody>
      </p:sp>
      <p:sp>
        <p:nvSpPr>
          <p:cNvPr id="15" name="TextBox 14"/>
          <p:cNvSpPr txBox="1"/>
          <p:nvPr/>
        </p:nvSpPr>
        <p:spPr>
          <a:xfrm>
            <a:off x="612648" y="667512"/>
            <a:ext cx="10972800" cy="457200"/>
          </a:xfrm>
          <a:prstGeom prst="rect">
            <a:avLst/>
          </a:prstGeom>
          <a:noFill/>
        </p:spPr>
        <p:txBody>
          <a:bodyPr wrap="square" lIns="0" rIns="0" tIns="0" bIns="0" anchor="t">
            <a:noAutofit/>
          </a:bodyPr>
          <a:lstStyle/>
          <a:p>
            <a:pPr algn="l"/>
            <a:r>
              <a:rPr sz="2400" b="1">
                <a:solidFill>
                  <a:srgbClr val="0F172A"/>
                </a:solidFill>
                <a:latin typeface="Aptos Narrow"/>
              </a:rPr>
              <a:t>Does the Model Treat Groups Fairly?</a:t>
            </a:r>
          </a:p>
        </p:txBody>
      </p:sp>
      <p:sp>
        <p:nvSpPr>
          <p:cNvPr id="16" name="Rounded Rectangle 15"/>
          <p:cNvSpPr/>
          <p:nvPr/>
        </p:nvSpPr>
        <p:spPr>
          <a:xfrm>
            <a:off x="612648" y="1508760"/>
            <a:ext cx="6858000" cy="2316802"/>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Figure 13_1" descr="Technical_Slides_Rex_Villamar_Pillar_5_Capstone_Project_13_1.png"/>
          <p:cNvPicPr>
            <a:picLocks noChangeAspect="1"/>
          </p:cNvPicPr>
          <p:nvPr/>
        </p:nvPicPr>
        <p:blipFill>
          <a:blip r:embed="rId5"/>
          <a:stretch>
            <a:fillRect/>
          </a:stretch>
        </p:blipFill>
        <p:spPr>
          <a:xfrm>
            <a:off x="704088" y="1600200"/>
            <a:ext cx="6675120" cy="2133922"/>
          </a:xfrm>
          <a:prstGeom prst="rect">
            <a:avLst/>
          </a:prstGeom>
        </p:spPr>
      </p:pic>
      <p:graphicFrame>
        <p:nvGraphicFramePr>
          <p:cNvPr id="18" name="Table 17"/>
          <p:cNvGraphicFramePr>
            <a:graphicFrameLocks noGrp="1"/>
          </p:cNvGraphicFramePr>
          <p:nvPr/>
        </p:nvGraphicFramePr>
        <p:xfrm>
          <a:off x="7726679" y="1508760"/>
          <a:ext cx="3858768" cy="2194560"/>
        </p:xfrm>
        <a:graphic>
          <a:graphicData uri="http://schemas.openxmlformats.org/drawingml/2006/table">
            <a:tbl>
              <a:tblPr firstRow="0" bandRow="0">
                <a:tableStyleId>{5C22544A-7EE6-4342-B048-85BDC9FD1C3A}</a:tableStyleId>
              </a:tblPr>
              <a:tblGrid>
                <a:gridCol w="1371600"/>
                <a:gridCol w="960120"/>
                <a:gridCol w="822960"/>
                <a:gridCol w="704088"/>
              </a:tblGrid>
              <a:tr h="365760">
                <a:tc>
                  <a:txBody>
                    <a:bodyPr wrap="square"/>
                    <a:lstStyle/>
                    <a:p>
                      <a:pPr algn="l"/>
                      <a:r>
                        <a:rPr sz="1000" b="1">
                          <a:solidFill>
                            <a:srgbClr val="FFFFFF"/>
                          </a:solidFill>
                          <a:latin typeface="Aptos Narrow"/>
                        </a:rPr>
                        <a:t>Attribute</a:t>
                      </a:r>
                    </a:p>
                  </a:txBody>
                  <a:tcPr marL="73152" marR="73152" marT="27432" marB="27432" anchor="ctr">
                    <a:solidFill>
                      <a:srgbClr val="0F172A"/>
                    </a:solidFill>
                  </a:tcPr>
                </a:tc>
                <a:tc>
                  <a:txBody>
                    <a:bodyPr wrap="square"/>
                    <a:lstStyle/>
                    <a:p>
                      <a:pPr algn="ctr"/>
                      <a:r>
                        <a:rPr sz="1000" b="1">
                          <a:solidFill>
                            <a:srgbClr val="FFFFFF"/>
                          </a:solidFill>
                          <a:latin typeface="Aptos Narrow"/>
                        </a:rPr>
                        <a:t>Flag-rate ratio</a:t>
                      </a:r>
                    </a:p>
                  </a:txBody>
                  <a:tcPr marL="73152" marR="73152" marT="27432" marB="27432" anchor="ctr">
                    <a:solidFill>
                      <a:srgbClr val="0F172A"/>
                    </a:solidFill>
                  </a:tcPr>
                </a:tc>
                <a:tc>
                  <a:txBody>
                    <a:bodyPr wrap="square"/>
                    <a:lstStyle/>
                    <a:p>
                      <a:pPr algn="ctr"/>
                      <a:r>
                        <a:rPr sz="1000" b="1">
                          <a:solidFill>
                            <a:srgbClr val="FFFFFF"/>
                          </a:solidFill>
                          <a:latin typeface="Aptos Narrow"/>
                        </a:rPr>
                        <a:t>Recall gap</a:t>
                      </a:r>
                    </a:p>
                  </a:txBody>
                  <a:tcPr marL="73152" marR="73152" marT="27432" marB="27432" anchor="ctr">
                    <a:solidFill>
                      <a:srgbClr val="0F172A"/>
                    </a:solidFill>
                  </a:tcPr>
                </a:tc>
                <a:tc>
                  <a:txBody>
                    <a:bodyPr wrap="square"/>
                    <a:lstStyle/>
                    <a:p>
                      <a:pPr algn="ctr"/>
                      <a:r>
                        <a:rPr sz="1000" b="1">
                          <a:solidFill>
                            <a:srgbClr val="FFFFFF"/>
                          </a:solidFill>
                          <a:latin typeface="Aptos Narrow"/>
                        </a:rPr>
                        <a:t>FPR gap</a:t>
                      </a:r>
                    </a:p>
                  </a:txBody>
                  <a:tcPr marL="73152" marR="73152" marT="27432" marB="27432" anchor="ctr">
                    <a:solidFill>
                      <a:srgbClr val="0F172A"/>
                    </a:solidFill>
                  </a:tcPr>
                </a:tc>
              </a:tr>
              <a:tr h="365760">
                <a:tc>
                  <a:txBody>
                    <a:bodyPr wrap="square"/>
                    <a:lstStyle/>
                    <a:p>
                      <a:pPr algn="l"/>
                      <a:r>
                        <a:rPr sz="1050" b="1">
                          <a:solidFill>
                            <a:srgbClr val="0F172A"/>
                          </a:solidFill>
                          <a:latin typeface="Aptos Narrow"/>
                        </a:rPr>
                        <a:t>Age group</a:t>
                      </a:r>
                    </a:p>
                  </a:txBody>
                  <a:tcPr marL="73152" marR="73152" marT="27432" marB="27432" anchor="ctr">
                    <a:solidFill>
                      <a:srgbClr val="FFFFFF"/>
                    </a:solidFill>
                  </a:tcPr>
                </a:tc>
                <a:tc>
                  <a:txBody>
                    <a:bodyPr wrap="square"/>
                    <a:lstStyle/>
                    <a:p>
                      <a:pPr algn="ctr"/>
                      <a:r>
                        <a:rPr sz="1050" b="0">
                          <a:solidFill>
                            <a:srgbClr val="0F172A"/>
                          </a:solidFill>
                          <a:latin typeface="Aptos Narrow"/>
                        </a:rPr>
                        <a:t>0.42</a:t>
                      </a:r>
                    </a:p>
                  </a:txBody>
                  <a:tcPr marL="73152" marR="73152" marT="27432" marB="27432" anchor="ctr">
                    <a:solidFill>
                      <a:srgbClr val="FFFFFF"/>
                    </a:solidFill>
                  </a:tcPr>
                </a:tc>
                <a:tc>
                  <a:txBody>
                    <a:bodyPr wrap="square"/>
                    <a:lstStyle/>
                    <a:p>
                      <a:pPr algn="ctr"/>
                      <a:r>
                        <a:rPr sz="1050" b="1">
                          <a:solidFill>
                            <a:srgbClr val="EF4444"/>
                          </a:solidFill>
                          <a:latin typeface="Aptos Narrow"/>
                        </a:rPr>
                        <a:t>0.18</a:t>
                      </a:r>
                    </a:p>
                  </a:txBody>
                  <a:tcPr marL="73152" marR="73152" marT="27432" marB="27432" anchor="ctr">
                    <a:solidFill>
                      <a:srgbClr val="FFFFFF"/>
                    </a:solidFill>
                  </a:tcPr>
                </a:tc>
                <a:tc>
                  <a:txBody>
                    <a:bodyPr wrap="square"/>
                    <a:lstStyle/>
                    <a:p>
                      <a:pPr algn="ctr"/>
                      <a:r>
                        <a:rPr sz="1050" b="0">
                          <a:solidFill>
                            <a:srgbClr val="0F172A"/>
                          </a:solidFill>
                          <a:latin typeface="Aptos Narrow"/>
                        </a:rPr>
                        <a:t>0.13</a:t>
                      </a:r>
                    </a:p>
                  </a:txBody>
                  <a:tcPr marL="73152" marR="73152" marT="27432" marB="27432" anchor="ctr">
                    <a:solidFill>
                      <a:srgbClr val="FFFFFF"/>
                    </a:solidFill>
                  </a:tcPr>
                </a:tc>
              </a:tr>
              <a:tr h="365760">
                <a:tc>
                  <a:txBody>
                    <a:bodyPr wrap="square"/>
                    <a:lstStyle/>
                    <a:p>
                      <a:pPr algn="l"/>
                      <a:r>
                        <a:rPr sz="1050" b="1">
                          <a:solidFill>
                            <a:srgbClr val="0F172A"/>
                          </a:solidFill>
                          <a:latin typeface="Aptos Narrow"/>
                        </a:rPr>
                        <a:t>Scholarship</a:t>
                      </a:r>
                    </a:p>
                  </a:txBody>
                  <a:tcPr marL="73152" marR="73152" marT="27432" marB="27432" anchor="ctr">
                    <a:solidFill>
                      <a:srgbClr val="FFFFFF"/>
                    </a:solidFill>
                  </a:tcPr>
                </a:tc>
                <a:tc>
                  <a:txBody>
                    <a:bodyPr wrap="square"/>
                    <a:lstStyle/>
                    <a:p>
                      <a:pPr algn="ctr"/>
                      <a:r>
                        <a:rPr sz="1050" b="0">
                          <a:solidFill>
                            <a:srgbClr val="0F172A"/>
                          </a:solidFill>
                          <a:latin typeface="Aptos Narrow"/>
                        </a:rPr>
                        <a:t>0.32</a:t>
                      </a:r>
                    </a:p>
                  </a:txBody>
                  <a:tcPr marL="73152" marR="73152" marT="27432" marB="27432" anchor="ctr">
                    <a:solidFill>
                      <a:srgbClr val="FFFFFF"/>
                    </a:solidFill>
                  </a:tcPr>
                </a:tc>
                <a:tc>
                  <a:txBody>
                    <a:bodyPr wrap="square"/>
                    <a:lstStyle/>
                    <a:p>
                      <a:pPr algn="ctr"/>
                      <a:r>
                        <a:rPr sz="1050" b="1">
                          <a:solidFill>
                            <a:srgbClr val="EF4444"/>
                          </a:solidFill>
                          <a:latin typeface="Aptos Narrow"/>
                        </a:rPr>
                        <a:t>0.13</a:t>
                      </a:r>
                    </a:p>
                  </a:txBody>
                  <a:tcPr marL="73152" marR="73152" marT="27432" marB="27432" anchor="ctr">
                    <a:solidFill>
                      <a:srgbClr val="FFFFFF"/>
                    </a:solidFill>
                  </a:tcPr>
                </a:tc>
                <a:tc>
                  <a:txBody>
                    <a:bodyPr wrap="square"/>
                    <a:lstStyle/>
                    <a:p>
                      <a:pPr algn="ctr"/>
                      <a:r>
                        <a:rPr sz="1050" b="0">
                          <a:solidFill>
                            <a:srgbClr val="0F172A"/>
                          </a:solidFill>
                          <a:latin typeface="Aptos Narrow"/>
                        </a:rPr>
                        <a:t>0.19</a:t>
                      </a:r>
                    </a:p>
                  </a:txBody>
                  <a:tcPr marL="73152" marR="73152" marT="27432" marB="27432" anchor="ctr">
                    <a:solidFill>
                      <a:srgbClr val="FFFFFF"/>
                    </a:solidFill>
                  </a:tcPr>
                </a:tc>
              </a:tr>
              <a:tr h="365760">
                <a:tc>
                  <a:txBody>
                    <a:bodyPr wrap="square"/>
                    <a:lstStyle/>
                    <a:p>
                      <a:pPr algn="l"/>
                      <a:r>
                        <a:rPr sz="1050" b="1">
                          <a:solidFill>
                            <a:srgbClr val="0F172A"/>
                          </a:solidFill>
                          <a:latin typeface="Aptos Narrow"/>
                        </a:rPr>
                        <a:t>Debtor</a:t>
                      </a:r>
                    </a:p>
                  </a:txBody>
                  <a:tcPr marL="73152" marR="73152" marT="27432" marB="27432" anchor="ctr">
                    <a:solidFill>
                      <a:srgbClr val="FFFFFF"/>
                    </a:solidFill>
                  </a:tcPr>
                </a:tc>
                <a:tc>
                  <a:txBody>
                    <a:bodyPr wrap="square"/>
                    <a:lstStyle/>
                    <a:p>
                      <a:pPr algn="ctr"/>
                      <a:r>
                        <a:rPr sz="1050" b="0">
                          <a:solidFill>
                            <a:srgbClr val="0F172A"/>
                          </a:solidFill>
                          <a:latin typeface="Aptos Narrow"/>
                        </a:rPr>
                        <a:t>0.52</a:t>
                      </a:r>
                    </a:p>
                  </a:txBody>
                  <a:tcPr marL="73152" marR="73152" marT="27432" marB="27432" anchor="ctr">
                    <a:solidFill>
                      <a:srgbClr val="FFFFFF"/>
                    </a:solidFill>
                  </a:tcPr>
                </a:tc>
                <a:tc>
                  <a:txBody>
                    <a:bodyPr wrap="square"/>
                    <a:lstStyle/>
                    <a:p>
                      <a:pPr algn="ctr"/>
                      <a:r>
                        <a:rPr sz="1050" b="0">
                          <a:solidFill>
                            <a:srgbClr val="0F172A"/>
                          </a:solidFill>
                          <a:latin typeface="Aptos Narrow"/>
                        </a:rPr>
                        <a:t>0.08</a:t>
                      </a:r>
                    </a:p>
                  </a:txBody>
                  <a:tcPr marL="73152" marR="73152" marT="27432" marB="27432" anchor="ctr">
                    <a:solidFill>
                      <a:srgbClr val="FFFFFF"/>
                    </a:solidFill>
                  </a:tcPr>
                </a:tc>
                <a:tc>
                  <a:txBody>
                    <a:bodyPr wrap="square"/>
                    <a:lstStyle/>
                    <a:p>
                      <a:pPr algn="ctr"/>
                      <a:r>
                        <a:rPr sz="1050" b="0">
                          <a:solidFill>
                            <a:srgbClr val="0F172A"/>
                          </a:solidFill>
                          <a:latin typeface="Aptos Narrow"/>
                        </a:rPr>
                        <a:t>0.27</a:t>
                      </a:r>
                    </a:p>
                  </a:txBody>
                  <a:tcPr marL="73152" marR="73152" marT="27432" marB="27432" anchor="ctr">
                    <a:solidFill>
                      <a:srgbClr val="FFFFFF"/>
                    </a:solidFill>
                  </a:tcPr>
                </a:tc>
              </a:tr>
              <a:tr h="365760">
                <a:tc>
                  <a:txBody>
                    <a:bodyPr wrap="square"/>
                    <a:lstStyle/>
                    <a:p>
                      <a:pPr algn="l"/>
                      <a:r>
                        <a:rPr sz="1050" b="1">
                          <a:solidFill>
                            <a:srgbClr val="0F172A"/>
                          </a:solidFill>
                          <a:latin typeface="Aptos Narrow"/>
                        </a:rPr>
                        <a:t>Marital status</a:t>
                      </a:r>
                    </a:p>
                  </a:txBody>
                  <a:tcPr marL="73152" marR="73152" marT="27432" marB="27432" anchor="ctr">
                    <a:solidFill>
                      <a:srgbClr val="FFFFFF"/>
                    </a:solidFill>
                  </a:tcPr>
                </a:tc>
                <a:tc>
                  <a:txBody>
                    <a:bodyPr wrap="square"/>
                    <a:lstStyle/>
                    <a:p>
                      <a:pPr algn="ctr"/>
                      <a:r>
                        <a:rPr sz="1050" b="0">
                          <a:solidFill>
                            <a:srgbClr val="0F172A"/>
                          </a:solidFill>
                          <a:latin typeface="Aptos Narrow"/>
                        </a:rPr>
                        <a:t>0.64</a:t>
                      </a:r>
                    </a:p>
                  </a:txBody>
                  <a:tcPr marL="73152" marR="73152" marT="27432" marB="27432" anchor="ctr">
                    <a:solidFill>
                      <a:srgbClr val="FFFFFF"/>
                    </a:solidFill>
                  </a:tcPr>
                </a:tc>
                <a:tc>
                  <a:txBody>
                    <a:bodyPr wrap="square"/>
                    <a:lstStyle/>
                    <a:p>
                      <a:pPr algn="ctr"/>
                      <a:r>
                        <a:rPr sz="1050" b="0">
                          <a:solidFill>
                            <a:srgbClr val="0F172A"/>
                          </a:solidFill>
                          <a:latin typeface="Aptos Narrow"/>
                        </a:rPr>
                        <a:t>0.05</a:t>
                      </a:r>
                    </a:p>
                  </a:txBody>
                  <a:tcPr marL="73152" marR="73152" marT="27432" marB="27432" anchor="ctr">
                    <a:solidFill>
                      <a:srgbClr val="FFFFFF"/>
                    </a:solidFill>
                  </a:tcPr>
                </a:tc>
                <a:tc>
                  <a:txBody>
                    <a:bodyPr wrap="square"/>
                    <a:lstStyle/>
                    <a:p>
                      <a:pPr algn="ctr"/>
                      <a:r>
                        <a:rPr sz="1050" b="0">
                          <a:solidFill>
                            <a:srgbClr val="0F172A"/>
                          </a:solidFill>
                          <a:latin typeface="Aptos Narrow"/>
                        </a:rPr>
                        <a:t>0.08</a:t>
                      </a:r>
                    </a:p>
                  </a:txBody>
                  <a:tcPr marL="73152" marR="73152" marT="27432" marB="27432" anchor="ctr">
                    <a:solidFill>
                      <a:srgbClr val="FFFFFF"/>
                    </a:solidFill>
                  </a:tcPr>
                </a:tc>
              </a:tr>
              <a:tr h="365760">
                <a:tc>
                  <a:txBody>
                    <a:bodyPr wrap="square"/>
                    <a:lstStyle/>
                    <a:p>
                      <a:pPr algn="l"/>
                      <a:r>
                        <a:rPr sz="1050" b="1">
                          <a:solidFill>
                            <a:srgbClr val="0F172A"/>
                          </a:solidFill>
                          <a:latin typeface="Aptos Narrow"/>
                        </a:rPr>
                        <a:t>Gender</a:t>
                      </a:r>
                    </a:p>
                  </a:txBody>
                  <a:tcPr marL="73152" marR="73152" marT="27432" marB="27432" anchor="ctr">
                    <a:solidFill>
                      <a:srgbClr val="FFFFFF"/>
                    </a:solidFill>
                  </a:tcPr>
                </a:tc>
                <a:tc>
                  <a:txBody>
                    <a:bodyPr wrap="square"/>
                    <a:lstStyle/>
                    <a:p>
                      <a:pPr algn="ctr"/>
                      <a:r>
                        <a:rPr sz="1050" b="0">
                          <a:solidFill>
                            <a:srgbClr val="0F172A"/>
                          </a:solidFill>
                          <a:latin typeface="Aptos Narrow"/>
                        </a:rPr>
                        <a:t>0.59</a:t>
                      </a:r>
                    </a:p>
                  </a:txBody>
                  <a:tcPr marL="73152" marR="73152" marT="27432" marB="27432" anchor="ctr">
                    <a:solidFill>
                      <a:srgbClr val="FFFFFF"/>
                    </a:solidFill>
                  </a:tcPr>
                </a:tc>
                <a:tc>
                  <a:txBody>
                    <a:bodyPr wrap="square"/>
                    <a:lstStyle/>
                    <a:p>
                      <a:pPr algn="ctr"/>
                      <a:r>
                        <a:rPr sz="1050" b="0">
                          <a:solidFill>
                            <a:srgbClr val="0F172A"/>
                          </a:solidFill>
                          <a:latin typeface="Aptos Narrow"/>
                        </a:rPr>
                        <a:t>0.01</a:t>
                      </a:r>
                    </a:p>
                  </a:txBody>
                  <a:tcPr marL="73152" marR="73152" marT="27432" marB="27432" anchor="ctr">
                    <a:solidFill>
                      <a:srgbClr val="FFFFFF"/>
                    </a:solidFill>
                  </a:tcPr>
                </a:tc>
                <a:tc>
                  <a:txBody>
                    <a:bodyPr wrap="square"/>
                    <a:lstStyle/>
                    <a:p>
                      <a:pPr algn="ctr"/>
                      <a:r>
                        <a:rPr sz="1050" b="0">
                          <a:solidFill>
                            <a:srgbClr val="0F172A"/>
                          </a:solidFill>
                          <a:latin typeface="Aptos Narrow"/>
                        </a:rPr>
                        <a:t>0.13</a:t>
                      </a:r>
                    </a:p>
                  </a:txBody>
                  <a:tcPr marL="73152" marR="73152" marT="27432" marB="27432" anchor="ctr">
                    <a:solidFill>
                      <a:srgbClr val="FFFFFF"/>
                    </a:solidFill>
                  </a:tcPr>
                </a:tc>
              </a:tr>
            </a:tbl>
          </a:graphicData>
        </a:graphic>
      </p:graphicFrame>
      <p:sp>
        <p:nvSpPr>
          <p:cNvPr id="19" name="Rounded Rectangle 18"/>
          <p:cNvSpPr/>
          <p:nvPr/>
        </p:nvSpPr>
        <p:spPr>
          <a:xfrm>
            <a:off x="612648" y="3886200"/>
            <a:ext cx="6858000" cy="214884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7240" y="3959352"/>
            <a:ext cx="6492240" cy="228600"/>
          </a:xfrm>
          <a:prstGeom prst="rect">
            <a:avLst/>
          </a:prstGeom>
          <a:noFill/>
        </p:spPr>
        <p:txBody>
          <a:bodyPr wrap="square" lIns="0" rIns="0" tIns="0" bIns="0" anchor="t">
            <a:noAutofit/>
          </a:bodyPr>
          <a:lstStyle/>
          <a:p>
            <a:pPr algn="l"/>
            <a:r>
              <a:rPr sz="950" b="1">
                <a:solidFill>
                  <a:srgbClr val="0284C7"/>
                </a:solidFill>
                <a:latin typeface="Aptos Narrow"/>
              </a:rPr>
              <a:t>BASE RATES EXPLAIN FLAG RATES; RECALL IS THE FAIRNESS TEST</a:t>
            </a:r>
          </a:p>
        </p:txBody>
      </p:sp>
      <p:graphicFrame>
        <p:nvGraphicFramePr>
          <p:cNvPr id="21" name="Table 20"/>
          <p:cNvGraphicFramePr>
            <a:graphicFrameLocks noGrp="1"/>
          </p:cNvGraphicFramePr>
          <p:nvPr/>
        </p:nvGraphicFramePr>
        <p:xfrm>
          <a:off x="731520" y="4251960"/>
          <a:ext cx="6400800" cy="1691640"/>
        </p:xfrm>
        <a:graphic>
          <a:graphicData uri="http://schemas.openxmlformats.org/drawingml/2006/table">
            <a:tbl>
              <a:tblPr firstRow="0" bandRow="0">
                <a:tableStyleId>{5C22544A-7EE6-4342-B048-85BDC9FD1C3A}</a:tableStyleId>
              </a:tblPr>
              <a:tblGrid>
                <a:gridCol w="2011680"/>
                <a:gridCol w="822960"/>
                <a:gridCol w="1371600"/>
                <a:gridCol w="1188720"/>
                <a:gridCol w="1005840"/>
              </a:tblGrid>
              <a:tr h="338328">
                <a:tc>
                  <a:txBody>
                    <a:bodyPr wrap="square"/>
                    <a:lstStyle/>
                    <a:p>
                      <a:pPr algn="l"/>
                      <a:r>
                        <a:rPr sz="1000" b="1">
                          <a:solidFill>
                            <a:srgbClr val="FFFFFF"/>
                          </a:solidFill>
                          <a:latin typeface="Aptos Narrow"/>
                        </a:rPr>
                        <a:t>Group</a:t>
                      </a:r>
                    </a:p>
                  </a:txBody>
                  <a:tcPr marL="73152" marR="73152" marT="27432" marB="27432" anchor="ctr">
                    <a:solidFill>
                      <a:srgbClr val="0F172A"/>
                    </a:solidFill>
                  </a:tcPr>
                </a:tc>
                <a:tc>
                  <a:txBody>
                    <a:bodyPr wrap="square"/>
                    <a:lstStyle/>
                    <a:p>
                      <a:pPr algn="ctr"/>
                      <a:r>
                        <a:rPr sz="1000" b="1">
                          <a:solidFill>
                            <a:srgbClr val="FFFFFF"/>
                          </a:solidFill>
                          <a:latin typeface="Aptos Narrow"/>
                        </a:rPr>
                        <a:t>N</a:t>
                      </a:r>
                    </a:p>
                  </a:txBody>
                  <a:tcPr marL="73152" marR="73152" marT="27432" marB="27432" anchor="ctr">
                    <a:solidFill>
                      <a:srgbClr val="0F172A"/>
                    </a:solidFill>
                  </a:tcPr>
                </a:tc>
                <a:tc>
                  <a:txBody>
                    <a:bodyPr wrap="square"/>
                    <a:lstStyle/>
                    <a:p>
                      <a:pPr algn="ctr"/>
                      <a:r>
                        <a:rPr sz="1000" b="1">
                          <a:solidFill>
                            <a:srgbClr val="FFFFFF"/>
                          </a:solidFill>
                          <a:latin typeface="Aptos Narrow"/>
                        </a:rPr>
                        <a:t>Dropout rate</a:t>
                      </a:r>
                    </a:p>
                  </a:txBody>
                  <a:tcPr marL="73152" marR="73152" marT="27432" marB="27432" anchor="ctr">
                    <a:solidFill>
                      <a:srgbClr val="0F172A"/>
                    </a:solidFill>
                  </a:tcPr>
                </a:tc>
                <a:tc>
                  <a:txBody>
                    <a:bodyPr wrap="square"/>
                    <a:lstStyle/>
                    <a:p>
                      <a:pPr algn="ctr"/>
                      <a:r>
                        <a:rPr sz="1000" b="1">
                          <a:solidFill>
                            <a:srgbClr val="FFFFFF"/>
                          </a:solidFill>
                          <a:latin typeface="Aptos Narrow"/>
                        </a:rPr>
                        <a:t>Flagged</a:t>
                      </a:r>
                    </a:p>
                  </a:txBody>
                  <a:tcPr marL="73152" marR="73152" marT="27432" marB="27432" anchor="ctr">
                    <a:solidFill>
                      <a:srgbClr val="0F172A"/>
                    </a:solidFill>
                  </a:tcPr>
                </a:tc>
                <a:tc>
                  <a:txBody>
                    <a:bodyPr wrap="square"/>
                    <a:lstStyle/>
                    <a:p>
                      <a:pPr algn="ctr"/>
                      <a:r>
                        <a:rPr sz="1000" b="1">
                          <a:solidFill>
                            <a:srgbClr val="FFFFFF"/>
                          </a:solidFill>
                          <a:latin typeface="Aptos Narrow"/>
                        </a:rPr>
                        <a:t>Recall</a:t>
                      </a:r>
                    </a:p>
                  </a:txBody>
                  <a:tcPr marL="73152" marR="73152" marT="27432" marB="27432" anchor="ctr">
                    <a:solidFill>
                      <a:srgbClr val="0F172A"/>
                    </a:solidFill>
                  </a:tcPr>
                </a:tc>
              </a:tr>
              <a:tr h="338328">
                <a:tc>
                  <a:txBody>
                    <a:bodyPr wrap="square"/>
                    <a:lstStyle/>
                    <a:p>
                      <a:pPr algn="l"/>
                      <a:r>
                        <a:rPr sz="1050" b="1">
                          <a:solidFill>
                            <a:srgbClr val="0F172A"/>
                          </a:solidFill>
                          <a:latin typeface="Aptos Narrow"/>
                        </a:rPr>
                        <a:t>Age ≤ 20</a:t>
                      </a:r>
                    </a:p>
                  </a:txBody>
                  <a:tcPr marL="73152" marR="73152" marT="27432" marB="27432" anchor="ctr">
                    <a:solidFill>
                      <a:srgbClr val="FFFFFF"/>
                    </a:solidFill>
                  </a:tcPr>
                </a:tc>
                <a:tc>
                  <a:txBody>
                    <a:bodyPr wrap="square"/>
                    <a:lstStyle/>
                    <a:p>
                      <a:pPr algn="ctr"/>
                      <a:r>
                        <a:rPr sz="1050" b="0">
                          <a:solidFill>
                            <a:srgbClr val="0F172A"/>
                          </a:solidFill>
                          <a:latin typeface="Aptos Narrow"/>
                        </a:rPr>
                        <a:t>513</a:t>
                      </a:r>
                    </a:p>
                  </a:txBody>
                  <a:tcPr marL="73152" marR="73152" marT="27432" marB="27432" anchor="ctr">
                    <a:solidFill>
                      <a:srgbClr val="FFFFFF"/>
                    </a:solidFill>
                  </a:tcPr>
                </a:tc>
                <a:tc>
                  <a:txBody>
                    <a:bodyPr wrap="square"/>
                    <a:lstStyle/>
                    <a:p>
                      <a:pPr algn="ctr"/>
                      <a:r>
                        <a:rPr sz="1050" b="0">
                          <a:solidFill>
                            <a:srgbClr val="0F172A"/>
                          </a:solidFill>
                          <a:latin typeface="Aptos Narrow"/>
                        </a:rPr>
                        <a:t>19.9%</a:t>
                      </a:r>
                    </a:p>
                  </a:txBody>
                  <a:tcPr marL="73152" marR="73152" marT="27432" marB="27432" anchor="ctr">
                    <a:solidFill>
                      <a:srgbClr val="FFFFFF"/>
                    </a:solidFill>
                  </a:tcPr>
                </a:tc>
                <a:tc>
                  <a:txBody>
                    <a:bodyPr wrap="square"/>
                    <a:lstStyle/>
                    <a:p>
                      <a:pPr algn="ctr"/>
                      <a:r>
                        <a:rPr sz="1050" b="0">
                          <a:solidFill>
                            <a:srgbClr val="0F172A"/>
                          </a:solidFill>
                          <a:latin typeface="Aptos Narrow"/>
                        </a:rPr>
                        <a:t>28.8%</a:t>
                      </a:r>
                    </a:p>
                  </a:txBody>
                  <a:tcPr marL="73152" marR="73152" marT="27432" marB="27432" anchor="ctr">
                    <a:solidFill>
                      <a:srgbClr val="FFFFFF"/>
                    </a:solidFill>
                  </a:tcPr>
                </a:tc>
                <a:tc>
                  <a:txBody>
                    <a:bodyPr wrap="square"/>
                    <a:lstStyle/>
                    <a:p>
                      <a:pPr algn="ctr"/>
                      <a:r>
                        <a:rPr sz="1050" b="1">
                          <a:solidFill>
                            <a:srgbClr val="EF4444"/>
                          </a:solidFill>
                          <a:latin typeface="Aptos Narrow"/>
                        </a:rPr>
                        <a:t>0.804</a:t>
                      </a:r>
                    </a:p>
                  </a:txBody>
                  <a:tcPr marL="73152" marR="73152" marT="27432" marB="27432" anchor="ctr">
                    <a:solidFill>
                      <a:srgbClr val="FFFFFF"/>
                    </a:solidFill>
                  </a:tcPr>
                </a:tc>
              </a:tr>
              <a:tr h="338328">
                <a:tc>
                  <a:txBody>
                    <a:bodyPr wrap="square"/>
                    <a:lstStyle/>
                    <a:p>
                      <a:pPr algn="l"/>
                      <a:r>
                        <a:rPr sz="1050" b="1">
                          <a:solidFill>
                            <a:srgbClr val="0F172A"/>
                          </a:solidFill>
                          <a:latin typeface="Aptos Narrow"/>
                        </a:rPr>
                        <a:t>Age &gt; 25</a:t>
                      </a:r>
                    </a:p>
                  </a:txBody>
                  <a:tcPr marL="73152" marR="73152" marT="27432" marB="27432" anchor="ctr">
                    <a:solidFill>
                      <a:srgbClr val="FFFFFF"/>
                    </a:solidFill>
                  </a:tcPr>
                </a:tc>
                <a:tc>
                  <a:txBody>
                    <a:bodyPr wrap="square"/>
                    <a:lstStyle/>
                    <a:p>
                      <a:pPr algn="ctr"/>
                      <a:r>
                        <a:rPr sz="1050" b="0">
                          <a:solidFill>
                            <a:srgbClr val="0F172A"/>
                          </a:solidFill>
                          <a:latin typeface="Aptos Narrow"/>
                        </a:rPr>
                        <a:t>215</a:t>
                      </a:r>
                    </a:p>
                  </a:txBody>
                  <a:tcPr marL="73152" marR="73152" marT="27432" marB="27432" anchor="ctr">
                    <a:solidFill>
                      <a:srgbClr val="FFFFFF"/>
                    </a:solidFill>
                  </a:tcPr>
                </a:tc>
                <a:tc>
                  <a:txBody>
                    <a:bodyPr wrap="square"/>
                    <a:lstStyle/>
                    <a:p>
                      <a:pPr algn="ctr"/>
                      <a:r>
                        <a:rPr sz="1050" b="0">
                          <a:solidFill>
                            <a:srgbClr val="0F172A"/>
                          </a:solidFill>
                          <a:latin typeface="Aptos Narrow"/>
                        </a:rPr>
                        <a:t>58.6%</a:t>
                      </a:r>
                    </a:p>
                  </a:txBody>
                  <a:tcPr marL="73152" marR="73152" marT="27432" marB="27432" anchor="ctr">
                    <a:solidFill>
                      <a:srgbClr val="FFFFFF"/>
                    </a:solidFill>
                  </a:tcPr>
                </a:tc>
                <a:tc>
                  <a:txBody>
                    <a:bodyPr wrap="square"/>
                    <a:lstStyle/>
                    <a:p>
                      <a:pPr algn="ctr"/>
                      <a:r>
                        <a:rPr sz="1050" b="0">
                          <a:solidFill>
                            <a:srgbClr val="0F172A"/>
                          </a:solidFill>
                          <a:latin typeface="Aptos Narrow"/>
                        </a:rPr>
                        <a:t>68.8%</a:t>
                      </a:r>
                    </a:p>
                  </a:txBody>
                  <a:tcPr marL="73152" marR="73152" marT="27432" marB="27432" anchor="ctr">
                    <a:solidFill>
                      <a:srgbClr val="FFFFFF"/>
                    </a:solidFill>
                  </a:tcPr>
                </a:tc>
                <a:tc>
                  <a:txBody>
                    <a:bodyPr wrap="square"/>
                    <a:lstStyle/>
                    <a:p>
                      <a:pPr algn="ctr"/>
                      <a:r>
                        <a:rPr sz="1050" b="0">
                          <a:solidFill>
                            <a:srgbClr val="0F172A"/>
                          </a:solidFill>
                          <a:latin typeface="Aptos Narrow"/>
                        </a:rPr>
                        <a:t>0.984</a:t>
                      </a:r>
                    </a:p>
                  </a:txBody>
                  <a:tcPr marL="73152" marR="73152" marT="27432" marB="27432" anchor="ctr">
                    <a:solidFill>
                      <a:srgbClr val="FFFFFF"/>
                    </a:solidFill>
                  </a:tcPr>
                </a:tc>
              </a:tr>
              <a:tr h="338328">
                <a:tc>
                  <a:txBody>
                    <a:bodyPr wrap="square"/>
                    <a:lstStyle/>
                    <a:p>
                      <a:pPr algn="l"/>
                      <a:r>
                        <a:rPr sz="1050" b="1">
                          <a:solidFill>
                            <a:srgbClr val="0F172A"/>
                          </a:solidFill>
                          <a:latin typeface="Aptos Narrow"/>
                        </a:rPr>
                        <a:t>Scholarship</a:t>
                      </a:r>
                    </a:p>
                  </a:txBody>
                  <a:tcPr marL="73152" marR="73152" marT="27432" marB="27432" anchor="ctr">
                    <a:solidFill>
                      <a:srgbClr val="FFFFFF"/>
                    </a:solidFill>
                  </a:tcPr>
                </a:tc>
                <a:tc>
                  <a:txBody>
                    <a:bodyPr wrap="square"/>
                    <a:lstStyle/>
                    <a:p>
                      <a:pPr algn="ctr"/>
                      <a:r>
                        <a:rPr sz="1050" b="0">
                          <a:solidFill>
                            <a:srgbClr val="0F172A"/>
                          </a:solidFill>
                          <a:latin typeface="Aptos Narrow"/>
                        </a:rPr>
                        <a:t>231</a:t>
                      </a:r>
                    </a:p>
                  </a:txBody>
                  <a:tcPr marL="73152" marR="73152" marT="27432" marB="27432" anchor="ctr">
                    <a:solidFill>
                      <a:srgbClr val="FFFFFF"/>
                    </a:solidFill>
                  </a:tcPr>
                </a:tc>
                <a:tc>
                  <a:txBody>
                    <a:bodyPr wrap="square"/>
                    <a:lstStyle/>
                    <a:p>
                      <a:pPr algn="ctr"/>
                      <a:r>
                        <a:rPr sz="1050" b="0">
                          <a:solidFill>
                            <a:srgbClr val="0F172A"/>
                          </a:solidFill>
                          <a:latin typeface="Aptos Narrow"/>
                        </a:rPr>
                        <a:t>12.6%</a:t>
                      </a:r>
                    </a:p>
                  </a:txBody>
                  <a:tcPr marL="73152" marR="73152" marT="27432" marB="27432" anchor="ctr">
                    <a:solidFill>
                      <a:srgbClr val="FFFFFF"/>
                    </a:solidFill>
                  </a:tcPr>
                </a:tc>
                <a:tc>
                  <a:txBody>
                    <a:bodyPr wrap="square"/>
                    <a:lstStyle/>
                    <a:p>
                      <a:pPr algn="ctr"/>
                      <a:r>
                        <a:rPr sz="1050" b="0">
                          <a:solidFill>
                            <a:srgbClr val="0F172A"/>
                          </a:solidFill>
                          <a:latin typeface="Aptos Narrow"/>
                        </a:rPr>
                        <a:t>16.5%</a:t>
                      </a:r>
                    </a:p>
                  </a:txBody>
                  <a:tcPr marL="73152" marR="73152" marT="27432" marB="27432" anchor="ctr">
                    <a:solidFill>
                      <a:srgbClr val="FFFFFF"/>
                    </a:solidFill>
                  </a:tcPr>
                </a:tc>
                <a:tc>
                  <a:txBody>
                    <a:bodyPr wrap="square"/>
                    <a:lstStyle/>
                    <a:p>
                      <a:pPr algn="ctr"/>
                      <a:r>
                        <a:rPr sz="1050" b="1">
                          <a:solidFill>
                            <a:srgbClr val="EF4444"/>
                          </a:solidFill>
                          <a:latin typeface="Aptos Narrow"/>
                        </a:rPr>
                        <a:t>0.793</a:t>
                      </a:r>
                    </a:p>
                  </a:txBody>
                  <a:tcPr marL="73152" marR="73152" marT="27432" marB="27432" anchor="ctr">
                    <a:solidFill>
                      <a:srgbClr val="FFFFFF"/>
                    </a:solidFill>
                  </a:tcPr>
                </a:tc>
              </a:tr>
              <a:tr h="338328">
                <a:tc>
                  <a:txBody>
                    <a:bodyPr wrap="square"/>
                    <a:lstStyle/>
                    <a:p>
                      <a:pPr algn="l"/>
                      <a:r>
                        <a:rPr sz="1050" b="1">
                          <a:solidFill>
                            <a:srgbClr val="0F172A"/>
                          </a:solidFill>
                          <a:latin typeface="Aptos Narrow"/>
                        </a:rPr>
                        <a:t>No scholarship</a:t>
                      </a:r>
                    </a:p>
                  </a:txBody>
                  <a:tcPr marL="73152" marR="73152" marT="27432" marB="27432" anchor="ctr">
                    <a:solidFill>
                      <a:srgbClr val="FFFFFF"/>
                    </a:solidFill>
                  </a:tcPr>
                </a:tc>
                <a:tc>
                  <a:txBody>
                    <a:bodyPr wrap="square"/>
                    <a:lstStyle/>
                    <a:p>
                      <a:pPr algn="ctr"/>
                      <a:r>
                        <a:rPr sz="1050" b="0">
                          <a:solidFill>
                            <a:srgbClr val="0F172A"/>
                          </a:solidFill>
                          <a:latin typeface="Aptos Narrow"/>
                        </a:rPr>
                        <a:t>654</a:t>
                      </a:r>
                    </a:p>
                  </a:txBody>
                  <a:tcPr marL="73152" marR="73152" marT="27432" marB="27432" anchor="ctr">
                    <a:solidFill>
                      <a:srgbClr val="FFFFFF"/>
                    </a:solidFill>
                  </a:tcPr>
                </a:tc>
                <a:tc>
                  <a:txBody>
                    <a:bodyPr wrap="square"/>
                    <a:lstStyle/>
                    <a:p>
                      <a:pPr algn="ctr"/>
                      <a:r>
                        <a:rPr sz="1050" b="0">
                          <a:solidFill>
                            <a:srgbClr val="0F172A"/>
                          </a:solidFill>
                          <a:latin typeface="Aptos Narrow"/>
                        </a:rPr>
                        <a:t>39.0%</a:t>
                      </a:r>
                    </a:p>
                  </a:txBody>
                  <a:tcPr marL="73152" marR="73152" marT="27432" marB="27432" anchor="ctr">
                    <a:solidFill>
                      <a:srgbClr val="FFFFFF"/>
                    </a:solidFill>
                  </a:tcPr>
                </a:tc>
                <a:tc>
                  <a:txBody>
                    <a:bodyPr wrap="square"/>
                    <a:lstStyle/>
                    <a:p>
                      <a:pPr algn="ctr"/>
                      <a:r>
                        <a:rPr sz="1050" b="0">
                          <a:solidFill>
                            <a:srgbClr val="0F172A"/>
                          </a:solidFill>
                          <a:latin typeface="Aptos Narrow"/>
                        </a:rPr>
                        <a:t>52.0%</a:t>
                      </a:r>
                    </a:p>
                  </a:txBody>
                  <a:tcPr marL="73152" marR="73152" marT="27432" marB="27432" anchor="ctr">
                    <a:solidFill>
                      <a:srgbClr val="FFFFFF"/>
                    </a:solidFill>
                  </a:tcPr>
                </a:tc>
                <a:tc>
                  <a:txBody>
                    <a:bodyPr wrap="square"/>
                    <a:lstStyle/>
                    <a:p>
                      <a:pPr algn="ctr"/>
                      <a:r>
                        <a:rPr sz="1050" b="0">
                          <a:solidFill>
                            <a:srgbClr val="0F172A"/>
                          </a:solidFill>
                          <a:latin typeface="Aptos Narrow"/>
                        </a:rPr>
                        <a:t>0.925</a:t>
                      </a:r>
                    </a:p>
                  </a:txBody>
                  <a:tcPr marL="73152" marR="73152" marT="27432" marB="27432" anchor="ctr">
                    <a:solidFill>
                      <a:srgbClr val="FFFFFF"/>
                    </a:solidFill>
                  </a:tcPr>
                </a:tc>
              </a:tr>
            </a:tbl>
          </a:graphicData>
        </a:graphic>
      </p:graphicFrame>
      <p:sp>
        <p:nvSpPr>
          <p:cNvPr id="22" name="Rounded Rectangle 21"/>
          <p:cNvSpPr/>
          <p:nvPr/>
        </p:nvSpPr>
        <p:spPr>
          <a:xfrm>
            <a:off x="7726679" y="3886200"/>
            <a:ext cx="3858768" cy="214884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882127" y="3959352"/>
            <a:ext cx="3566160" cy="228600"/>
          </a:xfrm>
          <a:prstGeom prst="rect">
            <a:avLst/>
          </a:prstGeom>
          <a:noFill/>
        </p:spPr>
        <p:txBody>
          <a:bodyPr wrap="square" lIns="0" rIns="0" tIns="0" bIns="0" anchor="t">
            <a:noAutofit/>
          </a:bodyPr>
          <a:lstStyle/>
          <a:p>
            <a:pPr algn="l"/>
            <a:r>
              <a:rPr sz="950" b="1">
                <a:solidFill>
                  <a:srgbClr val="0284C7"/>
                </a:solidFill>
                <a:latin typeface="Aptos Narrow"/>
              </a:rPr>
              <a:t>EXCLUDING GENDER AND MARITAL STATUS</a:t>
            </a:r>
          </a:p>
        </p:txBody>
      </p:sp>
      <p:graphicFrame>
        <p:nvGraphicFramePr>
          <p:cNvPr id="24" name="Table 23"/>
          <p:cNvGraphicFramePr>
            <a:graphicFrameLocks noGrp="1"/>
          </p:cNvGraphicFramePr>
          <p:nvPr/>
        </p:nvGraphicFramePr>
        <p:xfrm>
          <a:off x="7845552" y="4297680"/>
          <a:ext cx="3474720" cy="1152144"/>
        </p:xfrm>
        <a:graphic>
          <a:graphicData uri="http://schemas.openxmlformats.org/drawingml/2006/table">
            <a:tbl>
              <a:tblPr firstRow="0" bandRow="0">
                <a:tableStyleId>{5C22544A-7EE6-4342-B048-85BDC9FD1C3A}</a:tableStyleId>
              </a:tblPr>
              <a:tblGrid>
                <a:gridCol w="1600200"/>
                <a:gridCol w="594360"/>
                <a:gridCol w="548640"/>
                <a:gridCol w="731520"/>
              </a:tblGrid>
              <a:tr h="384048">
                <a:tc>
                  <a:txBody>
                    <a:bodyPr wrap="square"/>
                    <a:lstStyle/>
                    <a:p>
                      <a:pPr algn="l"/>
                      <a:r>
                        <a:rPr sz="950" b="1">
                          <a:solidFill>
                            <a:srgbClr val="FFFFFF"/>
                          </a:solidFill>
                          <a:latin typeface="Aptos Narrow"/>
                        </a:rPr>
                        <a:t>Model</a:t>
                      </a:r>
                    </a:p>
                  </a:txBody>
                  <a:tcPr marL="73152" marR="73152" marT="27432" marB="27432" anchor="ctr">
                    <a:solidFill>
                      <a:srgbClr val="0F172A"/>
                    </a:solidFill>
                  </a:tcPr>
                </a:tc>
                <a:tc>
                  <a:txBody>
                    <a:bodyPr wrap="square"/>
                    <a:lstStyle/>
                    <a:p>
                      <a:pPr algn="ctr"/>
                      <a:r>
                        <a:rPr sz="950" b="1">
                          <a:solidFill>
                            <a:srgbClr val="FFFFFF"/>
                          </a:solidFill>
                          <a:latin typeface="Aptos Narrow"/>
                        </a:rPr>
                        <a:t>Recall</a:t>
                      </a:r>
                    </a:p>
                  </a:txBody>
                  <a:tcPr marL="73152" marR="73152" marT="27432" marB="27432" anchor="ctr">
                    <a:solidFill>
                      <a:srgbClr val="0F172A"/>
                    </a:solidFill>
                  </a:tcPr>
                </a:tc>
                <a:tc>
                  <a:txBody>
                    <a:bodyPr wrap="square"/>
                    <a:lstStyle/>
                    <a:p>
                      <a:pPr algn="ctr"/>
                      <a:r>
                        <a:rPr sz="950" b="1">
                          <a:solidFill>
                            <a:srgbClr val="FFFFFF"/>
                          </a:solidFill>
                          <a:latin typeface="Aptos Narrow"/>
                        </a:rPr>
                        <a:t>AUC</a:t>
                      </a:r>
                    </a:p>
                  </a:txBody>
                  <a:tcPr marL="73152" marR="73152" marT="27432" marB="27432" anchor="ctr">
                    <a:solidFill>
                      <a:srgbClr val="0F172A"/>
                    </a:solidFill>
                  </a:tcPr>
                </a:tc>
                <a:tc>
                  <a:txBody>
                    <a:bodyPr wrap="square"/>
                    <a:lstStyle/>
                    <a:p>
                      <a:pPr algn="ctr"/>
                      <a:r>
                        <a:rPr sz="950" b="1">
                          <a:solidFill>
                            <a:srgbClr val="FFFFFF"/>
                          </a:solidFill>
                          <a:latin typeface="Aptos Narrow"/>
                        </a:rPr>
                        <a:t>Gender gap</a:t>
                      </a:r>
                    </a:p>
                  </a:txBody>
                  <a:tcPr marL="73152" marR="73152" marT="27432" marB="27432" anchor="ctr">
                    <a:solidFill>
                      <a:srgbClr val="0F172A"/>
                    </a:solidFill>
                  </a:tcPr>
                </a:tc>
              </a:tr>
              <a:tr h="384048">
                <a:tc>
                  <a:txBody>
                    <a:bodyPr wrap="square"/>
                    <a:lstStyle/>
                    <a:p>
                      <a:pPr algn="l"/>
                      <a:r>
                        <a:rPr sz="950" b="1">
                          <a:solidFill>
                            <a:srgbClr val="0F172A"/>
                          </a:solidFill>
                          <a:latin typeface="Aptos Narrow"/>
                        </a:rPr>
                        <a:t>Excluded (deployed)</a:t>
                      </a:r>
                    </a:p>
                  </a:txBody>
                  <a:tcPr marL="73152" marR="73152" marT="27432" marB="27432" anchor="ctr">
                    <a:solidFill>
                      <a:srgbClr val="FFFFFF"/>
                    </a:solidFill>
                  </a:tcPr>
                </a:tc>
                <a:tc>
                  <a:txBody>
                    <a:bodyPr wrap="square"/>
                    <a:lstStyle/>
                    <a:p>
                      <a:pPr algn="ctr"/>
                      <a:r>
                        <a:rPr sz="950" b="0">
                          <a:solidFill>
                            <a:srgbClr val="0F172A"/>
                          </a:solidFill>
                          <a:latin typeface="Aptos Narrow"/>
                        </a:rPr>
                        <a:t>0.912</a:t>
                      </a:r>
                    </a:p>
                  </a:txBody>
                  <a:tcPr marL="73152" marR="73152" marT="27432" marB="27432" anchor="ctr">
                    <a:solidFill>
                      <a:srgbClr val="FFFFFF"/>
                    </a:solidFill>
                  </a:tcPr>
                </a:tc>
                <a:tc>
                  <a:txBody>
                    <a:bodyPr wrap="square"/>
                    <a:lstStyle/>
                    <a:p>
                      <a:pPr algn="ctr"/>
                      <a:r>
                        <a:rPr sz="950" b="0">
                          <a:solidFill>
                            <a:srgbClr val="0F172A"/>
                          </a:solidFill>
                          <a:latin typeface="Aptos Narrow"/>
                        </a:rPr>
                        <a:t>0.937</a:t>
                      </a:r>
                    </a:p>
                  </a:txBody>
                  <a:tcPr marL="73152" marR="73152" marT="27432" marB="27432" anchor="ctr">
                    <a:solidFill>
                      <a:srgbClr val="FFFFFF"/>
                    </a:solidFill>
                  </a:tcPr>
                </a:tc>
                <a:tc>
                  <a:txBody>
                    <a:bodyPr wrap="square"/>
                    <a:lstStyle/>
                    <a:p>
                      <a:pPr algn="ctr"/>
                      <a:r>
                        <a:rPr sz="950" b="0">
                          <a:solidFill>
                            <a:srgbClr val="0F172A"/>
                          </a:solidFill>
                          <a:latin typeface="Aptos Narrow"/>
                        </a:rPr>
                        <a:t>0.012</a:t>
                      </a:r>
                    </a:p>
                  </a:txBody>
                  <a:tcPr marL="73152" marR="73152" marT="27432" marB="27432" anchor="ctr">
                    <a:solidFill>
                      <a:srgbClr val="FFFFFF"/>
                    </a:solidFill>
                  </a:tcPr>
                </a:tc>
              </a:tr>
              <a:tr h="384048">
                <a:tc>
                  <a:txBody>
                    <a:bodyPr wrap="square"/>
                    <a:lstStyle/>
                    <a:p>
                      <a:pPr algn="l"/>
                      <a:r>
                        <a:rPr sz="950" b="1">
                          <a:solidFill>
                            <a:srgbClr val="0F172A"/>
                          </a:solidFill>
                          <a:latin typeface="Aptos Narrow"/>
                        </a:rPr>
                        <a:t>Included (what-if)</a:t>
                      </a:r>
                    </a:p>
                  </a:txBody>
                  <a:tcPr marL="73152" marR="73152" marT="27432" marB="27432" anchor="ctr">
                    <a:solidFill>
                      <a:srgbClr val="FFFFFF"/>
                    </a:solidFill>
                  </a:tcPr>
                </a:tc>
                <a:tc>
                  <a:txBody>
                    <a:bodyPr wrap="square"/>
                    <a:lstStyle/>
                    <a:p>
                      <a:pPr algn="ctr"/>
                      <a:r>
                        <a:rPr sz="950" b="0">
                          <a:solidFill>
                            <a:srgbClr val="0F172A"/>
                          </a:solidFill>
                          <a:latin typeface="Aptos Narrow"/>
                        </a:rPr>
                        <a:t>0.905</a:t>
                      </a:r>
                    </a:p>
                  </a:txBody>
                  <a:tcPr marL="73152" marR="73152" marT="27432" marB="27432" anchor="ctr">
                    <a:solidFill>
                      <a:srgbClr val="FFFFFF"/>
                    </a:solidFill>
                  </a:tcPr>
                </a:tc>
                <a:tc>
                  <a:txBody>
                    <a:bodyPr wrap="square"/>
                    <a:lstStyle/>
                    <a:p>
                      <a:pPr algn="ctr"/>
                      <a:r>
                        <a:rPr sz="950" b="0">
                          <a:solidFill>
                            <a:srgbClr val="0F172A"/>
                          </a:solidFill>
                          <a:latin typeface="Aptos Narrow"/>
                        </a:rPr>
                        <a:t>0.937</a:t>
                      </a:r>
                    </a:p>
                  </a:txBody>
                  <a:tcPr marL="73152" marR="73152" marT="27432" marB="27432" anchor="ctr">
                    <a:solidFill>
                      <a:srgbClr val="FFFFFF"/>
                    </a:solidFill>
                  </a:tcPr>
                </a:tc>
                <a:tc>
                  <a:txBody>
                    <a:bodyPr wrap="square"/>
                    <a:lstStyle/>
                    <a:p>
                      <a:pPr algn="ctr"/>
                      <a:r>
                        <a:rPr sz="950" b="0">
                          <a:solidFill>
                            <a:srgbClr val="0F172A"/>
                          </a:solidFill>
                          <a:latin typeface="Aptos Narrow"/>
                        </a:rPr>
                        <a:t>0.041</a:t>
                      </a:r>
                    </a:p>
                  </a:txBody>
                  <a:tcPr marL="73152" marR="73152" marT="27432" marB="27432" anchor="ctr">
                    <a:solidFill>
                      <a:srgbClr val="FFFFFF"/>
                    </a:solidFill>
                  </a:tcPr>
                </a:tc>
              </a:tr>
            </a:tbl>
          </a:graphicData>
        </a:graphic>
      </p:graphicFrame>
      <p:sp>
        <p:nvSpPr>
          <p:cNvPr id="25" name="TextBox 24"/>
          <p:cNvSpPr txBox="1"/>
          <p:nvPr/>
        </p:nvSpPr>
        <p:spPr>
          <a:xfrm>
            <a:off x="7882127" y="5532120"/>
            <a:ext cx="3566160" cy="457200"/>
          </a:xfrm>
          <a:prstGeom prst="rect">
            <a:avLst/>
          </a:prstGeom>
          <a:noFill/>
        </p:spPr>
        <p:txBody>
          <a:bodyPr wrap="square" lIns="0" rIns="0" tIns="0" bIns="0" anchor="t">
            <a:noAutofit/>
          </a:bodyPr>
          <a:lstStyle/>
          <a:p>
            <a:pPr algn="l"/>
            <a:r>
              <a:rPr sz="950" b="0">
                <a:solidFill>
                  <a:srgbClr val="475569"/>
                </a:solidFill>
                <a:latin typeface="Aptos Narrow"/>
              </a:rPr>
              <a:t>Same AUC, smaller gender gap without them; other features can still act as proxies.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22">
            <a:extLst>
              <a:ext uri="{FF2B5EF4-FFF2-40B4-BE49-F238E27FC236}">
                <a16:creationId xmlns:a16="http://schemas.microsoft.com/office/drawing/2014/main" id="{C15D044C-2CAF-C5AC-DF18-5C46D625561A}"/>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24" name="Slide Number Placeholder 23">
            <a:extLst>
              <a:ext uri="{FF2B5EF4-FFF2-40B4-BE49-F238E27FC236}">
                <a16:creationId xmlns:a16="http://schemas.microsoft.com/office/drawing/2014/main" id="{229B76BD-36DA-CF78-E351-CAA46EDA0456}"/>
              </a:ext>
            </a:extLst>
          </p:cNvPr>
          <p:cNvSpPr>
            <a:spLocks noGrp="1"/>
          </p:cNvSpPr>
          <p:nvPr>
            <p:ph type="sldNum" sz="quarter" idx="11"/>
          </p:nvPr>
        </p:nvSpPr>
        <p:spPr/>
        <p:txBody>
          <a:bodyPr/>
          <a:lstStyle/>
          <a:p>
            <a:fld id="{B67B645E-C5E5-4727-B977-D372A0AA71D9}" type="slidenum">
              <a:rPr lang="en-US" smtClean="0"/>
              <a:pPr/>
              <a:t>12</a:t>
            </a:fld>
            <a:endParaRPr lang="en-US" dirty="0"/>
          </a:p>
        </p:txBody>
      </p:sp>
      <p:sp>
        <p:nvSpPr>
          <p:cNvPr id="25" name="TextBox 24"/>
          <p:cNvSpPr txBox="1"/>
          <p:nvPr/>
        </p:nvSpPr>
        <p:spPr>
          <a:xfrm>
            <a:off x="612648" y="457200"/>
            <a:ext cx="7315200" cy="182880"/>
          </a:xfrm>
          <a:prstGeom prst="rect">
            <a:avLst/>
          </a:prstGeom>
          <a:noFill/>
        </p:spPr>
        <p:txBody>
          <a:bodyPr wrap="square" lIns="0" rIns="0" tIns="0" bIns="0" anchor="t">
            <a:noAutofit/>
          </a:bodyPr>
          <a:lstStyle/>
          <a:p>
            <a:pPr algn="l"/>
            <a:r>
              <a:rPr sz="1000" b="1">
                <a:solidFill>
                  <a:srgbClr val="0284C7"/>
                </a:solidFill>
                <a:latin typeface="Aptos Narrow"/>
              </a:rPr>
              <a:t>STEP 5D: BIAS MITIGATION</a:t>
            </a:r>
          </a:p>
        </p:txBody>
      </p:sp>
      <p:sp>
        <p:nvSpPr>
          <p:cNvPr id="26" name="TextBox 25"/>
          <p:cNvSpPr txBox="1"/>
          <p:nvPr/>
        </p:nvSpPr>
        <p:spPr>
          <a:xfrm>
            <a:off x="612648" y="667512"/>
            <a:ext cx="10972800" cy="457200"/>
          </a:xfrm>
          <a:prstGeom prst="rect">
            <a:avLst/>
          </a:prstGeom>
          <a:noFill/>
        </p:spPr>
        <p:txBody>
          <a:bodyPr wrap="square" lIns="0" rIns="0" tIns="0" bIns="0" anchor="t">
            <a:noAutofit/>
          </a:bodyPr>
          <a:lstStyle/>
          <a:p>
            <a:pPr algn="l"/>
            <a:r>
              <a:rPr sz="2400" b="1">
                <a:solidFill>
                  <a:srgbClr val="0F172A"/>
                </a:solidFill>
                <a:latin typeface="Aptos Narrow"/>
              </a:rPr>
              <a:t>Can the Age-Group Gap Be Reduced? Two Methods, Evaluated</a:t>
            </a:r>
          </a:p>
        </p:txBody>
      </p:sp>
      <p:graphicFrame>
        <p:nvGraphicFramePr>
          <p:cNvPr id="27" name="Table 26"/>
          <p:cNvGraphicFramePr>
            <a:graphicFrameLocks noGrp="1"/>
          </p:cNvGraphicFramePr>
          <p:nvPr/>
        </p:nvGraphicFramePr>
        <p:xfrm>
          <a:off x="612648" y="1508760"/>
          <a:ext cx="7269480" cy="1828800"/>
        </p:xfrm>
        <a:graphic>
          <a:graphicData uri="http://schemas.openxmlformats.org/drawingml/2006/table">
            <a:tbl>
              <a:tblPr firstRow="0" bandRow="0">
                <a:tableStyleId>{5C22544A-7EE6-4342-B048-85BDC9FD1C3A}</a:tableStyleId>
              </a:tblPr>
              <a:tblGrid>
                <a:gridCol w="2103120"/>
                <a:gridCol w="640080"/>
                <a:gridCol w="868680"/>
                <a:gridCol w="685800"/>
                <a:gridCol w="594360"/>
                <a:gridCol w="777240"/>
                <a:gridCol w="868680"/>
                <a:gridCol w="731520"/>
              </a:tblGrid>
              <a:tr h="457200">
                <a:tc>
                  <a:txBody>
                    <a:bodyPr wrap="square"/>
                    <a:lstStyle/>
                    <a:p>
                      <a:pPr algn="l"/>
                      <a:r>
                        <a:rPr sz="950" b="1">
                          <a:solidFill>
                            <a:srgbClr val="FFFFFF"/>
                          </a:solidFill>
                          <a:latin typeface="Aptos Narrow"/>
                        </a:rPr>
                        <a:t>Variant</a:t>
                      </a:r>
                    </a:p>
                  </a:txBody>
                  <a:tcPr marL="73152" marR="73152" marT="27432" marB="27432" anchor="ctr">
                    <a:solidFill>
                      <a:srgbClr val="0F172A"/>
                    </a:solidFill>
                  </a:tcPr>
                </a:tc>
                <a:tc>
                  <a:txBody>
                    <a:bodyPr wrap="square"/>
                    <a:lstStyle/>
                    <a:p>
                      <a:pPr algn="ctr"/>
                      <a:r>
                        <a:rPr sz="950" b="1">
                          <a:solidFill>
                            <a:srgbClr val="FFFFFF"/>
                          </a:solidFill>
                          <a:latin typeface="Aptos Narrow"/>
                        </a:rPr>
                        <a:t>Recall</a:t>
                      </a:r>
                    </a:p>
                  </a:txBody>
                  <a:tcPr marL="73152" marR="73152" marT="27432" marB="27432" anchor="ctr">
                    <a:solidFill>
                      <a:srgbClr val="0F172A"/>
                    </a:solidFill>
                  </a:tcPr>
                </a:tc>
                <a:tc>
                  <a:txBody>
                    <a:bodyPr wrap="square"/>
                    <a:lstStyle/>
                    <a:p>
                      <a:pPr algn="ctr"/>
                      <a:r>
                        <a:rPr sz="950" b="1">
                          <a:solidFill>
                            <a:srgbClr val="FFFFFF"/>
                          </a:solidFill>
                          <a:latin typeface="Aptos Narrow"/>
                        </a:rPr>
                        <a:t>Precision</a:t>
                      </a:r>
                    </a:p>
                  </a:txBody>
                  <a:tcPr marL="73152" marR="73152" marT="27432" marB="27432" anchor="ctr">
                    <a:solidFill>
                      <a:srgbClr val="0F172A"/>
                    </a:solidFill>
                  </a:tcPr>
                </a:tc>
                <a:tc>
                  <a:txBody>
                    <a:bodyPr wrap="square"/>
                    <a:lstStyle/>
                    <a:p>
                      <a:pPr algn="ctr"/>
                      <a:r>
                        <a:rPr sz="950" b="1">
                          <a:solidFill>
                            <a:srgbClr val="FFFFFF"/>
                          </a:solidFill>
                          <a:latin typeface="Aptos Narrow"/>
                        </a:rPr>
                        <a:t>F2</a:t>
                      </a:r>
                    </a:p>
                  </a:txBody>
                  <a:tcPr marL="73152" marR="73152" marT="27432" marB="27432" anchor="ctr">
                    <a:solidFill>
                      <a:srgbClr val="0F172A"/>
                    </a:solidFill>
                  </a:tcPr>
                </a:tc>
                <a:tc>
                  <a:txBody>
                    <a:bodyPr wrap="square"/>
                    <a:lstStyle/>
                    <a:p>
                      <a:pPr algn="ctr"/>
                      <a:r>
                        <a:rPr sz="950" b="1">
                          <a:solidFill>
                            <a:srgbClr val="FFFFFF"/>
                          </a:solidFill>
                          <a:latin typeface="Aptos Narrow"/>
                        </a:rPr>
                        <a:t>AUC</a:t>
                      </a:r>
                    </a:p>
                  </a:txBody>
                  <a:tcPr marL="73152" marR="73152" marT="27432" marB="27432" anchor="ctr">
                    <a:solidFill>
                      <a:srgbClr val="0F172A"/>
                    </a:solidFill>
                  </a:tcPr>
                </a:tc>
                <a:tc>
                  <a:txBody>
                    <a:bodyPr wrap="square"/>
                    <a:lstStyle/>
                    <a:p>
                      <a:pPr algn="ctr"/>
                      <a:r>
                        <a:rPr sz="950" b="1">
                          <a:solidFill>
                            <a:srgbClr val="FFFFFF"/>
                          </a:solidFill>
                          <a:latin typeface="Aptos Narrow"/>
                        </a:rPr>
                        <a:t>Flag ratio</a:t>
                      </a:r>
                    </a:p>
                  </a:txBody>
                  <a:tcPr marL="73152" marR="73152" marT="27432" marB="27432" anchor="ctr">
                    <a:solidFill>
                      <a:srgbClr val="0F172A"/>
                    </a:solidFill>
                  </a:tcPr>
                </a:tc>
                <a:tc>
                  <a:txBody>
                    <a:bodyPr wrap="square"/>
                    <a:lstStyle/>
                    <a:p>
                      <a:pPr algn="ctr"/>
                      <a:r>
                        <a:rPr sz="950" b="1">
                          <a:solidFill>
                            <a:srgbClr val="FFFFFF"/>
                          </a:solidFill>
                          <a:latin typeface="Aptos Narrow"/>
                        </a:rPr>
                        <a:t>Recall gap</a:t>
                      </a:r>
                    </a:p>
                  </a:txBody>
                  <a:tcPr marL="73152" marR="73152" marT="27432" marB="27432" anchor="ctr">
                    <a:solidFill>
                      <a:srgbClr val="0F172A"/>
                    </a:solidFill>
                  </a:tcPr>
                </a:tc>
                <a:tc>
                  <a:txBody>
                    <a:bodyPr wrap="square"/>
                    <a:lstStyle/>
                    <a:p>
                      <a:pPr algn="ctr"/>
                      <a:r>
                        <a:rPr sz="950" b="1">
                          <a:solidFill>
                            <a:srgbClr val="FFFFFF"/>
                          </a:solidFill>
                          <a:latin typeface="Aptos Narrow"/>
                        </a:rPr>
                        <a:t>FPR gap</a:t>
                      </a:r>
                    </a:p>
                  </a:txBody>
                  <a:tcPr marL="73152" marR="73152" marT="27432" marB="27432" anchor="ctr">
                    <a:solidFill>
                      <a:srgbClr val="0F172A"/>
                    </a:solidFill>
                  </a:tcPr>
                </a:tc>
              </a:tr>
              <a:tr h="457200">
                <a:tc>
                  <a:txBody>
                    <a:bodyPr wrap="square"/>
                    <a:lstStyle/>
                    <a:p>
                      <a:pPr algn="l"/>
                      <a:r>
                        <a:rPr sz="1050" b="1">
                          <a:solidFill>
                            <a:srgbClr val="0F172A"/>
                          </a:solidFill>
                          <a:latin typeface="Aptos Narrow"/>
                        </a:rPr>
                        <a:t>Baseline (selected model)</a:t>
                      </a:r>
                    </a:p>
                  </a:txBody>
                  <a:tcPr marL="73152" marR="73152" marT="27432" marB="27432" anchor="ctr">
                    <a:solidFill>
                      <a:srgbClr val="FFFFFF"/>
                    </a:solidFill>
                  </a:tcPr>
                </a:tc>
                <a:tc>
                  <a:txBody>
                    <a:bodyPr wrap="square"/>
                    <a:lstStyle/>
                    <a:p>
                      <a:pPr algn="ctr"/>
                      <a:r>
                        <a:rPr sz="1050" b="0">
                          <a:solidFill>
                            <a:srgbClr val="0F172A"/>
                          </a:solidFill>
                          <a:latin typeface="Aptos Narrow"/>
                        </a:rPr>
                        <a:t>0.912</a:t>
                      </a:r>
                    </a:p>
                  </a:txBody>
                  <a:tcPr marL="73152" marR="73152" marT="27432" marB="27432" anchor="ctr">
                    <a:solidFill>
                      <a:srgbClr val="FFFFFF"/>
                    </a:solidFill>
                  </a:tcPr>
                </a:tc>
                <a:tc>
                  <a:txBody>
                    <a:bodyPr wrap="square"/>
                    <a:lstStyle/>
                    <a:p>
                      <a:pPr algn="ctr"/>
                      <a:r>
                        <a:rPr sz="1050" b="0">
                          <a:solidFill>
                            <a:srgbClr val="0F172A"/>
                          </a:solidFill>
                          <a:latin typeface="Aptos Narrow"/>
                        </a:rPr>
                        <a:t>0.685</a:t>
                      </a:r>
                    </a:p>
                  </a:txBody>
                  <a:tcPr marL="73152" marR="73152" marT="27432" marB="27432" anchor="ctr">
                    <a:solidFill>
                      <a:srgbClr val="FFFFFF"/>
                    </a:solidFill>
                  </a:tcPr>
                </a:tc>
                <a:tc>
                  <a:txBody>
                    <a:bodyPr wrap="square"/>
                    <a:lstStyle/>
                    <a:p>
                      <a:pPr algn="ctr"/>
                      <a:r>
                        <a:rPr sz="1050" b="0">
                          <a:solidFill>
                            <a:srgbClr val="0F172A"/>
                          </a:solidFill>
                          <a:latin typeface="Aptos Narrow"/>
                        </a:rPr>
                        <a:t>0.855</a:t>
                      </a:r>
                    </a:p>
                  </a:txBody>
                  <a:tcPr marL="73152" marR="73152" marT="27432" marB="27432" anchor="ctr">
                    <a:solidFill>
                      <a:srgbClr val="FFFFFF"/>
                    </a:solidFill>
                  </a:tcPr>
                </a:tc>
                <a:tc>
                  <a:txBody>
                    <a:bodyPr wrap="square"/>
                    <a:lstStyle/>
                    <a:p>
                      <a:pPr algn="ctr"/>
                      <a:r>
                        <a:rPr sz="1050" b="0">
                          <a:solidFill>
                            <a:srgbClr val="0F172A"/>
                          </a:solidFill>
                          <a:latin typeface="Aptos Narrow"/>
                        </a:rPr>
                        <a:t>0.937</a:t>
                      </a:r>
                    </a:p>
                  </a:txBody>
                  <a:tcPr marL="73152" marR="73152" marT="27432" marB="27432" anchor="ctr">
                    <a:solidFill>
                      <a:srgbClr val="FFFFFF"/>
                    </a:solidFill>
                  </a:tcPr>
                </a:tc>
                <a:tc>
                  <a:txBody>
                    <a:bodyPr wrap="square"/>
                    <a:lstStyle/>
                    <a:p>
                      <a:pPr algn="ctr"/>
                      <a:r>
                        <a:rPr sz="1050" b="0">
                          <a:solidFill>
                            <a:srgbClr val="0F172A"/>
                          </a:solidFill>
                          <a:latin typeface="Aptos Narrow"/>
                        </a:rPr>
                        <a:t>0.419</a:t>
                      </a:r>
                    </a:p>
                  </a:txBody>
                  <a:tcPr marL="73152" marR="73152" marT="27432" marB="27432" anchor="ctr">
                    <a:solidFill>
                      <a:srgbClr val="FFFFFF"/>
                    </a:solidFill>
                  </a:tcPr>
                </a:tc>
                <a:tc>
                  <a:txBody>
                    <a:bodyPr wrap="square"/>
                    <a:lstStyle/>
                    <a:p>
                      <a:pPr algn="ctr"/>
                      <a:r>
                        <a:rPr sz="1050" b="0">
                          <a:solidFill>
                            <a:srgbClr val="0F172A"/>
                          </a:solidFill>
                          <a:latin typeface="Aptos Narrow"/>
                        </a:rPr>
                        <a:t>0.180</a:t>
                      </a:r>
                    </a:p>
                  </a:txBody>
                  <a:tcPr marL="73152" marR="73152" marT="27432" marB="27432" anchor="ctr">
                    <a:solidFill>
                      <a:srgbClr val="FFFFFF"/>
                    </a:solidFill>
                  </a:tcPr>
                </a:tc>
                <a:tc>
                  <a:txBody>
                    <a:bodyPr wrap="square"/>
                    <a:lstStyle/>
                    <a:p>
                      <a:pPr algn="ctr"/>
                      <a:r>
                        <a:rPr sz="1050" b="0">
                          <a:solidFill>
                            <a:srgbClr val="0F172A"/>
                          </a:solidFill>
                          <a:latin typeface="Aptos Narrow"/>
                        </a:rPr>
                        <a:t>0.127</a:t>
                      </a:r>
                    </a:p>
                  </a:txBody>
                  <a:tcPr marL="73152" marR="73152" marT="27432" marB="27432" anchor="ctr">
                    <a:solidFill>
                      <a:srgbClr val="FFFFFF"/>
                    </a:solidFill>
                  </a:tcPr>
                </a:tc>
              </a:tr>
              <a:tr h="457200">
                <a:tc>
                  <a:txBody>
                    <a:bodyPr wrap="square"/>
                    <a:lstStyle/>
                    <a:p>
                      <a:pPr algn="l"/>
                      <a:r>
                        <a:rPr sz="1050" b="1">
                          <a:solidFill>
                            <a:srgbClr val="0F172A"/>
                          </a:solidFill>
                          <a:latin typeface="Aptos Narrow"/>
                        </a:rPr>
                        <a:t>Reweighing (in-processing)</a:t>
                      </a:r>
                    </a:p>
                  </a:txBody>
                  <a:tcPr marL="73152" marR="73152" marT="27432" marB="27432" anchor="ctr">
                    <a:solidFill>
                      <a:srgbClr val="FFFFFF"/>
                    </a:solidFill>
                  </a:tcPr>
                </a:tc>
                <a:tc>
                  <a:txBody>
                    <a:bodyPr wrap="square"/>
                    <a:lstStyle/>
                    <a:p>
                      <a:pPr algn="ctr"/>
                      <a:r>
                        <a:rPr sz="1050" b="0">
                          <a:solidFill>
                            <a:srgbClr val="0F172A"/>
                          </a:solidFill>
                          <a:latin typeface="Aptos Narrow"/>
                        </a:rPr>
                        <a:t>0.901</a:t>
                      </a:r>
                    </a:p>
                  </a:txBody>
                  <a:tcPr marL="73152" marR="73152" marT="27432" marB="27432" anchor="ctr">
                    <a:solidFill>
                      <a:srgbClr val="FFFFFF"/>
                    </a:solidFill>
                  </a:tcPr>
                </a:tc>
                <a:tc>
                  <a:txBody>
                    <a:bodyPr wrap="square"/>
                    <a:lstStyle/>
                    <a:p>
                      <a:pPr algn="ctr"/>
                      <a:r>
                        <a:rPr sz="1050" b="0">
                          <a:solidFill>
                            <a:srgbClr val="0F172A"/>
                          </a:solidFill>
                          <a:latin typeface="Aptos Narrow"/>
                        </a:rPr>
                        <a:t>0.642</a:t>
                      </a:r>
                    </a:p>
                  </a:txBody>
                  <a:tcPr marL="73152" marR="73152" marT="27432" marB="27432" anchor="ctr">
                    <a:solidFill>
                      <a:srgbClr val="FFFFFF"/>
                    </a:solidFill>
                  </a:tcPr>
                </a:tc>
                <a:tc>
                  <a:txBody>
                    <a:bodyPr wrap="square"/>
                    <a:lstStyle/>
                    <a:p>
                      <a:pPr algn="ctr"/>
                      <a:r>
                        <a:rPr sz="1050" b="0">
                          <a:solidFill>
                            <a:srgbClr val="0F172A"/>
                          </a:solidFill>
                          <a:latin typeface="Aptos Narrow"/>
                        </a:rPr>
                        <a:t>0.834</a:t>
                      </a:r>
                    </a:p>
                  </a:txBody>
                  <a:tcPr marL="73152" marR="73152" marT="27432" marB="27432" anchor="ctr">
                    <a:solidFill>
                      <a:srgbClr val="FFFFFF"/>
                    </a:solidFill>
                  </a:tcPr>
                </a:tc>
                <a:tc>
                  <a:txBody>
                    <a:bodyPr wrap="square"/>
                    <a:lstStyle/>
                    <a:p>
                      <a:pPr algn="ctr"/>
                      <a:r>
                        <a:rPr sz="1050" b="0">
                          <a:solidFill>
                            <a:srgbClr val="0F172A"/>
                          </a:solidFill>
                          <a:latin typeface="Aptos Narrow"/>
                        </a:rPr>
                        <a:t>0.935</a:t>
                      </a:r>
                    </a:p>
                  </a:txBody>
                  <a:tcPr marL="73152" marR="73152" marT="27432" marB="27432" anchor="ctr">
                    <a:solidFill>
                      <a:srgbClr val="FFFFFF"/>
                    </a:solidFill>
                  </a:tcPr>
                </a:tc>
                <a:tc>
                  <a:txBody>
                    <a:bodyPr wrap="square"/>
                    <a:lstStyle/>
                    <a:p>
                      <a:pPr algn="ctr"/>
                      <a:r>
                        <a:rPr sz="1050" b="0">
                          <a:solidFill>
                            <a:srgbClr val="0F172A"/>
                          </a:solidFill>
                          <a:latin typeface="Aptos Narrow"/>
                        </a:rPr>
                        <a:t>0.552</a:t>
                      </a:r>
                    </a:p>
                  </a:txBody>
                  <a:tcPr marL="73152" marR="73152" marT="27432" marB="27432" anchor="ctr">
                    <a:solidFill>
                      <a:srgbClr val="FFFFFF"/>
                    </a:solidFill>
                  </a:tcPr>
                </a:tc>
                <a:tc>
                  <a:txBody>
                    <a:bodyPr wrap="square"/>
                    <a:lstStyle/>
                    <a:p>
                      <a:pPr algn="ctr"/>
                      <a:r>
                        <a:rPr sz="1050" b="0">
                          <a:solidFill>
                            <a:srgbClr val="0F172A"/>
                          </a:solidFill>
                          <a:latin typeface="Aptos Narrow"/>
                        </a:rPr>
                        <a:t>0.139</a:t>
                      </a:r>
                    </a:p>
                  </a:txBody>
                  <a:tcPr marL="73152" marR="73152" marT="27432" marB="27432" anchor="ctr">
                    <a:solidFill>
                      <a:srgbClr val="FFFFFF"/>
                    </a:solidFill>
                  </a:tcPr>
                </a:tc>
                <a:tc>
                  <a:txBody>
                    <a:bodyPr wrap="square"/>
                    <a:lstStyle/>
                    <a:p>
                      <a:pPr algn="ctr"/>
                      <a:r>
                        <a:rPr sz="1050" b="0">
                          <a:solidFill>
                            <a:srgbClr val="0F172A"/>
                          </a:solidFill>
                          <a:latin typeface="Aptos Narrow"/>
                        </a:rPr>
                        <a:t>0.127</a:t>
                      </a:r>
                    </a:p>
                  </a:txBody>
                  <a:tcPr marL="73152" marR="73152" marT="27432" marB="27432" anchor="ctr">
                    <a:solidFill>
                      <a:srgbClr val="FFFFFF"/>
                    </a:solidFill>
                  </a:tcPr>
                </a:tc>
              </a:tr>
              <a:tr h="457200">
                <a:tc>
                  <a:txBody>
                    <a:bodyPr wrap="square"/>
                    <a:lstStyle/>
                    <a:p>
                      <a:pPr algn="l"/>
                      <a:r>
                        <a:rPr sz="1050" b="1">
                          <a:solidFill>
                            <a:srgbClr val="0284C7"/>
                          </a:solidFill>
                          <a:latin typeface="Aptos Narrow"/>
                        </a:rPr>
                        <a:t>Group thresholds (adopted)</a:t>
                      </a:r>
                    </a:p>
                  </a:txBody>
                  <a:tcPr marL="73152" marR="73152" marT="27432" marB="27432" anchor="ctr">
                    <a:solidFill>
                      <a:srgbClr val="E0F2FE"/>
                    </a:solidFill>
                  </a:tcPr>
                </a:tc>
                <a:tc>
                  <a:txBody>
                    <a:bodyPr wrap="square"/>
                    <a:lstStyle/>
                    <a:p>
                      <a:pPr algn="ctr"/>
                      <a:r>
                        <a:rPr sz="1050" b="1">
                          <a:solidFill>
                            <a:srgbClr val="0284C7"/>
                          </a:solidFill>
                          <a:latin typeface="Aptos Narrow"/>
                        </a:rPr>
                        <a:t>0.898</a:t>
                      </a:r>
                    </a:p>
                  </a:txBody>
                  <a:tcPr marL="73152" marR="73152" marT="27432" marB="27432" anchor="ctr">
                    <a:solidFill>
                      <a:srgbClr val="E0F2FE"/>
                    </a:solidFill>
                  </a:tcPr>
                </a:tc>
                <a:tc>
                  <a:txBody>
                    <a:bodyPr wrap="square"/>
                    <a:lstStyle/>
                    <a:p>
                      <a:pPr algn="ctr"/>
                      <a:r>
                        <a:rPr sz="1050" b="1">
                          <a:solidFill>
                            <a:srgbClr val="0284C7"/>
                          </a:solidFill>
                          <a:latin typeface="Aptos Narrow"/>
                        </a:rPr>
                        <a:t>0.614</a:t>
                      </a:r>
                    </a:p>
                  </a:txBody>
                  <a:tcPr marL="73152" marR="73152" marT="27432" marB="27432" anchor="ctr">
                    <a:solidFill>
                      <a:srgbClr val="E0F2FE"/>
                    </a:solidFill>
                  </a:tcPr>
                </a:tc>
                <a:tc>
                  <a:txBody>
                    <a:bodyPr wrap="square"/>
                    <a:lstStyle/>
                    <a:p>
                      <a:pPr algn="ctr"/>
                      <a:r>
                        <a:rPr sz="1050" b="1">
                          <a:solidFill>
                            <a:srgbClr val="0284C7"/>
                          </a:solidFill>
                          <a:latin typeface="Aptos Narrow"/>
                        </a:rPr>
                        <a:t>0.822</a:t>
                      </a:r>
                    </a:p>
                  </a:txBody>
                  <a:tcPr marL="73152" marR="73152" marT="27432" marB="27432" anchor="ctr">
                    <a:solidFill>
                      <a:srgbClr val="E0F2FE"/>
                    </a:solidFill>
                  </a:tcPr>
                </a:tc>
                <a:tc>
                  <a:txBody>
                    <a:bodyPr wrap="square"/>
                    <a:lstStyle/>
                    <a:p>
                      <a:pPr algn="ctr"/>
                      <a:r>
                        <a:rPr sz="1050" b="1">
                          <a:solidFill>
                            <a:srgbClr val="0284C7"/>
                          </a:solidFill>
                          <a:latin typeface="Aptos Narrow"/>
                        </a:rPr>
                        <a:t>0.937</a:t>
                      </a:r>
                    </a:p>
                  </a:txBody>
                  <a:tcPr marL="73152" marR="73152" marT="27432" marB="27432" anchor="ctr">
                    <a:solidFill>
                      <a:srgbClr val="E0F2FE"/>
                    </a:solidFill>
                  </a:tcPr>
                </a:tc>
                <a:tc>
                  <a:txBody>
                    <a:bodyPr wrap="square"/>
                    <a:lstStyle/>
                    <a:p>
                      <a:pPr algn="ctr"/>
                      <a:r>
                        <a:rPr sz="1050" b="1">
                          <a:solidFill>
                            <a:srgbClr val="0284C7"/>
                          </a:solidFill>
                          <a:latin typeface="Aptos Narrow"/>
                        </a:rPr>
                        <a:t>0.741</a:t>
                      </a:r>
                    </a:p>
                  </a:txBody>
                  <a:tcPr marL="73152" marR="73152" marT="27432" marB="27432" anchor="ctr">
                    <a:solidFill>
                      <a:srgbClr val="E0F2FE"/>
                    </a:solidFill>
                  </a:tcPr>
                </a:tc>
                <a:tc>
                  <a:txBody>
                    <a:bodyPr wrap="square"/>
                    <a:lstStyle/>
                    <a:p>
                      <a:pPr algn="ctr"/>
                      <a:r>
                        <a:rPr sz="1050" b="1">
                          <a:solidFill>
                            <a:srgbClr val="0284C7"/>
                          </a:solidFill>
                          <a:latin typeface="Aptos Narrow"/>
                        </a:rPr>
                        <a:t>0.074</a:t>
                      </a:r>
                    </a:p>
                  </a:txBody>
                  <a:tcPr marL="73152" marR="73152" marT="27432" marB="27432" anchor="ctr">
                    <a:solidFill>
                      <a:srgbClr val="E0F2FE"/>
                    </a:solidFill>
                  </a:tcPr>
                </a:tc>
                <a:tc>
                  <a:txBody>
                    <a:bodyPr wrap="square"/>
                    <a:lstStyle/>
                    <a:p>
                      <a:pPr algn="ctr"/>
                      <a:r>
                        <a:rPr sz="1050" b="1">
                          <a:solidFill>
                            <a:srgbClr val="0284C7"/>
                          </a:solidFill>
                          <a:latin typeface="Aptos Narrow"/>
                        </a:rPr>
                        <a:t>0.214</a:t>
                      </a:r>
                    </a:p>
                  </a:txBody>
                  <a:tcPr marL="73152" marR="73152" marT="27432" marB="27432" anchor="ctr">
                    <a:solidFill>
                      <a:srgbClr val="E0F2FE"/>
                    </a:solidFill>
                  </a:tcPr>
                </a:tc>
              </a:tr>
            </a:tbl>
          </a:graphicData>
        </a:graphic>
      </p:graphicFrame>
      <p:sp>
        <p:nvSpPr>
          <p:cNvPr id="28" name="Rounded Rectangle 27"/>
          <p:cNvSpPr/>
          <p:nvPr/>
        </p:nvSpPr>
        <p:spPr>
          <a:xfrm>
            <a:off x="8202168" y="1527048"/>
            <a:ext cx="3346704" cy="1536523"/>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Figure 15_1" descr="Technical_Slides_Rex_Villamar_Pillar_5_Capstone_Project_15_1.png"/>
          <p:cNvPicPr>
            <a:picLocks noChangeAspect="1"/>
          </p:cNvPicPr>
          <p:nvPr/>
        </p:nvPicPr>
        <p:blipFill>
          <a:blip r:embed="rId3"/>
          <a:stretch>
            <a:fillRect/>
          </a:stretch>
        </p:blipFill>
        <p:spPr>
          <a:xfrm>
            <a:off x="8275320" y="1600200"/>
            <a:ext cx="3200400" cy="1390219"/>
          </a:xfrm>
          <a:prstGeom prst="rect">
            <a:avLst/>
          </a:prstGeom>
        </p:spPr>
      </p:pic>
      <p:sp>
        <p:nvSpPr>
          <p:cNvPr id="30" name="Rounded Rectangle 29"/>
          <p:cNvSpPr/>
          <p:nvPr/>
        </p:nvSpPr>
        <p:spPr>
          <a:xfrm>
            <a:off x="612648" y="3657600"/>
            <a:ext cx="3611880" cy="237744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95528" y="3749039"/>
            <a:ext cx="3246120" cy="2194560"/>
          </a:xfrm>
          <a:prstGeom prst="rect">
            <a:avLst/>
          </a:prstGeom>
          <a:noFill/>
        </p:spPr>
        <p:txBody>
          <a:bodyPr wrap="square" lIns="0" rIns="0" tIns="0" bIns="0" anchor="t">
            <a:noAutofit/>
          </a:bodyPr>
          <a:lstStyle/>
          <a:p>
            <a:pPr algn="l">
              <a:spcAft>
                <a:spcPts val="300"/>
              </a:spcAft>
            </a:pPr>
            <a:r>
              <a:rPr sz="1000" b="1">
                <a:solidFill>
                  <a:srgbClr val="0284C7"/>
                </a:solidFill>
                <a:latin typeface="Aptos Narrow"/>
              </a:rPr>
              <a:t>REWEIGHING</a:t>
            </a:r>
          </a:p>
          <a:p>
            <a:pPr algn="l">
              <a:spcAft>
                <a:spcPts val="800"/>
              </a:spcAft>
            </a:pPr>
            <a:r>
              <a:rPr sz="1200" b="0">
                <a:solidFill>
                  <a:srgbClr val="475569"/>
                </a:solidFill>
                <a:latin typeface="Aptos Narrow"/>
              </a:rPr>
              <a:t>w(g, y) = P(g) P(y) / P(g, y), learned on training data; the model is refitted with these weights.</a:t>
            </a:r>
          </a:p>
          <a:p>
            <a:pPr algn="l"/>
            <a:r>
              <a:rPr sz="1200" b="1">
                <a:solidFill>
                  <a:srgbClr val="0F172A"/>
                </a:solidFill>
                <a:latin typeface="Aptos Narrow"/>
              </a:rPr>
              <a:t>Recall gap 0.180 → 0.139 (helpful, but smaller). Precision 0.685 → 0.642.</a:t>
            </a:r>
          </a:p>
        </p:txBody>
      </p:sp>
      <p:sp>
        <p:nvSpPr>
          <p:cNvPr id="32" name="Rounded Rectangle 31"/>
          <p:cNvSpPr/>
          <p:nvPr/>
        </p:nvSpPr>
        <p:spPr>
          <a:xfrm>
            <a:off x="4343400" y="3657600"/>
            <a:ext cx="3611880" cy="237744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26280" y="3749039"/>
            <a:ext cx="3246120" cy="2194560"/>
          </a:xfrm>
          <a:prstGeom prst="rect">
            <a:avLst/>
          </a:prstGeom>
          <a:noFill/>
        </p:spPr>
        <p:txBody>
          <a:bodyPr wrap="square" lIns="0" rIns="0" tIns="0" bIns="0" anchor="t">
            <a:noAutofit/>
          </a:bodyPr>
          <a:lstStyle/>
          <a:p>
            <a:pPr algn="l">
              <a:spcAft>
                <a:spcPts val="300"/>
              </a:spcAft>
            </a:pPr>
            <a:r>
              <a:rPr sz="1000" b="1">
                <a:solidFill>
                  <a:srgbClr val="0284C7"/>
                </a:solidFill>
                <a:latin typeface="Aptos Narrow"/>
              </a:rPr>
              <a:t>GROUP THRESHOLDS</a:t>
            </a:r>
          </a:p>
          <a:p>
            <a:pPr algn="l">
              <a:spcAft>
                <a:spcPts val="800"/>
              </a:spcAft>
            </a:pPr>
            <a:r>
              <a:rPr sz="1200" b="0">
                <a:solidFill>
                  <a:srgbClr val="475569"/>
                </a:solidFill>
                <a:latin typeface="Aptos Narrow"/>
              </a:rPr>
              <a:t>One threshold per age group, chosen on out-of-fold training predictions to equalise recall at 0.880: ≤ 20: 0.30; 21-25: 0.53; &gt; 25: 0.79.</a:t>
            </a:r>
          </a:p>
          <a:p>
            <a:pPr algn="l"/>
            <a:r>
              <a:rPr sz="1200" b="1">
                <a:solidFill>
                  <a:srgbClr val="0F172A"/>
                </a:solidFill>
                <a:latin typeface="Aptos Narrow"/>
              </a:rPr>
              <a:t>Recall gap 0.180 → 0.074. Precision 0.685 → 0.614.</a:t>
            </a:r>
          </a:p>
        </p:txBody>
      </p:sp>
      <p:sp>
        <p:nvSpPr>
          <p:cNvPr id="34" name="Rounded Rectangle 33"/>
          <p:cNvSpPr/>
          <p:nvPr/>
        </p:nvSpPr>
        <p:spPr>
          <a:xfrm>
            <a:off x="8074152" y="3657600"/>
            <a:ext cx="3511296" cy="237744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229600" y="3749039"/>
            <a:ext cx="3200400" cy="2240280"/>
          </a:xfrm>
          <a:prstGeom prst="rect">
            <a:avLst/>
          </a:prstGeom>
          <a:noFill/>
        </p:spPr>
        <p:txBody>
          <a:bodyPr wrap="square" lIns="0" rIns="0" tIns="0" bIns="0" anchor="t">
            <a:noAutofit/>
          </a:bodyPr>
          <a:lstStyle/>
          <a:p>
            <a:pPr algn="l">
              <a:spcAft>
                <a:spcPts val="300"/>
              </a:spcAft>
            </a:pPr>
            <a:r>
              <a:rPr sz="1000" b="1">
                <a:solidFill>
                  <a:srgbClr val="0284C7"/>
                </a:solidFill>
                <a:latin typeface="Aptos Narrow"/>
              </a:rPr>
              <a:t>DECISION AND CAVEATS</a:t>
            </a:r>
          </a:p>
          <a:p>
            <a:pPr algn="l">
              <a:spcAft>
                <a:spcPts val="400"/>
              </a:spcAft>
            </a:pPr>
            <a:r>
              <a:rPr sz="1050" b="0">
                <a:solidFill>
                  <a:srgbClr val="475569"/>
                </a:solidFill>
                <a:latin typeface="Aptos Narrow"/>
              </a:rPr>
              <a:t>Rule fixed in advance: adopt if the gap narrows and recall stays ≥ 0.85.</a:t>
            </a:r>
          </a:p>
          <a:p>
            <a:pPr algn="l">
              <a:spcAft>
                <a:spcPts val="400"/>
              </a:spcAft>
            </a:pPr>
            <a:r>
              <a:rPr sz="1050" b="0">
                <a:solidFill>
                  <a:srgbClr val="475569"/>
                </a:solidFill>
                <a:latin typeface="Aptos Narrow"/>
              </a:rPr>
              <a:t>FPR gap widens 0.127 → 0.214, so the equalized-odds gap is not improved (0.180 → 0.214).</a:t>
            </a:r>
          </a:p>
          <a:p>
            <a:pPr algn="l">
              <a:spcAft>
                <a:spcPts val="400"/>
              </a:spcAft>
            </a:pPr>
            <a:r>
              <a:rPr sz="1050" b="0">
                <a:solidFill>
                  <a:srgbClr val="475569"/>
                </a:solidFill>
                <a:latin typeface="Aptos Narrow"/>
              </a:rPr>
              <a:t>Age drives decision-time thresholds: confirm this is policy-acceptable.</a:t>
            </a:r>
          </a:p>
          <a:p>
            <a:pPr algn="l">
              <a:spcAft>
                <a:spcPts val="400"/>
              </a:spcAft>
            </a:pPr>
            <a:r>
              <a:rPr sz="1050" b="0">
                <a:solidFill>
                  <a:srgbClr val="475569"/>
                </a:solidFill>
                <a:latin typeface="Aptos Narrow"/>
              </a:rPr>
              <a:t>The scholarship gap (0.13) is not targeted.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ooter Placeholder 19">
            <a:extLst>
              <a:ext uri="{FF2B5EF4-FFF2-40B4-BE49-F238E27FC236}">
                <a16:creationId xmlns:a16="http://schemas.microsoft.com/office/drawing/2014/main" id="{0A8780B8-566E-F569-DB8E-6628660543D1}"/>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21" name="Slide Number Placeholder 20">
            <a:extLst>
              <a:ext uri="{FF2B5EF4-FFF2-40B4-BE49-F238E27FC236}">
                <a16:creationId xmlns:a16="http://schemas.microsoft.com/office/drawing/2014/main" id="{697CE352-88C0-D7AB-B11A-FEB750E311EE}"/>
              </a:ext>
            </a:extLst>
          </p:cNvPr>
          <p:cNvSpPr>
            <a:spLocks noGrp="1"/>
          </p:cNvSpPr>
          <p:nvPr>
            <p:ph type="sldNum" sz="quarter" idx="11"/>
          </p:nvPr>
        </p:nvSpPr>
        <p:spPr/>
        <p:txBody>
          <a:bodyPr/>
          <a:lstStyle/>
          <a:p>
            <a:fld id="{B67B645E-C5E5-4727-B977-D372A0AA71D9}" type="slidenum">
              <a:rPr lang="en-US" smtClean="0"/>
              <a:pPr/>
              <a:t>13</a:t>
            </a:fld>
            <a:endParaRPr lang="en-US" dirty="0"/>
          </a:p>
        </p:txBody>
      </p:sp>
      <p:sp>
        <p:nvSpPr>
          <p:cNvPr id="22" name="TextBox 21"/>
          <p:cNvSpPr txBox="1"/>
          <p:nvPr/>
        </p:nvSpPr>
        <p:spPr>
          <a:xfrm>
            <a:off x="612648" y="457200"/>
            <a:ext cx="7315200" cy="182880"/>
          </a:xfrm>
          <a:prstGeom prst="rect">
            <a:avLst/>
          </a:prstGeom>
          <a:noFill/>
        </p:spPr>
        <p:txBody>
          <a:bodyPr wrap="square" lIns="0" rIns="0" tIns="0" bIns="0" anchor="t">
            <a:noAutofit/>
          </a:bodyPr>
          <a:lstStyle/>
          <a:p>
            <a:pPr algn="l"/>
            <a:r>
              <a:rPr sz="1000" b="1">
                <a:solidFill>
                  <a:srgbClr val="0284C7"/>
                </a:solidFill>
                <a:latin typeface="Aptos Narrow"/>
              </a:rPr>
              <a:t>STEP 5E: SYNTHESIS</a:t>
            </a:r>
          </a:p>
        </p:txBody>
      </p:sp>
      <p:sp>
        <p:nvSpPr>
          <p:cNvPr id="23" name="TextBox 22"/>
          <p:cNvSpPr txBox="1"/>
          <p:nvPr/>
        </p:nvSpPr>
        <p:spPr>
          <a:xfrm>
            <a:off x="612648" y="667512"/>
            <a:ext cx="10972800" cy="457200"/>
          </a:xfrm>
          <a:prstGeom prst="rect">
            <a:avLst/>
          </a:prstGeom>
          <a:noFill/>
        </p:spPr>
        <p:txBody>
          <a:bodyPr wrap="square" lIns="0" rIns="0" tIns="0" bIns="0" anchor="t">
            <a:noAutofit/>
          </a:bodyPr>
          <a:lstStyle/>
          <a:p>
            <a:pPr algn="l"/>
            <a:r>
              <a:rPr sz="2400" b="1">
                <a:solidFill>
                  <a:srgbClr val="0F172A"/>
                </a:solidFill>
                <a:latin typeface="Aptos Narrow"/>
              </a:rPr>
              <a:t>Findings, Limitations and Recommendations</a:t>
            </a:r>
          </a:p>
        </p:txBody>
      </p:sp>
      <p:sp>
        <p:nvSpPr>
          <p:cNvPr id="24" name="Rounded Rectangle 23"/>
          <p:cNvSpPr/>
          <p:nvPr/>
        </p:nvSpPr>
        <p:spPr>
          <a:xfrm>
            <a:off x="612648" y="1508760"/>
            <a:ext cx="3520440" cy="402336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22960" y="1645920"/>
            <a:ext cx="3108960" cy="3749039"/>
          </a:xfrm>
          <a:prstGeom prst="rect">
            <a:avLst/>
          </a:prstGeom>
          <a:noFill/>
        </p:spPr>
        <p:txBody>
          <a:bodyPr wrap="square" lIns="0" rIns="0" tIns="0" bIns="0" anchor="t">
            <a:noAutofit/>
          </a:bodyPr>
          <a:lstStyle/>
          <a:p>
            <a:pPr algn="l">
              <a:spcAft>
                <a:spcPts val="500"/>
              </a:spcAft>
            </a:pPr>
            <a:r>
              <a:rPr sz="1100" b="1">
                <a:solidFill>
                  <a:srgbClr val="0284C7"/>
                </a:solidFill>
                <a:latin typeface="Aptos Narrow"/>
              </a:rPr>
              <a:t>FINDINGS</a:t>
            </a:r>
          </a:p>
          <a:p>
            <a:pPr algn="l">
              <a:spcAft>
                <a:spcPts val="900"/>
              </a:spcAft>
            </a:pPr>
            <a:r>
              <a:rPr sz="1200" b="1">
                <a:solidFill>
                  <a:srgbClr val="0F172A"/>
                </a:solidFill>
                <a:latin typeface="Aptos Narrow"/>
              </a:rPr>
              <a:t>Model: </a:t>
            </a:r>
            <a:r>
              <a:rPr sz="1200" b="0">
                <a:solidFill>
                  <a:srgbClr val="475569"/>
                </a:solidFill>
                <a:latin typeface="Aptos Narrow"/>
              </a:rPr>
              <a:t>XGBoost, CV F2 0.825.</a:t>
            </a:r>
          </a:p>
          <a:p>
            <a:pPr algn="l">
              <a:spcAft>
                <a:spcPts val="900"/>
              </a:spcAft>
            </a:pPr>
            <a:r>
              <a:rPr sz="1200" b="1">
                <a:solidFill>
                  <a:srgbClr val="0F172A"/>
                </a:solidFill>
                <a:latin typeface="Aptos Narrow"/>
              </a:rPr>
              <a:t>Hold-out: </a:t>
            </a:r>
            <a:r>
              <a:rPr sz="1200" b="0">
                <a:solidFill>
                  <a:srgbClr val="475569"/>
                </a:solidFill>
                <a:latin typeface="Aptos Narrow"/>
              </a:rPr>
              <a:t>recall 0.912, precision 0.685, F2 0.855, ROC-AUC 0.937, PR-AUC 0.911; recall target met.</a:t>
            </a:r>
          </a:p>
          <a:p>
            <a:pPr algn="l">
              <a:spcAft>
                <a:spcPts val="900"/>
              </a:spcAft>
            </a:pPr>
            <a:r>
              <a:rPr sz="1200" b="1">
                <a:solidFill>
                  <a:srgbClr val="0F172A"/>
                </a:solidFill>
                <a:latin typeface="Aptos Narrow"/>
              </a:rPr>
              <a:t>Drivers: </a:t>
            </a:r>
            <a:r>
              <a:rPr sz="1200" b="0">
                <a:solidFill>
                  <a:srgbClr val="475569"/>
                </a:solidFill>
                <a:latin typeface="Aptos Narrow"/>
              </a:rPr>
              <a:t>Semester 1 and 2 approval rates, tuition status, age, course.</a:t>
            </a:r>
          </a:p>
          <a:p>
            <a:pPr algn="l">
              <a:spcAft>
                <a:spcPts val="900"/>
              </a:spcAft>
            </a:pPr>
            <a:r>
              <a:rPr sz="1200" b="1">
                <a:solidFill>
                  <a:srgbClr val="0F172A"/>
                </a:solidFill>
                <a:latin typeface="Aptos Narrow"/>
              </a:rPr>
              <a:t>Semester 2: </a:t>
            </a:r>
            <a:r>
              <a:rPr sz="1200" b="0">
                <a:solidFill>
                  <a:srgbClr val="475569"/>
                </a:solidFill>
                <a:latin typeface="Aptos Narrow"/>
              </a:rPr>
              <a:t>ROC-AUC 0.912 → 0.937.</a:t>
            </a:r>
          </a:p>
          <a:p>
            <a:pPr algn="l">
              <a:spcAft>
                <a:spcPts val="900"/>
              </a:spcAft>
            </a:pPr>
            <a:r>
              <a:rPr sz="1200" b="1">
                <a:solidFill>
                  <a:srgbClr val="0F172A"/>
                </a:solidFill>
                <a:latin typeface="Aptos Narrow"/>
              </a:rPr>
              <a:t>Fairness: </a:t>
            </a:r>
            <a:r>
              <a:rPr sz="1200" b="0">
                <a:solidFill>
                  <a:srgbClr val="475569"/>
                </a:solidFill>
                <a:latin typeface="Aptos Narrow"/>
              </a:rPr>
              <a:t>recall gaps for age (0.18) and scholarship (0.13); age gap reduced to 0.07 with group thresholds.</a:t>
            </a:r>
          </a:p>
        </p:txBody>
      </p:sp>
      <p:sp>
        <p:nvSpPr>
          <p:cNvPr id="26" name="Rounded Rectangle 25"/>
          <p:cNvSpPr/>
          <p:nvPr/>
        </p:nvSpPr>
        <p:spPr>
          <a:xfrm>
            <a:off x="4347972" y="1508760"/>
            <a:ext cx="3520440" cy="402336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58284" y="1645920"/>
            <a:ext cx="3108960" cy="3749039"/>
          </a:xfrm>
          <a:prstGeom prst="rect">
            <a:avLst/>
          </a:prstGeom>
          <a:noFill/>
        </p:spPr>
        <p:txBody>
          <a:bodyPr wrap="square" lIns="0" rIns="0" tIns="0" bIns="0" anchor="t">
            <a:noAutofit/>
          </a:bodyPr>
          <a:lstStyle/>
          <a:p>
            <a:pPr algn="l">
              <a:spcAft>
                <a:spcPts val="500"/>
              </a:spcAft>
            </a:pPr>
            <a:r>
              <a:rPr sz="1100" b="1">
                <a:solidFill>
                  <a:srgbClr val="0284C7"/>
                </a:solidFill>
                <a:latin typeface="Aptos Narrow"/>
              </a:rPr>
              <a:t>LIMITATIONS</a:t>
            </a:r>
          </a:p>
          <a:p>
            <a:pPr algn="l">
              <a:spcAft>
                <a:spcPts val="900"/>
              </a:spcAft>
            </a:pPr>
            <a:r>
              <a:rPr sz="1200" b="1">
                <a:solidFill>
                  <a:srgbClr val="0F172A"/>
                </a:solidFill>
                <a:latin typeface="Aptos Narrow"/>
              </a:rPr>
              <a:t>Imbalance: </a:t>
            </a:r>
            <a:r>
              <a:rPr sz="1200" b="0">
                <a:solidFill>
                  <a:srgbClr val="475569"/>
                </a:solidFill>
                <a:latin typeface="Aptos Narrow"/>
              </a:rPr>
              <a:t>32% dropouts; weighting trades precision for recall.</a:t>
            </a:r>
          </a:p>
          <a:p>
            <a:pPr algn="l">
              <a:spcAft>
                <a:spcPts val="900"/>
              </a:spcAft>
            </a:pPr>
            <a:r>
              <a:rPr sz="1200" b="1">
                <a:solidFill>
                  <a:srgbClr val="0F172A"/>
                </a:solidFill>
                <a:latin typeface="Aptos Narrow"/>
              </a:rPr>
              <a:t>Censoring: </a:t>
            </a:r>
            <a:r>
              <a:rPr sz="1200" b="0">
                <a:solidFill>
                  <a:srgbClr val="475569"/>
                </a:solidFill>
                <a:latin typeface="Aptos Narrow"/>
              </a:rPr>
              <a:t>Enrolled students are labelled Retained.</a:t>
            </a:r>
          </a:p>
          <a:p>
            <a:pPr algn="l">
              <a:spcAft>
                <a:spcPts val="900"/>
              </a:spcAft>
            </a:pPr>
            <a:r>
              <a:rPr sz="1200" b="1">
                <a:solidFill>
                  <a:srgbClr val="0F172A"/>
                </a:solidFill>
                <a:latin typeface="Aptos Narrow"/>
              </a:rPr>
              <a:t>Scope: </a:t>
            </a:r>
            <a:r>
              <a:rPr sz="1200" b="0">
                <a:solidFill>
                  <a:srgbClr val="475569"/>
                </a:solidFill>
                <a:latin typeface="Aptos Narrow"/>
              </a:rPr>
              <a:t>one institution, one country, one period.</a:t>
            </a:r>
          </a:p>
          <a:p>
            <a:pPr algn="l">
              <a:spcAft>
                <a:spcPts val="900"/>
              </a:spcAft>
            </a:pPr>
            <a:r>
              <a:rPr sz="1200" b="1">
                <a:solidFill>
                  <a:srgbClr val="0F172A"/>
                </a:solidFill>
                <a:latin typeface="Aptos Narrow"/>
              </a:rPr>
              <a:t>Proxies: </a:t>
            </a:r>
            <a:r>
              <a:rPr sz="1200" b="0">
                <a:solidFill>
                  <a:srgbClr val="475569"/>
                </a:solidFill>
                <a:latin typeface="Aptos Narrow"/>
              </a:rPr>
              <a:t>excluding gender and marital status does not remove correlated information.</a:t>
            </a:r>
          </a:p>
          <a:p>
            <a:pPr algn="l">
              <a:spcAft>
                <a:spcPts val="900"/>
              </a:spcAft>
            </a:pPr>
            <a:r>
              <a:rPr sz="1200" b="1">
                <a:solidFill>
                  <a:srgbClr val="0F172A"/>
                </a:solidFill>
                <a:latin typeface="Aptos Narrow"/>
              </a:rPr>
              <a:t>Small groups: </a:t>
            </a:r>
            <a:r>
              <a:rPr sz="1200" b="0">
                <a:solidFill>
                  <a:srgbClr val="475569"/>
                </a:solidFill>
                <a:latin typeface="Aptos Narrow"/>
              </a:rPr>
              <a:t>groups under 30 are not audited.</a:t>
            </a:r>
          </a:p>
          <a:p>
            <a:pPr algn="l">
              <a:spcAft>
                <a:spcPts val="900"/>
              </a:spcAft>
            </a:pPr>
            <a:r>
              <a:rPr sz="1200" b="1">
                <a:solidFill>
                  <a:srgbClr val="0F172A"/>
                </a:solidFill>
                <a:latin typeface="Aptos Narrow"/>
              </a:rPr>
              <a:t>Margin: </a:t>
            </a:r>
            <a:r>
              <a:rPr sz="1200" b="0">
                <a:solidFill>
                  <a:srgbClr val="475569"/>
                </a:solidFill>
                <a:latin typeface="Aptos Narrow"/>
              </a:rPr>
              <a:t>top models are close in CV F2.</a:t>
            </a:r>
          </a:p>
        </p:txBody>
      </p:sp>
      <p:sp>
        <p:nvSpPr>
          <p:cNvPr id="28" name="Rounded Rectangle 27"/>
          <p:cNvSpPr/>
          <p:nvPr/>
        </p:nvSpPr>
        <p:spPr>
          <a:xfrm>
            <a:off x="8083296" y="1508760"/>
            <a:ext cx="3520440" cy="402336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93608" y="1645920"/>
            <a:ext cx="3108960" cy="3749039"/>
          </a:xfrm>
          <a:prstGeom prst="rect">
            <a:avLst/>
          </a:prstGeom>
          <a:noFill/>
        </p:spPr>
        <p:txBody>
          <a:bodyPr wrap="square" lIns="0" rIns="0" tIns="0" bIns="0" anchor="t">
            <a:noAutofit/>
          </a:bodyPr>
          <a:lstStyle/>
          <a:p>
            <a:pPr algn="l">
              <a:spcAft>
                <a:spcPts val="500"/>
              </a:spcAft>
            </a:pPr>
            <a:r>
              <a:rPr sz="1100" b="1">
                <a:solidFill>
                  <a:srgbClr val="0284C7"/>
                </a:solidFill>
                <a:latin typeface="Aptos Narrow"/>
              </a:rPr>
              <a:t>RECOMMENDATIONS</a:t>
            </a:r>
          </a:p>
          <a:p>
            <a:pPr algn="l">
              <a:spcAft>
                <a:spcPts val="900"/>
              </a:spcAft>
            </a:pPr>
            <a:r>
              <a:rPr sz="1200" b="1">
                <a:solidFill>
                  <a:srgbClr val="0F172A"/>
                </a:solidFill>
                <a:latin typeface="Aptos Narrow"/>
              </a:rPr>
              <a:t>Operate </a:t>
            </a:r>
            <a:r>
              <a:rPr sz="1200" b="0">
                <a:solidFill>
                  <a:srgbClr val="475569"/>
                </a:solidFill>
                <a:latin typeface="Aptos Narrow"/>
              </a:rPr>
              <a:t>as advisor decision support, not automated action.</a:t>
            </a:r>
          </a:p>
          <a:p>
            <a:pPr algn="l">
              <a:spcAft>
                <a:spcPts val="900"/>
              </a:spcAft>
            </a:pPr>
            <a:r>
              <a:rPr sz="1200" b="1">
                <a:solidFill>
                  <a:srgbClr val="0F172A"/>
                </a:solidFill>
                <a:latin typeface="Aptos Narrow"/>
              </a:rPr>
              <a:t>Monitor </a:t>
            </a:r>
            <a:r>
              <a:rPr sz="1200" b="0">
                <a:solidFill>
                  <a:srgbClr val="475569"/>
                </a:solidFill>
                <a:latin typeface="Aptos Narrow"/>
              </a:rPr>
              <a:t>recall, flag rate and per-group recall gap each cycle; retrain if a gap exceeds 0.10.</a:t>
            </a:r>
          </a:p>
          <a:p>
            <a:pPr algn="l">
              <a:spcAft>
                <a:spcPts val="900"/>
              </a:spcAft>
            </a:pPr>
            <a:r>
              <a:rPr sz="1200" b="1">
                <a:solidFill>
                  <a:srgbClr val="0F172A"/>
                </a:solidFill>
                <a:latin typeface="Aptos Narrow"/>
              </a:rPr>
              <a:t>Audit next: </a:t>
            </a:r>
            <a:r>
              <a:rPr sz="1200" b="0">
                <a:solidFill>
                  <a:srgbClr val="475569"/>
                </a:solidFill>
                <a:latin typeface="Aptos Narrow"/>
              </a:rPr>
              <a:t>nationality and international status (still model inputs) and the scholarship gap.</a:t>
            </a:r>
          </a:p>
          <a:p>
            <a:pPr algn="l">
              <a:spcAft>
                <a:spcPts val="900"/>
              </a:spcAft>
            </a:pPr>
            <a:r>
              <a:rPr sz="1200" b="1">
                <a:solidFill>
                  <a:srgbClr val="0F172A"/>
                </a:solidFill>
                <a:latin typeface="Aptos Narrow"/>
              </a:rPr>
              <a:t>Validate </a:t>
            </a:r>
            <a:r>
              <a:rPr sz="1200" b="0">
                <a:solidFill>
                  <a:srgbClr val="475569"/>
                </a:solidFill>
                <a:latin typeface="Aptos Narrow"/>
              </a:rPr>
              <a:t>on a new cohort or institution before wider use.</a:t>
            </a:r>
          </a:p>
          <a:p>
            <a:pPr algn="l">
              <a:spcAft>
                <a:spcPts val="900"/>
              </a:spcAft>
            </a:pPr>
            <a:r>
              <a:rPr sz="1200" b="1">
                <a:solidFill>
                  <a:srgbClr val="0F172A"/>
                </a:solidFill>
                <a:latin typeface="Aptos Narrow"/>
              </a:rPr>
              <a:t>Measure </a:t>
            </a:r>
            <a:r>
              <a:rPr sz="1200" b="0">
                <a:solidFill>
                  <a:srgbClr val="475569"/>
                </a:solidFill>
                <a:latin typeface="Aptos Narrow"/>
              </a:rPr>
              <a:t>real retention lift and advisor workload in a pilot.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8952" y="530352"/>
            <a:ext cx="7315200" cy="182880"/>
          </a:xfrm>
          <a:prstGeom prst="rect">
            <a:avLst/>
          </a:prstGeom>
          <a:noFill/>
        </p:spPr>
        <p:txBody>
          <a:bodyPr wrap="square" lIns="0" rIns="0" tIns="0" bIns="0" anchor="t">
            <a:noAutofit/>
          </a:bodyPr>
          <a:lstStyle/>
          <a:p>
            <a:pPr algn="l"/>
            <a:r>
              <a:rPr sz="975" b="1">
                <a:solidFill>
                  <a:srgbClr val="F59E0B"/>
                </a:solidFill>
                <a:latin typeface="Aptos Narrow"/>
              </a:rPr>
              <a:t>STEP 7: REPRODUCIBILITY</a:t>
            </a:r>
          </a:p>
        </p:txBody>
      </p:sp>
      <p:sp>
        <p:nvSpPr>
          <p:cNvPr id="3" name="TextBox 2"/>
          <p:cNvSpPr txBox="1"/>
          <p:nvPr/>
        </p:nvSpPr>
        <p:spPr>
          <a:xfrm>
            <a:off x="758952" y="722376"/>
            <a:ext cx="10058400" cy="457200"/>
          </a:xfrm>
          <a:prstGeom prst="rect">
            <a:avLst/>
          </a:prstGeom>
          <a:noFill/>
        </p:spPr>
        <p:txBody>
          <a:bodyPr wrap="square" lIns="0" rIns="0" tIns="0" bIns="0" anchor="t">
            <a:noAutofit/>
          </a:bodyPr>
          <a:lstStyle/>
          <a:p>
            <a:pPr algn="l"/>
            <a:r>
              <a:rPr sz="2400" b="1">
                <a:solidFill>
                  <a:srgbClr val="FFFFFF"/>
                </a:solidFill>
                <a:latin typeface="Aptos Narrow"/>
              </a:rPr>
              <a:t>Repository, Artefacts and How to Run</a:t>
            </a:r>
          </a:p>
        </p:txBody>
      </p:sp>
      <p:sp>
        <p:nvSpPr>
          <p:cNvPr id="4" name="Rounded Rectangle 3"/>
          <p:cNvSpPr/>
          <p:nvPr/>
        </p:nvSpPr>
        <p:spPr>
          <a:xfrm>
            <a:off x="758952" y="1554480"/>
            <a:ext cx="5577840" cy="3383280"/>
          </a:xfrm>
          <a:prstGeom prst="roundRect">
            <a:avLst>
              <a:gd name="adj" fmla="val 6000"/>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0120" y="1664208"/>
            <a:ext cx="5212080" cy="3566160"/>
          </a:xfrm>
          <a:prstGeom prst="rect">
            <a:avLst/>
          </a:prstGeom>
          <a:noFill/>
        </p:spPr>
        <p:txBody>
          <a:bodyPr wrap="square" lIns="0" rIns="0" tIns="0" bIns="0" anchor="t">
            <a:noAutofit/>
          </a:bodyPr>
          <a:lstStyle/>
          <a:p>
            <a:pPr algn="l"/>
            <a:r>
              <a:rPr sz="1200" b="1">
                <a:solidFill>
                  <a:srgbClr val="38BDF8"/>
                </a:solidFill>
                <a:latin typeface="Courier New"/>
              </a:rPr>
              <a:t>PILLAR_5_CAPSTONE_PROJECT/</a:t>
            </a:r>
          </a:p>
          <a:p>
            <a:pPr algn="l"/>
            <a:r>
              <a:rPr sz="1200" b="0">
                <a:solidFill>
                  <a:srgbClr val="E2E8F0"/>
                </a:solidFill>
                <a:latin typeface="Courier New"/>
              </a:rPr>
              <a:t>├── data/        raw (auto-downloaded), processed</a:t>
            </a:r>
          </a:p>
          <a:p>
            <a:pPr algn="l"/>
            <a:r>
              <a:rPr sz="1200" b="0">
                <a:solidFill>
                  <a:srgbClr val="E2E8F0"/>
                </a:solidFill>
                <a:latin typeface="Courier New"/>
              </a:rPr>
              <a:t>├── notebooks/   analysis notebook, executed</a:t>
            </a:r>
          </a:p>
          <a:p>
            <a:pPr algn="l"/>
            <a:r>
              <a:rPr sz="1200" b="0">
                <a:solidFill>
                  <a:srgbClr val="E2E8F0"/>
                </a:solidFill>
                <a:latin typeface="Courier New"/>
              </a:rPr>
              <a:t>├── src/         features.py, fairness.py</a:t>
            </a:r>
          </a:p>
          <a:p>
            <a:pPr algn="l"/>
            <a:r>
              <a:rPr sz="1200" b="0">
                <a:solidFill>
                  <a:srgbClr val="E2E8F0"/>
                </a:solidFill>
                <a:latin typeface="Courier New"/>
              </a:rPr>
              <a:t>├── models/      *.joblib, comparison.csv, config.json</a:t>
            </a:r>
          </a:p>
          <a:p>
            <a:pPr algn="l"/>
            <a:r>
              <a:rPr sz="1200" b="0">
                <a:solidFill>
                  <a:srgbClr val="E2E8F0"/>
                </a:solidFill>
                <a:latin typeface="Courier New"/>
              </a:rPr>
              <a:t>├── reports/     business and technical decks</a:t>
            </a:r>
          </a:p>
          <a:p>
            <a:pPr algn="l"/>
            <a:r>
              <a:rPr sz="1200" b="0">
                <a:solidFill>
                  <a:srgbClr val="E2E8F0"/>
                </a:solidFill>
                <a:latin typeface="Courier New"/>
              </a:rPr>
              <a:t>├── tests/       helper tests</a:t>
            </a:r>
          </a:p>
          <a:p>
            <a:pPr algn="l"/>
            <a:r>
              <a:rPr sz="1200" b="0">
                <a:solidFill>
                  <a:srgbClr val="E2E8F0"/>
                </a:solidFill>
                <a:latin typeface="Courier New"/>
              </a:rPr>
              <a:t>├── requirements.txt</a:t>
            </a:r>
          </a:p>
          <a:p>
            <a:pPr algn="l"/>
            <a:r>
              <a:rPr sz="1200" b="0">
                <a:solidFill>
                  <a:srgbClr val="E2E8F0"/>
                </a:solidFill>
                <a:latin typeface="Courier New"/>
              </a:rPr>
              <a:t>└── README.md</a:t>
            </a:r>
          </a:p>
        </p:txBody>
      </p:sp>
      <p:sp>
        <p:nvSpPr>
          <p:cNvPr id="6" name="Rounded Rectangle 5"/>
          <p:cNvSpPr/>
          <p:nvPr/>
        </p:nvSpPr>
        <p:spPr>
          <a:xfrm>
            <a:off x="6583680" y="1554480"/>
            <a:ext cx="4846320" cy="3383280"/>
          </a:xfrm>
          <a:prstGeom prst="roundRect">
            <a:avLst>
              <a:gd name="adj" fmla="val 6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12280" y="1664208"/>
            <a:ext cx="4434840" cy="3566160"/>
          </a:xfrm>
          <a:prstGeom prst="rect">
            <a:avLst/>
          </a:prstGeom>
          <a:noFill/>
        </p:spPr>
        <p:txBody>
          <a:bodyPr wrap="square" lIns="0" rIns="0" tIns="0" bIns="0" anchor="t">
            <a:noAutofit/>
          </a:bodyPr>
          <a:lstStyle/>
          <a:p>
            <a:pPr algn="l">
              <a:spcAft>
                <a:spcPts val="400"/>
              </a:spcAft>
            </a:pPr>
            <a:r>
              <a:rPr sz="1050" b="1">
                <a:solidFill>
                  <a:srgbClr val="F59E0B"/>
                </a:solidFill>
                <a:latin typeface="Aptos Narrow"/>
              </a:rPr>
              <a:t>RUN IT</a:t>
            </a:r>
          </a:p>
          <a:p>
            <a:pPr algn="l">
              <a:spcAft>
                <a:spcPts val="600"/>
              </a:spcAft>
            </a:pPr>
            <a:r>
              <a:rPr sz="1200" b="0">
                <a:solidFill>
                  <a:srgbClr val="E2E8F0"/>
                </a:solidFill>
                <a:latin typeface="Aptos Narrow"/>
              </a:rPr>
              <a:t>1. pip install -r requirements.txt</a:t>
            </a:r>
          </a:p>
          <a:p>
            <a:pPr algn="l">
              <a:spcAft>
                <a:spcPts val="600"/>
              </a:spcAft>
            </a:pPr>
            <a:r>
              <a:rPr sz="1200" b="0">
                <a:solidFill>
                  <a:srgbClr val="E2E8F0"/>
                </a:solidFill>
                <a:latin typeface="Aptos Narrow"/>
              </a:rPr>
              <a:t>2. Open the notebook and Run All (seed 42; the data downloads itself).</a:t>
            </a:r>
          </a:p>
          <a:p>
            <a:pPr algn="l">
              <a:spcAft>
                <a:spcPts val="600"/>
              </a:spcAft>
            </a:pPr>
            <a:r>
              <a:rPr sz="1200" b="0">
                <a:solidFill>
                  <a:srgbClr val="E2E8F0"/>
                </a:solidFill>
                <a:latin typeface="Aptos Narrow"/>
              </a:rPr>
              <a:t>3. Step 4 writes every model, the comparison table and best_model_config.json to models/.</a:t>
            </a:r>
          </a:p>
          <a:p>
            <a:pPr algn="l">
              <a:spcAft>
                <a:spcPts val="400"/>
              </a:spcAft>
            </a:pPr>
            <a:r>
              <a:rPr sz="1050" b="1">
                <a:solidFill>
                  <a:srgbClr val="F59E0B"/>
                </a:solidFill>
                <a:latin typeface="Aptos Narrow"/>
              </a:rPr>
              <a:t>REPRODUCIBILITY CONTROLS</a:t>
            </a:r>
          </a:p>
          <a:p>
            <a:pPr algn="l">
              <a:spcAft>
                <a:spcPts val="500"/>
              </a:spcAft>
            </a:pPr>
            <a:r>
              <a:rPr sz="1200" b="0">
                <a:solidFill>
                  <a:srgbClr val="E2E8F0"/>
                </a:solidFill>
                <a:latin typeface="Aptos Narrow"/>
              </a:rPr>
              <a:t>Fixed seeds and a stratified split.</a:t>
            </a:r>
          </a:p>
          <a:p>
            <a:pPr algn="l">
              <a:spcAft>
                <a:spcPts val="500"/>
              </a:spcAft>
            </a:pPr>
            <a:r>
              <a:rPr sz="1200" b="0">
                <a:solidFill>
                  <a:srgbClr val="E2E8F0"/>
                </a:solidFill>
                <a:latin typeface="Aptos Narrow"/>
              </a:rPr>
              <a:t>Preprocessing fitted on training data only.</a:t>
            </a:r>
          </a:p>
          <a:p>
            <a:pPr algn="l">
              <a:spcAft>
                <a:spcPts val="500"/>
              </a:spcAft>
            </a:pPr>
            <a:r>
              <a:rPr sz="1200" b="0">
                <a:solidFill>
                  <a:srgbClr val="E2E8F0"/>
                </a:solidFill>
                <a:latin typeface="Aptos Narrow"/>
              </a:rPr>
              <a:t>Selection on training CV; test set scored once.</a:t>
            </a:r>
          </a:p>
          <a:p>
            <a:pPr algn="l">
              <a:spcAft>
                <a:spcPts val="500"/>
              </a:spcAft>
            </a:pPr>
            <a:r>
              <a:rPr sz="1200" b="0">
                <a:solidFill>
                  <a:srgbClr val="E2E8F0"/>
                </a:solidFill>
                <a:latin typeface="Aptos Narrow"/>
              </a:rPr>
              <a:t>Config JSON records parameters, threshold, split and features.</a:t>
            </a:r>
          </a:p>
        </p:txBody>
      </p:sp>
      <p:sp>
        <p:nvSpPr>
          <p:cNvPr id="8" name="Rounded Rectangle 7"/>
          <p:cNvSpPr/>
          <p:nvPr/>
        </p:nvSpPr>
        <p:spPr>
          <a:xfrm>
            <a:off x="758952" y="5166360"/>
            <a:ext cx="10671048" cy="640080"/>
          </a:xfrm>
          <a:prstGeom prst="roundRect">
            <a:avLst>
              <a:gd name="adj" fmla="val 6000"/>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0120" y="5276088"/>
            <a:ext cx="10241280" cy="457200"/>
          </a:xfrm>
          <a:prstGeom prst="rect">
            <a:avLst/>
          </a:prstGeom>
          <a:noFill/>
        </p:spPr>
        <p:txBody>
          <a:bodyPr wrap="square" lIns="0" rIns="0" tIns="0" bIns="0" anchor="t">
            <a:noAutofit/>
          </a:bodyPr>
          <a:lstStyle/>
          <a:p>
            <a:pPr algn="l"/>
            <a:r>
              <a:rPr sz="1100" b="0">
                <a:solidFill>
                  <a:srgbClr val="CBD5E1"/>
                </a:solidFill>
                <a:latin typeface="Aptos Narrow"/>
              </a:rPr>
              <a:t>Companion deliverables: business briefing (12 slides) and the full executed notebook. All results in this deck are from that run.</a:t>
            </a:r>
          </a:p>
        </p:txBody>
      </p:sp>
    </p:spTree>
    <p:extLst>
      <p:ext uri="{BB962C8B-B14F-4D97-AF65-F5344CB8AC3E}">
        <p14:creationId xmlns:p14="http://schemas.microsoft.com/office/powerpoint/2010/main" val="405501692"/>
      </p:ext>
    </p:extLst>
  </p:cSld>
  <p:clrMapOvr>
    <a:masterClrMapping/>
  </p:clrMapOvr>
</p:sld>
</file>

<file path=ppt/theme/theme1.xml><?xml version="1.0" encoding="utf-8"?>
<a:theme xmlns:a="http://schemas.openxmlformats.org/drawingml/2006/main" name="Custom">
  <a:themeElements>
    <a:clrScheme name="TM66835393">
      <a:dk1>
        <a:srgbClr val="000000"/>
      </a:dk1>
      <a:lt1>
        <a:srgbClr val="FFFFFF"/>
      </a:lt1>
      <a:dk2>
        <a:srgbClr val="44546A"/>
      </a:dk2>
      <a:lt2>
        <a:srgbClr val="E7E6E6"/>
      </a:lt2>
      <a:accent1>
        <a:srgbClr val="55BC7E"/>
      </a:accent1>
      <a:accent2>
        <a:srgbClr val="FFC330"/>
      </a:accent2>
      <a:accent3>
        <a:srgbClr val="BE80FF"/>
      </a:accent3>
      <a:accent4>
        <a:srgbClr val="FF8345"/>
      </a:accent4>
      <a:accent5>
        <a:srgbClr val="FF70BF"/>
      </a:accent5>
      <a:accent6>
        <a:srgbClr val="60A2F5"/>
      </a:accent6>
      <a:hlink>
        <a:srgbClr val="5C4EDC"/>
      </a:hlink>
      <a:folHlink>
        <a:srgbClr val="7FC5FF"/>
      </a:folHlink>
    </a:clrScheme>
    <a:fontScheme name="Custom 32">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66835393_win32_SD_v3" id="{4170EB69-3ACE-4C18-BE4C-C6CBD8BF8A79}" vid="{8A480AB3-AE5D-4813-AA67-ADACC5EA6C30}"/>
    </a:ext>
  </a:extLst>
</a:theme>
</file>

<file path=ppt/theme/theme2.xml><?xml version="1.0" encoding="utf-8"?>
<a:theme xmlns:a="http://schemas.openxmlformats.org/drawingml/2006/main" name="1_Custom">
  <a:themeElements>
    <a:clrScheme name="TM66835393">
      <a:dk1>
        <a:srgbClr val="000000"/>
      </a:dk1>
      <a:lt1>
        <a:srgbClr val="FFFFFF"/>
      </a:lt1>
      <a:dk2>
        <a:srgbClr val="44546A"/>
      </a:dk2>
      <a:lt2>
        <a:srgbClr val="E7E6E6"/>
      </a:lt2>
      <a:accent1>
        <a:srgbClr val="55BC7E"/>
      </a:accent1>
      <a:accent2>
        <a:srgbClr val="FFC330"/>
      </a:accent2>
      <a:accent3>
        <a:srgbClr val="BE80FF"/>
      </a:accent3>
      <a:accent4>
        <a:srgbClr val="FF8345"/>
      </a:accent4>
      <a:accent5>
        <a:srgbClr val="FF70BF"/>
      </a:accent5>
      <a:accent6>
        <a:srgbClr val="60A2F5"/>
      </a:accent6>
      <a:hlink>
        <a:srgbClr val="5C4EDC"/>
      </a:hlink>
      <a:folHlink>
        <a:srgbClr val="7FC5FF"/>
      </a:folHlink>
    </a:clrScheme>
    <a:fontScheme name="Custom 32">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66835393_win32_SD_v3" id="{4170EB69-3ACE-4C18-BE4C-C6CBD8BF8A79}" vid="{8A480AB3-AE5D-4813-AA67-ADACC5EA6C30}"/>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356</TotalTime>
  <Words>5051</Words>
  <Application>Microsoft Office PowerPoint</Application>
  <PresentationFormat>Widescreen</PresentationFormat>
  <Paragraphs>495</Paragraphs>
  <Slides>16</Slides>
  <Notes>16</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16</vt:i4>
      </vt:variant>
    </vt:vector>
  </HeadingPairs>
  <TitlesOfParts>
    <vt:vector size="24" baseType="lpstr">
      <vt:lpstr>Aptos</vt:lpstr>
      <vt:lpstr>Aptos Display</vt:lpstr>
      <vt:lpstr>Aptos Light</vt:lpstr>
      <vt:lpstr>Aptos Narrow</vt:lpstr>
      <vt:lpstr>Arial</vt:lpstr>
      <vt:lpstr>Custom</vt:lpstr>
      <vt:lpstr>1_Custom</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Rex Villamar</dc:creator>
  <cp:lastModifiedBy>Rex Villamar</cp:lastModifiedBy>
  <cp:revision>23</cp:revision>
  <cp:lastPrinted>2026-10-06T07:11:49Z</cp:lastPrinted>
  <dcterms:created xsi:type="dcterms:W3CDTF">2026-10-05T07:12:23Z</dcterms:created>
  <dcterms:modified xsi:type="dcterms:W3CDTF">2026-10-06T07:37:07Z</dcterms:modified>
</cp:coreProperties>
</file>